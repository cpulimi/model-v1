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2.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A1B3A"/>
                </a:solidFill>
                <a:latin typeface="Calibri"/>
              </a:defRPr>
            </a:pPr>
            <a:r>
              <a:rPr sz="1300" b="0" i="0" u="none" strike="noStrike">
                <a:solidFill>
                  <a:srgbClr val="1A1B3A"/>
                </a:solidFill>
                <a:latin typeface="Calibri"/>
              </a:rPr>
              <a:t>Optimality gap over wall-clock — stuck at ~2.13% for six hours</a:t>
            </a:r>
          </a:p>
        </c:rich>
      </c:tx>
      <c:layout/>
      <c:overlay val="0"/>
    </c:title>
    <c:autoTitleDeleted val="0"/>
    <c:plotArea>
      <c:layout/>
      <c:lineChart>
        <c:varyColors val="0"/>
        <c:ser>
          <c:idx val="0"/>
          <c:order val="0"/>
          <c:tx>
            <c:strRef>
              <c:f>Sheet1!$B$1</c:f>
              <c:strCache>
                <c:ptCount val="1"/>
                <c:pt idx="0">
                  <c:v>MIP gap</c:v>
                </c:pt>
              </c:strCache>
            </c:strRef>
          </c:tx>
          <c:spPr>
            <a:solidFill>
              <a:srgbClr val="2F6F8F"/>
            </a:solidFill>
            <a:ln w="38100" cap="flat">
              <a:solidFill>
                <a:srgbClr val="2F6F8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2F6F8F"/>
              </a:solidFill>
              <a:ln w="9525" cap="flat">
                <a:solidFill>
                  <a:srgbClr val="2F6F8F"/>
                </a:solidFill>
                <a:prstDash val="solid"/>
                <a:round/>
              </a:ln>
              <a:effectLst/>
            </c:spPr>
          </c:marker>
          <c:cat>
            <c:multiLvlStrRef>
              <c:f>Sheet1!$A$2:$A$13</c:f>
              <c:multiLvlStrCache>
                <c:ptCount val="12"/>
                <c:lvl>
                  <c:pt idx="0">
                    <c:v>0.7h</c:v>
                  </c:pt>
                  <c:pt idx="1">
                    <c:v>1.3h</c:v>
                  </c:pt>
                  <c:pt idx="2">
                    <c:v>2.6h</c:v>
                  </c:pt>
                  <c:pt idx="3">
                    <c:v>3.2h</c:v>
                  </c:pt>
                  <c:pt idx="4">
                    <c:v>4.0h</c:v>
                  </c:pt>
                  <c:pt idx="5">
                    <c:v>5.0h</c:v>
                  </c:pt>
                  <c:pt idx="6">
                    <c:v>5.5h</c:v>
                  </c:pt>
                  <c:pt idx="7">
                    <c:v>6.2h</c:v>
                  </c:pt>
                  <c:pt idx="8">
                    <c:v>6.8h</c:v>
                  </c:pt>
                  <c:pt idx="9">
                    <c:v>7.4h</c:v>
                  </c:pt>
                  <c:pt idx="10">
                    <c:v>8.8h</c:v>
                  </c:pt>
                  <c:pt idx="11">
                    <c:v>8.8h</c:v>
                  </c:pt>
                </c:lvl>
              </c:multiLvlStrCache>
            </c:multiLvlStrRef>
          </c:cat>
          <c:val>
            <c:numRef>
              <c:f>Sheet1!$B$2:$B$13</c:f>
              <c:numCache>
                <c:formatCode>General</c:formatCode>
                <c:ptCount val="12"/>
                <c:pt idx="0">
                  <c:v>2.13</c:v>
                </c:pt>
                <c:pt idx="1">
                  <c:v>2.13</c:v>
                </c:pt>
                <c:pt idx="2">
                  <c:v>2.13</c:v>
                </c:pt>
                <c:pt idx="3">
                  <c:v>2.13</c:v>
                </c:pt>
                <c:pt idx="4">
                  <c:v>2.12</c:v>
                </c:pt>
                <c:pt idx="5">
                  <c:v>2.12</c:v>
                </c:pt>
                <c:pt idx="6">
                  <c:v>2.11</c:v>
                </c:pt>
                <c:pt idx="7">
                  <c:v>2.11</c:v>
                </c:pt>
                <c:pt idx="8">
                  <c:v>0.53</c:v>
                </c:pt>
                <c:pt idx="9">
                  <c:v>0.51</c:v>
                </c:pt>
                <c:pt idx="10">
                  <c:v>0.51</c:v>
                </c:pt>
                <c:pt idx="11">
                  <c:v>0.23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6E8A"/>
                </a:solidFill>
                <a:latin typeface="Calibri"/>
              </a:defRPr>
            </a:pPr>
            <a:endParaRPr lang="en-US"/>
          </a:p>
        </c:txPr>
        <c:crossAx val="2094734552"/>
        <c:crosses val="autoZero"/>
        <c:auto val="1"/>
        <c:lblAlgn val="ctr"/>
        <c:noMultiLvlLbl val="1"/>
      </c:catAx>
      <c:valAx>
        <c:axId val="2094734552"/>
        <c:scaling>
          <c:orientation val="minMax"/>
          <c:max val="2.5"/>
          <c:min val="0"/>
        </c:scaling>
        <c:delete val="0"/>
        <c:axPos val="l"/>
        <c:majorGridlines>
          <c:spPr>
            <a:ln w="12700" cap="flat">
              <a:solidFill>
                <a:srgbClr val="EBECF3"/>
              </a:solidFill>
              <a:prstDash val="solid"/>
              <a:round/>
            </a:ln>
          </c:spPr>
        </c:majorGridlines>
        <c:numFmt formatCode="0.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E8A"/>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6B6E8A"/>
                </a:solidFill>
                <a:latin typeface="Calibri"/>
              </a:defRPr>
            </a:pPr>
            <a:r>
              <a:rPr sz="1250" b="0" i="0" u="none" strike="noStrike">
                <a:solidFill>
                  <a:srgbClr val="6B6E8A"/>
                </a:solidFill>
                <a:latin typeface="Calibri"/>
              </a:rPr>
              <a:t>Total cost — $M</a:t>
            </a:r>
          </a:p>
        </c:rich>
      </c:tx>
      <c:layout/>
      <c:overlay val="0"/>
    </c:title>
    <c:autoTitleDeleted val="0"/>
    <c:plotArea>
      <c:layout/>
      <c:barChart>
        <c:barDir val="col"/>
        <c:grouping val="clustered"/>
        <c:varyColors val="0"/>
        <c:ser>
          <c:idx val="0"/>
          <c:order val="0"/>
          <c:tx>
            <c:strRef>
              <c:f>Sheet1!$B$1</c:f>
              <c:strCache>
                <c:ptCount val="1"/>
                <c:pt idx="0">
                  <c:v>Total cost ($M)</c:v>
                </c:pt>
              </c:strCache>
            </c:strRef>
          </c:tx>
          <c:spPr>
            <a:solidFill>
              <a:srgbClr val="2F6F8F"/>
            </a:solidFill>
            <a:effectLst/>
          </c:spPr>
          <c:invertIfNegative val="0"/>
          <c:dLbls>
            <c:numFmt formatCode="$0.00,,&quot;M&quot;" sourceLinked="0"/>
            <c:txPr>
              <a:bodyPr/>
              <a:lstStyle/>
              <a:p>
                <a:pPr>
                  <a:defRPr b="0" i="0" strike="noStrike" sz="1300" u="none">
                    <a:solidFill>
                      <a:srgbClr val="1A1B3A"/>
                    </a:solidFill>
                    <a:latin typeface="Calibri"/>
                  </a:defRPr>
                </a:pPr>
              </a:p>
            </c:txPr>
            <c:showLegendKey val="0"/>
            <c:showVal val="1"/>
            <c:showCatName val="0"/>
            <c:showSerName val="0"/>
            <c:showPercent val="0"/>
            <c:showBubbleSize val="0"/>
            <c:showLeaderLines val="0"/>
          </c:dLbls>
          <c:dPt>
            <c:idx val="0"/>
            <c:invertIfNegative val="0"/>
            <c:bubble3D val="0"/>
            <c:spPr>
              <a:solidFill>
                <a:srgbClr val="2F6F8F"/>
              </a:solidFill>
              <a:effectLst/>
            </c:spPr>
          </c:dPt>
          <c:dPt>
            <c:idx val="1"/>
            <c:invertIfNegative val="0"/>
            <c:bubble3D val="0"/>
            <c:spPr>
              <a:solidFill>
                <a:srgbClr val="E8833A"/>
              </a:solidFill>
              <a:effectLst/>
            </c:spPr>
          </c:dPt>
          <c:cat>
            <c:multiLvlStrRef>
              <c:f>Sheet1!$A$2:$A$3</c:f>
              <c:multiLvlStrCache>
                <c:ptCount val="2"/>
                <c:lvl>
                  <c:pt idx="0">
                    <c:v>Gurobi</c:v>
                  </c:pt>
                  <c:pt idx="1">
                    <c:v>QUBO (SA)</c:v>
                  </c:pt>
                </c:lvl>
              </c:multiLvlStrCache>
            </c:multiLvlStrRef>
          </c:cat>
          <c:val>
            <c:numRef>
              <c:f>Sheet1!$B$2:$B$3</c:f>
              <c:numCache>
                <c:formatCode>General</c:formatCode>
                <c:ptCount val="2"/>
                <c:pt idx="0">
                  <c:v>118.99</c:v>
                </c:pt>
                <c:pt idx="1">
                  <c:v>128.12</c:v>
                </c:pt>
              </c:numCache>
            </c:numRef>
          </c:val>
        </c:ser>
        <c:dLbls>
          <c:numFmt formatCode="$0.00,,&quot;M&quot;" sourceLinked="0"/>
          <c:txPr>
            <a:bodyPr/>
            <a:lstStyle/>
            <a:p>
              <a:pPr>
                <a:defRPr b="0" i="0" strike="noStrike" sz="1300" u="none">
                  <a:solidFill>
                    <a:srgbClr val="1A1B3A"/>
                  </a:solidFill>
                  <a:latin typeface="Calibri"/>
                </a:defRPr>
              </a:pPr>
            </a:p>
          </c:txPr>
          <c:showLegendKey val="0"/>
          <c:showVal val="1"/>
          <c:showCatName val="0"/>
          <c:showSerName val="0"/>
          <c:showPercent val="0"/>
          <c:showBubbleSize val="0"/>
          <c:showLeaderLines val="0"/>
        </c:dLbls>
        <c:gapWidth val="12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1B3A"/>
                </a:solidFill>
                <a:latin typeface="Calibri"/>
              </a:defRPr>
            </a:pPr>
            <a:endParaRPr lang="en-US"/>
          </a:p>
        </c:txPr>
        <c:crossAx val="2094734552"/>
        <c:crosses val="autoZero"/>
        <c:auto val="1"/>
        <c:lblAlgn val="ctr"/>
        <c:noMultiLvlLbl val="1"/>
      </c:catAx>
      <c:valAx>
        <c:axId val="2094734552"/>
        <c:scaling>
          <c:orientation val="minMax"/>
          <c:max val="135"/>
          <c:min val="100"/>
        </c:scaling>
        <c:delete val="0"/>
        <c:axPos val="l"/>
        <c:majorGridlines>
          <c:spPr>
            <a:ln w="12700" cap="flat">
              <a:solidFill>
                <a:srgbClr val="EBECF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E8A"/>
                </a:solidFill>
                <a:latin typeface="Calibri"/>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Goal of this deck: get a quantum algorithm developer productive in one week. Keep the supply-chain content to the minimum needed to explain the variables, the penalties, and the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up front: sessions 1-3 are context, session 4 is where his work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framing slide. It is for you, but showing it to him signals you respect his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asking him what he needs from you, then get out of his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B3A"/>
        </a:solidFill>
      </p:bgPr>
    </p:bg>
    <p:spTree>
      <p:nvGrpSpPr>
        <p:cNvPr id="1" name=""/>
        <p:cNvGrpSpPr/>
        <p:nvPr/>
      </p:nvGrpSpPr>
      <p:grpSpPr>
        <a:xfrm>
          <a:off x="0" y="0"/>
          <a:ext cx="0" cy="0"/>
          <a:chOff x="0" y="0"/>
          <a:chExt cx="0" cy="0"/>
        </a:xfrm>
      </p:grpSpPr>
      <p:sp>
        <p:nvSpPr>
          <p:cNvPr id="2" name="Shape 0"/>
          <p:cNvSpPr/>
          <p:nvPr/>
        </p:nvSpPr>
        <p:spPr>
          <a:xfrm>
            <a:off x="8686800" y="-1554480"/>
            <a:ext cx="5669280" cy="5669280"/>
          </a:xfrm>
          <a:prstGeom prst="ellipse">
            <a:avLst/>
          </a:prstGeom>
          <a:solidFill>
            <a:srgbClr val="2A2C55"/>
          </a:solidFill>
          <a:ln/>
        </p:spPr>
      </p:sp>
      <p:sp>
        <p:nvSpPr>
          <p:cNvPr id="3" name="Shape 1"/>
          <p:cNvSpPr/>
          <p:nvPr/>
        </p:nvSpPr>
        <p:spPr>
          <a:xfrm>
            <a:off x="9966960" y="3200400"/>
            <a:ext cx="3108960" cy="3108960"/>
          </a:xfrm>
          <a:prstGeom prst="ellipse">
            <a:avLst/>
          </a:prstGeom>
          <a:solidFill>
            <a:srgbClr val="E8833A">
              <a:alpha val="22000"/>
            </a:srgbClr>
          </a:solidFill>
          <a:ln/>
        </p:spPr>
      </p:sp>
      <p:sp>
        <p:nvSpPr>
          <p:cNvPr id="4" name="Text 2"/>
          <p:cNvSpPr/>
          <p:nvPr/>
        </p:nvSpPr>
        <p:spPr>
          <a:xfrm>
            <a:off x="566928" y="1600200"/>
            <a:ext cx="7498080" cy="310896"/>
          </a:xfrm>
          <a:prstGeom prst="rect">
            <a:avLst/>
          </a:prstGeom>
          <a:noFill/>
          <a:ln/>
        </p:spPr>
        <p:txBody>
          <a:bodyPr wrap="square" lIns="0" tIns="0" rIns="0" bIns="0" rtlCol="0" anchor="ctr"/>
          <a:lstStyle/>
          <a:p>
            <a:pPr indent="0" marL="0">
              <a:buNone/>
            </a:pPr>
            <a:r>
              <a:rPr lang="en-US" sz="1300" b="1" spc="300" kern="0" dirty="0">
                <a:solidFill>
                  <a:srgbClr val="E8833A"/>
                </a:solidFill>
                <a:latin typeface="Calibri" pitchFamily="34" charset="0"/>
                <a:ea typeface="Calibri" pitchFamily="34" charset="-122"/>
                <a:cs typeface="Calibri" pitchFamily="34" charset="-120"/>
              </a:rPr>
              <a:t>ONBOARDING BRIEF</a:t>
            </a:r>
            <a:endParaRPr lang="en-US" sz="1300" dirty="0"/>
          </a:p>
        </p:txBody>
      </p:sp>
      <p:sp>
        <p:nvSpPr>
          <p:cNvPr id="5" name="Text 3"/>
          <p:cNvSpPr/>
          <p:nvPr/>
        </p:nvSpPr>
        <p:spPr>
          <a:xfrm>
            <a:off x="566928" y="2011680"/>
            <a:ext cx="7680960" cy="1691640"/>
          </a:xfrm>
          <a:prstGeom prst="rect">
            <a:avLst/>
          </a:prstGeom>
          <a:noFill/>
          <a:ln/>
        </p:spPr>
        <p:txBody>
          <a:bodyPr wrap="square" lIns="0" tIns="0" rIns="0" bIns="0" rtlCol="0" anchor="t"/>
          <a:lstStyle/>
          <a:p>
            <a:pPr indent="0" marL="0">
              <a:lnSpc>
                <a:spcPts val="5000"/>
              </a:lnSpc>
              <a:buNone/>
            </a:pPr>
            <a:r>
              <a:rPr lang="en-US" sz="4600" b="1" dirty="0">
                <a:solidFill>
                  <a:srgbClr val="FFFFFF"/>
                </a:solidFill>
                <a:latin typeface="Cambria" pitchFamily="34" charset="0"/>
                <a:ea typeface="Cambria" pitchFamily="34" charset="-122"/>
                <a:cs typeface="Cambria" pitchFamily="34" charset="-120"/>
              </a:rPr>
              <a:t>Dell Services Parts</a:t>
            </a:r>
            <a:endParaRPr lang="en-US" sz="4600" dirty="0"/>
          </a:p>
          <a:p>
            <a:pPr indent="0" marL="0">
              <a:lnSpc>
                <a:spcPts val="5000"/>
              </a:lnSpc>
              <a:buNone/>
            </a:pPr>
            <a:r>
              <a:rPr lang="en-US" sz="4600" b="1" dirty="0">
                <a:solidFill>
                  <a:srgbClr val="FFFFFF"/>
                </a:solidFill>
                <a:latin typeface="Cambria" pitchFamily="34" charset="0"/>
                <a:ea typeface="Cambria" pitchFamily="34" charset="-122"/>
                <a:cs typeface="Cambria" pitchFamily="34" charset="-120"/>
              </a:rPr>
              <a:t>Network Optimization</a:t>
            </a:r>
            <a:endParaRPr lang="en-US" sz="4600" dirty="0"/>
          </a:p>
        </p:txBody>
      </p:sp>
      <p:sp>
        <p:nvSpPr>
          <p:cNvPr id="6" name="Text 4"/>
          <p:cNvSpPr/>
          <p:nvPr/>
        </p:nvSpPr>
        <p:spPr>
          <a:xfrm>
            <a:off x="566928" y="3794760"/>
            <a:ext cx="7315200" cy="822960"/>
          </a:xfrm>
          <a:prstGeom prst="rect">
            <a:avLst/>
          </a:prstGeom>
          <a:noFill/>
          <a:ln/>
        </p:spPr>
        <p:txBody>
          <a:bodyPr wrap="square" lIns="0" tIns="0" rIns="0" bIns="0" rtlCol="0" anchor="t"/>
          <a:lstStyle/>
          <a:p>
            <a:pPr indent="0" marL="0">
              <a:lnSpc>
                <a:spcPts val="2200"/>
              </a:lnSpc>
              <a:buNone/>
            </a:pPr>
            <a:r>
              <a:rPr lang="en-US" sz="1550" dirty="0">
                <a:solidFill>
                  <a:srgbClr val="A9ADCB"/>
                </a:solidFill>
                <a:latin typeface="Calibri" pitchFamily="34" charset="0"/>
                <a:ea typeface="Calibri" pitchFamily="34" charset="-122"/>
                <a:cs typeface="Calibri" pitchFamily="34" charset="-120"/>
              </a:rPr>
              <a:t>Where the model stands today — formulation, data, the Gurobi baseline, and the QUBO track</a:t>
            </a:r>
            <a:endParaRPr lang="en-US" sz="1550" dirty="0"/>
          </a:p>
        </p:txBody>
      </p:sp>
      <p:sp>
        <p:nvSpPr>
          <p:cNvPr id="7" name="Shape 5"/>
          <p:cNvSpPr/>
          <p:nvPr/>
        </p:nvSpPr>
        <p:spPr>
          <a:xfrm>
            <a:off x="566928" y="4892040"/>
            <a:ext cx="3108960" cy="18288"/>
          </a:xfrm>
          <a:prstGeom prst="rect">
            <a:avLst/>
          </a:prstGeom>
          <a:solidFill>
            <a:srgbClr val="44477A"/>
          </a:solidFill>
          <a:ln w="12700">
            <a:solidFill>
              <a:srgbClr val="333333"/>
            </a:solidFill>
            <a:prstDash val="solid"/>
          </a:ln>
        </p:spPr>
      </p:sp>
      <p:sp>
        <p:nvSpPr>
          <p:cNvPr id="8" name="Text 6"/>
          <p:cNvSpPr/>
          <p:nvPr/>
        </p:nvSpPr>
        <p:spPr>
          <a:xfrm>
            <a:off x="566928" y="5074920"/>
            <a:ext cx="7680960" cy="365760"/>
          </a:xfrm>
          <a:prstGeom prst="rect">
            <a:avLst/>
          </a:prstGeom>
          <a:noFill/>
          <a:ln/>
        </p:spPr>
        <p:txBody>
          <a:bodyPr wrap="square" lIns="0" tIns="0" rIns="0" bIns="0" rtlCol="0" anchor="ctr"/>
          <a:lstStyle/>
          <a:p>
            <a:pPr indent="0" marL="0">
              <a:buNone/>
            </a:pPr>
            <a:r>
              <a:rPr lang="en-US" sz="1150" dirty="0">
                <a:solidFill>
                  <a:srgbClr val="7E82B4"/>
                </a:solidFill>
                <a:latin typeface="Calibri" pitchFamily="34" charset="0"/>
                <a:ea typeface="Calibri" pitchFamily="34" charset="-122"/>
                <a:cs typeface="Calibri" pitchFamily="34" charset="-120"/>
              </a:rPr>
              <a:t>Model V1  ·  ASU / Dell Technologies Services Parts  ·  Prepared for quantum algorithm onboarding</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420624"/>
          </a:xfrm>
          <a:prstGeom prst="ellipse">
            <a:avLst/>
          </a:prstGeom>
          <a:solidFill>
            <a:srgbClr val="E8833A"/>
          </a:solidFill>
          <a:ln/>
        </p:spPr>
      </p:sp>
      <p:sp>
        <p:nvSpPr>
          <p:cNvPr id="3" name="Text 1"/>
          <p:cNvSpPr/>
          <p:nvPr/>
        </p:nvSpPr>
        <p:spPr>
          <a:xfrm>
            <a:off x="566928" y="4206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p:nvPr/>
        </p:nvSpPr>
        <p:spPr>
          <a:xfrm>
            <a:off x="1170432" y="365760"/>
            <a:ext cx="10454335" cy="548640"/>
          </a:xfrm>
          <a:prstGeom prst="rect">
            <a:avLst/>
          </a:prstGeom>
          <a:noFill/>
          <a:ln/>
        </p:spPr>
        <p:txBody>
          <a:bodyPr wrap="square" lIns="0" tIns="0" rIns="0" bIns="0" rtlCol="0" anchor="ctr"/>
          <a:lstStyle/>
          <a:p>
            <a:pPr algn="l" indent="0" marL="0">
              <a:buNone/>
            </a:pPr>
            <a:r>
              <a:rPr lang="en-US" sz="3000" b="1" dirty="0">
                <a:solidFill>
                  <a:srgbClr val="1A1B3A"/>
                </a:solidFill>
                <a:latin typeface="Cambria" pitchFamily="34" charset="0"/>
                <a:ea typeface="Cambria" pitchFamily="34" charset="-122"/>
                <a:cs typeface="Cambria" pitchFamily="34" charset="-120"/>
              </a:rPr>
              <a:t>What this deck is</a:t>
            </a:r>
            <a:endParaRPr lang="en-US" sz="3000" dirty="0"/>
          </a:p>
        </p:txBody>
      </p:sp>
      <p:sp>
        <p:nvSpPr>
          <p:cNvPr id="5" name="Text 3"/>
          <p:cNvSpPr/>
          <p:nvPr/>
        </p:nvSpPr>
        <p:spPr>
          <a:xfrm>
            <a:off x="1170432" y="932688"/>
            <a:ext cx="10454335" cy="329184"/>
          </a:xfrm>
          <a:prstGeom prst="rect">
            <a:avLst/>
          </a:prstGeom>
          <a:noFill/>
          <a:ln/>
        </p:spPr>
        <p:txBody>
          <a:bodyPr wrap="square" lIns="0" tIns="0" rIns="0" bIns="0" rtlCol="0" anchor="t"/>
          <a:lstStyle/>
          <a:p>
            <a:pPr algn="l" indent="0" marL="0">
              <a:buNone/>
            </a:pPr>
            <a:r>
              <a:rPr lang="en-US" sz="1400" i="1" dirty="0">
                <a:solidFill>
                  <a:srgbClr val="6B6E8A"/>
                </a:solidFill>
                <a:latin typeface="Calibri" pitchFamily="34" charset="0"/>
                <a:ea typeface="Calibri" pitchFamily="34" charset="-122"/>
                <a:cs typeface="Calibri" pitchFamily="34" charset="-120"/>
              </a:rPr>
              <a:t>Four sessions, in order. Session 4 is the real handoff.</a:t>
            </a:r>
            <a:endParaRPr lang="en-US" sz="1400" dirty="0"/>
          </a:p>
        </p:txBody>
      </p:sp>
      <p:sp>
        <p:nvSpPr>
          <p:cNvPr id="6" name="Shape 4"/>
          <p:cNvSpPr/>
          <p:nvPr/>
        </p:nvSpPr>
        <p:spPr>
          <a:xfrm>
            <a:off x="566928" y="1508760"/>
            <a:ext cx="11057839" cy="1060704"/>
          </a:xfrm>
          <a:prstGeom prst="roundRect">
            <a:avLst>
              <a:gd name="adj" fmla="val 6897"/>
            </a:avLst>
          </a:prstGeom>
          <a:solidFill>
            <a:srgbClr val="F1F2F8"/>
          </a:solidFill>
          <a:ln w="12700">
            <a:solidFill>
              <a:srgbClr val="E2E4EF"/>
            </a:solidFill>
            <a:prstDash val="solid"/>
          </a:ln>
        </p:spPr>
      </p:sp>
      <p:sp>
        <p:nvSpPr>
          <p:cNvPr id="7" name="Shape 5"/>
          <p:cNvSpPr/>
          <p:nvPr/>
        </p:nvSpPr>
        <p:spPr>
          <a:xfrm>
            <a:off x="841248" y="1783080"/>
            <a:ext cx="512064" cy="512064"/>
          </a:xfrm>
          <a:prstGeom prst="ellipse">
            <a:avLst/>
          </a:prstGeom>
          <a:solidFill>
            <a:srgbClr val="1A1B3A"/>
          </a:solidFill>
          <a:ln/>
        </p:spPr>
      </p:sp>
      <p:sp>
        <p:nvSpPr>
          <p:cNvPr id="8" name="Text 6"/>
          <p:cNvSpPr/>
          <p:nvPr/>
        </p:nvSpPr>
        <p:spPr>
          <a:xfrm>
            <a:off x="841248" y="1783080"/>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01</a:t>
            </a:r>
            <a:endParaRPr lang="en-US" sz="1400" dirty="0"/>
          </a:p>
        </p:txBody>
      </p:sp>
      <p:sp>
        <p:nvSpPr>
          <p:cNvPr id="9" name="Text 7"/>
          <p:cNvSpPr/>
          <p:nvPr/>
        </p:nvSpPr>
        <p:spPr>
          <a:xfrm>
            <a:off x="1536192" y="1691640"/>
            <a:ext cx="3840480" cy="365760"/>
          </a:xfrm>
          <a:prstGeom prst="rect">
            <a:avLst/>
          </a:prstGeom>
          <a:noFill/>
          <a:ln/>
        </p:spPr>
        <p:txBody>
          <a:bodyPr wrap="square" lIns="0" tIns="0" rIns="0" bIns="0" rtlCol="0" anchor="ctr"/>
          <a:lstStyle/>
          <a:p>
            <a:pPr indent="0" marL="0">
              <a:buNone/>
            </a:pPr>
            <a:r>
              <a:rPr lang="en-US" sz="1800" b="1" dirty="0">
                <a:solidFill>
                  <a:srgbClr val="1A1B3A"/>
                </a:solidFill>
                <a:latin typeface="Cambria" pitchFamily="34" charset="0"/>
                <a:ea typeface="Cambria" pitchFamily="34" charset="-122"/>
                <a:cs typeface="Cambria" pitchFamily="34" charset="-120"/>
              </a:rPr>
              <a:t>Problem &amp; formulation</a:t>
            </a:r>
            <a:endParaRPr lang="en-US" sz="1800" dirty="0"/>
          </a:p>
        </p:txBody>
      </p:sp>
      <p:sp>
        <p:nvSpPr>
          <p:cNvPr id="10" name="Text 8"/>
          <p:cNvSpPr/>
          <p:nvPr/>
        </p:nvSpPr>
        <p:spPr>
          <a:xfrm>
            <a:off x="1536192" y="2057400"/>
            <a:ext cx="7680960" cy="402336"/>
          </a:xfrm>
          <a:prstGeom prst="rect">
            <a:avLst/>
          </a:prstGeom>
          <a:noFill/>
          <a:ln/>
        </p:spPr>
        <p:txBody>
          <a:bodyPr wrap="square" lIns="0" tIns="0" rIns="0" bIns="0" rtlCol="0" anchor="t"/>
          <a:lstStyle/>
          <a:p>
            <a:pPr indent="0" marL="0">
              <a:buNone/>
            </a:pPr>
            <a:r>
              <a:rPr lang="en-US" sz="1250" dirty="0">
                <a:solidFill>
                  <a:srgbClr val="6B6E8A"/>
                </a:solidFill>
                <a:latin typeface="Calibri" pitchFamily="34" charset="0"/>
                <a:ea typeface="Calibri" pitchFamily="34" charset="-122"/>
                <a:cs typeface="Calibri" pitchFamily="34" charset="-120"/>
              </a:rPr>
              <a:t>The decision, the three variable families, the objective, the four constraints.</a:t>
            </a:r>
            <a:endParaRPr lang="en-US" sz="1250" dirty="0"/>
          </a:p>
        </p:txBody>
      </p:sp>
      <p:sp>
        <p:nvSpPr>
          <p:cNvPr id="11" name="Text 9"/>
          <p:cNvSpPr/>
          <p:nvPr/>
        </p:nvSpPr>
        <p:spPr>
          <a:xfrm>
            <a:off x="10436047" y="1691640"/>
            <a:ext cx="914400" cy="365760"/>
          </a:xfrm>
          <a:prstGeom prst="rect">
            <a:avLst/>
          </a:prstGeom>
          <a:noFill/>
          <a:ln/>
        </p:spPr>
        <p:txBody>
          <a:bodyPr wrap="square" lIns="0" tIns="0" rIns="0" bIns="0" rtlCol="0" anchor="ctr"/>
          <a:lstStyle/>
          <a:p>
            <a:pPr algn="r" indent="0" marL="0">
              <a:buNone/>
            </a:pPr>
            <a:r>
              <a:rPr lang="en-US" sz="1200" b="1" dirty="0">
                <a:solidFill>
                  <a:srgbClr val="6B6E8A"/>
                </a:solidFill>
                <a:latin typeface="Calibri" pitchFamily="34" charset="0"/>
                <a:ea typeface="Calibri" pitchFamily="34" charset="-122"/>
                <a:cs typeface="Calibri" pitchFamily="34" charset="-120"/>
              </a:rPr>
              <a:t>60 min</a:t>
            </a:r>
            <a:endParaRPr lang="en-US" sz="1200" dirty="0"/>
          </a:p>
        </p:txBody>
      </p:sp>
      <p:sp>
        <p:nvSpPr>
          <p:cNvPr id="12" name="Shape 10"/>
          <p:cNvSpPr/>
          <p:nvPr/>
        </p:nvSpPr>
        <p:spPr>
          <a:xfrm>
            <a:off x="566928" y="2752344"/>
            <a:ext cx="11057839" cy="1060704"/>
          </a:xfrm>
          <a:prstGeom prst="roundRect">
            <a:avLst>
              <a:gd name="adj" fmla="val 6897"/>
            </a:avLst>
          </a:prstGeom>
          <a:solidFill>
            <a:srgbClr val="F1F2F8"/>
          </a:solidFill>
          <a:ln w="12700">
            <a:solidFill>
              <a:srgbClr val="E2E4EF"/>
            </a:solidFill>
            <a:prstDash val="solid"/>
          </a:ln>
        </p:spPr>
      </p:sp>
      <p:sp>
        <p:nvSpPr>
          <p:cNvPr id="13" name="Shape 11"/>
          <p:cNvSpPr/>
          <p:nvPr/>
        </p:nvSpPr>
        <p:spPr>
          <a:xfrm>
            <a:off x="841248" y="3026664"/>
            <a:ext cx="512064" cy="512064"/>
          </a:xfrm>
          <a:prstGeom prst="ellipse">
            <a:avLst/>
          </a:prstGeom>
          <a:solidFill>
            <a:srgbClr val="1A1B3A"/>
          </a:solidFill>
          <a:ln/>
        </p:spPr>
      </p:sp>
      <p:sp>
        <p:nvSpPr>
          <p:cNvPr id="14" name="Text 12"/>
          <p:cNvSpPr/>
          <p:nvPr/>
        </p:nvSpPr>
        <p:spPr>
          <a:xfrm>
            <a:off x="841248" y="3026664"/>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02</a:t>
            </a:r>
            <a:endParaRPr lang="en-US" sz="1400" dirty="0"/>
          </a:p>
        </p:txBody>
      </p:sp>
      <p:sp>
        <p:nvSpPr>
          <p:cNvPr id="15" name="Text 13"/>
          <p:cNvSpPr/>
          <p:nvPr/>
        </p:nvSpPr>
        <p:spPr>
          <a:xfrm>
            <a:off x="1536192" y="2935224"/>
            <a:ext cx="3840480" cy="365760"/>
          </a:xfrm>
          <a:prstGeom prst="rect">
            <a:avLst/>
          </a:prstGeom>
          <a:noFill/>
          <a:ln/>
        </p:spPr>
        <p:txBody>
          <a:bodyPr wrap="square" lIns="0" tIns="0" rIns="0" bIns="0" rtlCol="0" anchor="ctr"/>
          <a:lstStyle/>
          <a:p>
            <a:pPr indent="0" marL="0">
              <a:buNone/>
            </a:pPr>
            <a:r>
              <a:rPr lang="en-US" sz="1800" b="1" dirty="0">
                <a:solidFill>
                  <a:srgbClr val="1A1B3A"/>
                </a:solidFill>
                <a:latin typeface="Cambria" pitchFamily="34" charset="0"/>
                <a:ea typeface="Cambria" pitchFamily="34" charset="-122"/>
                <a:cs typeface="Cambria" pitchFamily="34" charset="-120"/>
              </a:rPr>
              <a:t>Data &amp; instances</a:t>
            </a:r>
            <a:endParaRPr lang="en-US" sz="1800" dirty="0"/>
          </a:p>
        </p:txBody>
      </p:sp>
      <p:sp>
        <p:nvSpPr>
          <p:cNvPr id="16" name="Text 14"/>
          <p:cNvSpPr/>
          <p:nvPr/>
        </p:nvSpPr>
        <p:spPr>
          <a:xfrm>
            <a:off x="1536192" y="3300984"/>
            <a:ext cx="7680960" cy="402336"/>
          </a:xfrm>
          <a:prstGeom prst="rect">
            <a:avLst/>
          </a:prstGeom>
          <a:noFill/>
          <a:ln/>
        </p:spPr>
        <p:txBody>
          <a:bodyPr wrap="square" lIns="0" tIns="0" rIns="0" bIns="0" rtlCol="0" anchor="t"/>
          <a:lstStyle/>
          <a:p>
            <a:pPr indent="0" marL="0">
              <a:buNone/>
            </a:pPr>
            <a:r>
              <a:rPr lang="en-US" sz="1250" dirty="0">
                <a:solidFill>
                  <a:srgbClr val="6B6E8A"/>
                </a:solidFill>
                <a:latin typeface="Calibri" pitchFamily="34" charset="0"/>
                <a:ea typeface="Calibri" pitchFamily="34" charset="-122"/>
                <a:cs typeface="Calibri" pitchFamily="34" charset="-120"/>
              </a:rPr>
              <a:t>Synthetic Dell-shaped network. Three scales. What actually gets harder.</a:t>
            </a:r>
            <a:endParaRPr lang="en-US" sz="1250" dirty="0"/>
          </a:p>
        </p:txBody>
      </p:sp>
      <p:sp>
        <p:nvSpPr>
          <p:cNvPr id="17" name="Text 15"/>
          <p:cNvSpPr/>
          <p:nvPr/>
        </p:nvSpPr>
        <p:spPr>
          <a:xfrm>
            <a:off x="10436047" y="2935224"/>
            <a:ext cx="914400" cy="365760"/>
          </a:xfrm>
          <a:prstGeom prst="rect">
            <a:avLst/>
          </a:prstGeom>
          <a:noFill/>
          <a:ln/>
        </p:spPr>
        <p:txBody>
          <a:bodyPr wrap="square" lIns="0" tIns="0" rIns="0" bIns="0" rtlCol="0" anchor="ctr"/>
          <a:lstStyle/>
          <a:p>
            <a:pPr algn="r" indent="0" marL="0">
              <a:buNone/>
            </a:pPr>
            <a:r>
              <a:rPr lang="en-US" sz="1200" b="1" dirty="0">
                <a:solidFill>
                  <a:srgbClr val="6B6E8A"/>
                </a:solidFill>
                <a:latin typeface="Calibri" pitchFamily="34" charset="0"/>
                <a:ea typeface="Calibri" pitchFamily="34" charset="-122"/>
                <a:cs typeface="Calibri" pitchFamily="34" charset="-120"/>
              </a:rPr>
              <a:t>30 min</a:t>
            </a:r>
            <a:endParaRPr lang="en-US" sz="1200" dirty="0"/>
          </a:p>
        </p:txBody>
      </p:sp>
      <p:sp>
        <p:nvSpPr>
          <p:cNvPr id="18" name="Shape 16"/>
          <p:cNvSpPr/>
          <p:nvPr/>
        </p:nvSpPr>
        <p:spPr>
          <a:xfrm>
            <a:off x="566928" y="3995928"/>
            <a:ext cx="11057839" cy="1060704"/>
          </a:xfrm>
          <a:prstGeom prst="roundRect">
            <a:avLst>
              <a:gd name="adj" fmla="val 6897"/>
            </a:avLst>
          </a:prstGeom>
          <a:solidFill>
            <a:srgbClr val="F1F2F8"/>
          </a:solidFill>
          <a:ln w="12700">
            <a:solidFill>
              <a:srgbClr val="E2E4EF"/>
            </a:solidFill>
            <a:prstDash val="solid"/>
          </a:ln>
        </p:spPr>
      </p:sp>
      <p:sp>
        <p:nvSpPr>
          <p:cNvPr id="19" name="Shape 17"/>
          <p:cNvSpPr/>
          <p:nvPr/>
        </p:nvSpPr>
        <p:spPr>
          <a:xfrm>
            <a:off x="841248" y="4270248"/>
            <a:ext cx="512064" cy="512064"/>
          </a:xfrm>
          <a:prstGeom prst="ellipse">
            <a:avLst/>
          </a:prstGeom>
          <a:solidFill>
            <a:srgbClr val="1A1B3A"/>
          </a:solidFill>
          <a:ln/>
        </p:spPr>
      </p:sp>
      <p:sp>
        <p:nvSpPr>
          <p:cNvPr id="20" name="Text 18"/>
          <p:cNvSpPr/>
          <p:nvPr/>
        </p:nvSpPr>
        <p:spPr>
          <a:xfrm>
            <a:off x="841248" y="4270248"/>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03</a:t>
            </a:r>
            <a:endParaRPr lang="en-US" sz="1400" dirty="0"/>
          </a:p>
        </p:txBody>
      </p:sp>
      <p:sp>
        <p:nvSpPr>
          <p:cNvPr id="21" name="Text 19"/>
          <p:cNvSpPr/>
          <p:nvPr/>
        </p:nvSpPr>
        <p:spPr>
          <a:xfrm>
            <a:off x="1536192" y="4178808"/>
            <a:ext cx="3840480" cy="365760"/>
          </a:xfrm>
          <a:prstGeom prst="rect">
            <a:avLst/>
          </a:prstGeom>
          <a:noFill/>
          <a:ln/>
        </p:spPr>
        <p:txBody>
          <a:bodyPr wrap="square" lIns="0" tIns="0" rIns="0" bIns="0" rtlCol="0" anchor="ctr"/>
          <a:lstStyle/>
          <a:p>
            <a:pPr indent="0" marL="0">
              <a:buNone/>
            </a:pPr>
            <a:r>
              <a:rPr lang="en-US" sz="1800" b="1" dirty="0">
                <a:solidFill>
                  <a:srgbClr val="1A1B3A"/>
                </a:solidFill>
                <a:latin typeface="Cambria" pitchFamily="34" charset="0"/>
                <a:ea typeface="Cambria" pitchFamily="34" charset="-122"/>
                <a:cs typeface="Cambria" pitchFamily="34" charset="-120"/>
              </a:rPr>
              <a:t>The Gurobi baseline</a:t>
            </a:r>
            <a:endParaRPr lang="en-US" sz="1800" dirty="0"/>
          </a:p>
        </p:txBody>
      </p:sp>
      <p:sp>
        <p:nvSpPr>
          <p:cNvPr id="22" name="Text 20"/>
          <p:cNvSpPr/>
          <p:nvPr/>
        </p:nvSpPr>
        <p:spPr>
          <a:xfrm>
            <a:off x="1536192" y="4544568"/>
            <a:ext cx="7680960" cy="402336"/>
          </a:xfrm>
          <a:prstGeom prst="rect">
            <a:avLst/>
          </a:prstGeom>
          <a:noFill/>
          <a:ln/>
        </p:spPr>
        <p:txBody>
          <a:bodyPr wrap="square" lIns="0" tIns="0" rIns="0" bIns="0" rtlCol="0" anchor="t"/>
          <a:lstStyle/>
          <a:p>
            <a:pPr indent="0" marL="0">
              <a:buNone/>
            </a:pPr>
            <a:r>
              <a:rPr lang="en-US" sz="1250" dirty="0">
                <a:solidFill>
                  <a:srgbClr val="6B6E8A"/>
                </a:solidFill>
                <a:latin typeface="Calibri" pitchFamily="34" charset="0"/>
                <a:ea typeface="Calibri" pitchFamily="34" charset="-122"/>
                <a:cs typeface="Calibri" pitchFamily="34" charset="-120"/>
              </a:rPr>
              <a:t>What classical MIP achieves, where it grinds, and how we measure everything.</a:t>
            </a:r>
            <a:endParaRPr lang="en-US" sz="1250" dirty="0"/>
          </a:p>
        </p:txBody>
      </p:sp>
      <p:sp>
        <p:nvSpPr>
          <p:cNvPr id="23" name="Text 21"/>
          <p:cNvSpPr/>
          <p:nvPr/>
        </p:nvSpPr>
        <p:spPr>
          <a:xfrm>
            <a:off x="10436047" y="4178808"/>
            <a:ext cx="914400" cy="365760"/>
          </a:xfrm>
          <a:prstGeom prst="rect">
            <a:avLst/>
          </a:prstGeom>
          <a:noFill/>
          <a:ln/>
        </p:spPr>
        <p:txBody>
          <a:bodyPr wrap="square" lIns="0" tIns="0" rIns="0" bIns="0" rtlCol="0" anchor="ctr"/>
          <a:lstStyle/>
          <a:p>
            <a:pPr algn="r" indent="0" marL="0">
              <a:buNone/>
            </a:pPr>
            <a:r>
              <a:rPr lang="en-US" sz="1200" b="1" dirty="0">
                <a:solidFill>
                  <a:srgbClr val="6B6E8A"/>
                </a:solidFill>
                <a:latin typeface="Calibri" pitchFamily="34" charset="0"/>
                <a:ea typeface="Calibri" pitchFamily="34" charset="-122"/>
                <a:cs typeface="Calibri" pitchFamily="34" charset="-120"/>
              </a:rPr>
              <a:t>45 min</a:t>
            </a:r>
            <a:endParaRPr lang="en-US" sz="1200" dirty="0"/>
          </a:p>
        </p:txBody>
      </p:sp>
      <p:sp>
        <p:nvSpPr>
          <p:cNvPr id="24" name="Shape 22"/>
          <p:cNvSpPr/>
          <p:nvPr/>
        </p:nvSpPr>
        <p:spPr>
          <a:xfrm>
            <a:off x="566928" y="5239512"/>
            <a:ext cx="11057839" cy="1060704"/>
          </a:xfrm>
          <a:prstGeom prst="roundRect">
            <a:avLst>
              <a:gd name="adj" fmla="val 6897"/>
            </a:avLst>
          </a:prstGeom>
          <a:solidFill>
            <a:srgbClr val="F1F2F8"/>
          </a:solidFill>
          <a:ln w="12700">
            <a:solidFill>
              <a:srgbClr val="E2E4EF"/>
            </a:solidFill>
            <a:prstDash val="solid"/>
          </a:ln>
        </p:spPr>
      </p:sp>
      <p:sp>
        <p:nvSpPr>
          <p:cNvPr id="25" name="Shape 23"/>
          <p:cNvSpPr/>
          <p:nvPr/>
        </p:nvSpPr>
        <p:spPr>
          <a:xfrm>
            <a:off x="841248" y="5513832"/>
            <a:ext cx="512064" cy="512064"/>
          </a:xfrm>
          <a:prstGeom prst="ellipse">
            <a:avLst/>
          </a:prstGeom>
          <a:solidFill>
            <a:srgbClr val="E8833A"/>
          </a:solidFill>
          <a:ln/>
        </p:spPr>
      </p:sp>
      <p:sp>
        <p:nvSpPr>
          <p:cNvPr id="26" name="Text 24"/>
          <p:cNvSpPr/>
          <p:nvPr/>
        </p:nvSpPr>
        <p:spPr>
          <a:xfrm>
            <a:off x="841248" y="5513832"/>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04</a:t>
            </a:r>
            <a:endParaRPr lang="en-US" sz="1400" dirty="0"/>
          </a:p>
        </p:txBody>
      </p:sp>
      <p:sp>
        <p:nvSpPr>
          <p:cNvPr id="27" name="Text 25"/>
          <p:cNvSpPr/>
          <p:nvPr/>
        </p:nvSpPr>
        <p:spPr>
          <a:xfrm>
            <a:off x="1536192" y="5422392"/>
            <a:ext cx="3840480" cy="365760"/>
          </a:xfrm>
          <a:prstGeom prst="rect">
            <a:avLst/>
          </a:prstGeom>
          <a:noFill/>
          <a:ln/>
        </p:spPr>
        <p:txBody>
          <a:bodyPr wrap="square" lIns="0" tIns="0" rIns="0" bIns="0" rtlCol="0" anchor="ctr"/>
          <a:lstStyle/>
          <a:p>
            <a:pPr indent="0" marL="0">
              <a:buNone/>
            </a:pPr>
            <a:r>
              <a:rPr lang="en-US" sz="1800" b="1" dirty="0">
                <a:solidFill>
                  <a:srgbClr val="1A1B3A"/>
                </a:solidFill>
                <a:latin typeface="Cambria" pitchFamily="34" charset="0"/>
                <a:ea typeface="Cambria" pitchFamily="34" charset="-122"/>
                <a:cs typeface="Cambria" pitchFamily="34" charset="-120"/>
              </a:rPr>
              <a:t>The QUBO track</a:t>
            </a:r>
            <a:endParaRPr lang="en-US" sz="1800" dirty="0"/>
          </a:p>
        </p:txBody>
      </p:sp>
      <p:sp>
        <p:nvSpPr>
          <p:cNvPr id="28" name="Text 26"/>
          <p:cNvSpPr/>
          <p:nvPr/>
        </p:nvSpPr>
        <p:spPr>
          <a:xfrm>
            <a:off x="1536192" y="5788152"/>
            <a:ext cx="7680960" cy="402336"/>
          </a:xfrm>
          <a:prstGeom prst="rect">
            <a:avLst/>
          </a:prstGeom>
          <a:noFill/>
          <a:ln/>
        </p:spPr>
        <p:txBody>
          <a:bodyPr wrap="square" lIns="0" tIns="0" rIns="0" bIns="0" rtlCol="0" anchor="t"/>
          <a:lstStyle/>
          <a:p>
            <a:pPr indent="0" marL="0">
              <a:buNone/>
            </a:pPr>
            <a:r>
              <a:rPr lang="en-US" sz="1250" dirty="0">
                <a:solidFill>
                  <a:srgbClr val="6B6E8A"/>
                </a:solidFill>
                <a:latin typeface="Calibri" pitchFamily="34" charset="0"/>
                <a:ea typeface="Calibri" pitchFamily="34" charset="-122"/>
                <a:cs typeface="Calibri" pitchFamily="34" charset="-120"/>
              </a:rPr>
              <a:t>Encoding, decomposition, penalties, results — and the open problems for you.</a:t>
            </a:r>
            <a:endParaRPr lang="en-US" sz="1250" dirty="0"/>
          </a:p>
        </p:txBody>
      </p:sp>
      <p:sp>
        <p:nvSpPr>
          <p:cNvPr id="29" name="Text 27"/>
          <p:cNvSpPr/>
          <p:nvPr/>
        </p:nvSpPr>
        <p:spPr>
          <a:xfrm>
            <a:off x="10436047" y="5422392"/>
            <a:ext cx="914400" cy="365760"/>
          </a:xfrm>
          <a:prstGeom prst="rect">
            <a:avLst/>
          </a:prstGeom>
          <a:noFill/>
          <a:ln/>
        </p:spPr>
        <p:txBody>
          <a:bodyPr wrap="square" lIns="0" tIns="0" rIns="0" bIns="0" rtlCol="0" anchor="ctr"/>
          <a:lstStyle/>
          <a:p>
            <a:pPr algn="r" indent="0" marL="0">
              <a:buNone/>
            </a:pPr>
            <a:r>
              <a:rPr lang="en-US" sz="1200" b="1" dirty="0">
                <a:solidFill>
                  <a:srgbClr val="E8833A"/>
                </a:solidFill>
                <a:latin typeface="Calibri" pitchFamily="34" charset="0"/>
                <a:ea typeface="Calibri" pitchFamily="34" charset="-122"/>
                <a:cs typeface="Calibri" pitchFamily="34" charset="-120"/>
              </a:rPr>
              <a:t>90 min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420624"/>
          </a:xfrm>
          <a:prstGeom prst="ellipse">
            <a:avLst/>
          </a:prstGeom>
          <a:solidFill>
            <a:srgbClr val="E8833A"/>
          </a:solidFill>
          <a:ln/>
        </p:spPr>
      </p:sp>
      <p:sp>
        <p:nvSpPr>
          <p:cNvPr id="3" name="Text 1"/>
          <p:cNvSpPr/>
          <p:nvPr/>
        </p:nvSpPr>
        <p:spPr>
          <a:xfrm>
            <a:off x="566928" y="4206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4" name="Text 2"/>
          <p:cNvSpPr/>
          <p:nvPr/>
        </p:nvSpPr>
        <p:spPr>
          <a:xfrm>
            <a:off x="1170432" y="365760"/>
            <a:ext cx="10454335" cy="548640"/>
          </a:xfrm>
          <a:prstGeom prst="rect">
            <a:avLst/>
          </a:prstGeom>
          <a:noFill/>
          <a:ln/>
        </p:spPr>
        <p:txBody>
          <a:bodyPr wrap="square" lIns="0" tIns="0" rIns="0" bIns="0" rtlCol="0" anchor="ctr"/>
          <a:lstStyle/>
          <a:p>
            <a:pPr algn="l" indent="0" marL="0">
              <a:buNone/>
            </a:pPr>
            <a:r>
              <a:rPr lang="en-US" sz="3000" b="1" dirty="0">
                <a:solidFill>
                  <a:srgbClr val="1A1B3A"/>
                </a:solidFill>
                <a:latin typeface="Cambria" pitchFamily="34" charset="0"/>
                <a:ea typeface="Cambria" pitchFamily="34" charset="-122"/>
                <a:cs typeface="Cambria" pitchFamily="34" charset="-120"/>
              </a:rPr>
              <a:t>He is not the audience for a supply-chain lecture</a:t>
            </a:r>
            <a:endParaRPr lang="en-US" sz="3000" dirty="0"/>
          </a:p>
        </p:txBody>
      </p:sp>
      <p:sp>
        <p:nvSpPr>
          <p:cNvPr id="5" name="Text 3"/>
          <p:cNvSpPr/>
          <p:nvPr/>
        </p:nvSpPr>
        <p:spPr>
          <a:xfrm>
            <a:off x="1170432" y="932688"/>
            <a:ext cx="10454335" cy="329184"/>
          </a:xfrm>
          <a:prstGeom prst="rect">
            <a:avLst/>
          </a:prstGeom>
          <a:noFill/>
          <a:ln/>
        </p:spPr>
        <p:txBody>
          <a:bodyPr wrap="square" lIns="0" tIns="0" rIns="0" bIns="0" rtlCol="0" anchor="t"/>
          <a:lstStyle/>
          <a:p>
            <a:pPr algn="l" indent="0" marL="0">
              <a:buNone/>
            </a:pPr>
            <a:r>
              <a:rPr lang="en-US" sz="1400" i="1" dirty="0">
                <a:solidFill>
                  <a:srgbClr val="6B6E8A"/>
                </a:solidFill>
                <a:latin typeface="Calibri" pitchFamily="34" charset="0"/>
                <a:ea typeface="Calibri" pitchFamily="34" charset="-122"/>
                <a:cs typeface="Calibri" pitchFamily="34" charset="-120"/>
              </a:rPr>
              <a:t>A quantum algorithm developer will spend session 1 silently trying to answer three questions. Answer them.</a:t>
            </a:r>
            <a:endParaRPr lang="en-US" sz="1400" dirty="0"/>
          </a:p>
        </p:txBody>
      </p:sp>
      <p:sp>
        <p:nvSpPr>
          <p:cNvPr id="6" name="Shape 4"/>
          <p:cNvSpPr/>
          <p:nvPr/>
        </p:nvSpPr>
        <p:spPr>
          <a:xfrm>
            <a:off x="566928" y="1691640"/>
            <a:ext cx="3503066" cy="3840480"/>
          </a:xfrm>
          <a:prstGeom prst="roundRect">
            <a:avLst>
              <a:gd name="adj" fmla="val 2088"/>
            </a:avLst>
          </a:prstGeom>
          <a:solidFill>
            <a:srgbClr val="F1F2F8"/>
          </a:solidFill>
          <a:ln w="12700">
            <a:solidFill>
              <a:srgbClr val="E2E4EF"/>
            </a:solidFill>
            <a:prstDash val="solid"/>
          </a:ln>
        </p:spPr>
      </p:sp>
      <p:sp>
        <p:nvSpPr>
          <p:cNvPr id="7" name="Shape 5"/>
          <p:cNvSpPr/>
          <p:nvPr/>
        </p:nvSpPr>
        <p:spPr>
          <a:xfrm>
            <a:off x="896112" y="2011680"/>
            <a:ext cx="530352" cy="530352"/>
          </a:xfrm>
          <a:prstGeom prst="ellipse">
            <a:avLst/>
          </a:prstGeom>
          <a:solidFill>
            <a:srgbClr val="1A1B3A"/>
          </a:solidFill>
          <a:ln/>
        </p:spPr>
      </p:sp>
      <p:sp>
        <p:nvSpPr>
          <p:cNvPr id="8" name="Text 6"/>
          <p:cNvSpPr/>
          <p:nvPr/>
        </p:nvSpPr>
        <p:spPr>
          <a:xfrm>
            <a:off x="896112" y="2011680"/>
            <a:ext cx="530352" cy="530352"/>
          </a:xfrm>
          <a:prstGeom prst="rect">
            <a:avLst/>
          </a:prstGeom>
          <a:noFill/>
          <a:ln/>
        </p:spPr>
        <p:txBody>
          <a:bodyPr wrap="square" lIns="0" tIns="0" rIns="0" bIns="0" rtlCol="0" anchor="ctr"/>
          <a:lstStyle/>
          <a:p>
            <a:pPr algn="ctr" indent="0" marL="0">
              <a:buNone/>
            </a:pPr>
            <a:r>
              <a:rPr lang="en-US" sz="2200" b="1" dirty="0">
                <a:solidFill>
                  <a:srgbClr val="E8833A"/>
                </a:solidFill>
                <a:latin typeface="Cambria" pitchFamily="34" charset="0"/>
                <a:ea typeface="Cambria" pitchFamily="34" charset="-122"/>
                <a:cs typeface="Cambria" pitchFamily="34" charset="-120"/>
              </a:rPr>
              <a:t>?</a:t>
            </a:r>
            <a:endParaRPr lang="en-US" sz="2200" dirty="0"/>
          </a:p>
        </p:txBody>
      </p:sp>
      <p:sp>
        <p:nvSpPr>
          <p:cNvPr id="9" name="Text 7"/>
          <p:cNvSpPr/>
          <p:nvPr/>
        </p:nvSpPr>
        <p:spPr>
          <a:xfrm>
            <a:off x="896112" y="2743200"/>
            <a:ext cx="2844698" cy="1234440"/>
          </a:xfrm>
          <a:prstGeom prst="rect">
            <a:avLst/>
          </a:prstGeom>
          <a:noFill/>
          <a:ln/>
        </p:spPr>
        <p:txBody>
          <a:bodyPr wrap="square" lIns="0" tIns="0" rIns="0" bIns="0" rtlCol="0" anchor="t"/>
          <a:lstStyle/>
          <a:p>
            <a:pPr indent="0" marL="0">
              <a:lnSpc>
                <a:spcPts val="2400"/>
              </a:lnSpc>
              <a:buNone/>
            </a:pPr>
            <a:r>
              <a:rPr lang="en-US" sz="1800" b="1" dirty="0">
                <a:solidFill>
                  <a:srgbClr val="1A1B3A"/>
                </a:solidFill>
                <a:latin typeface="Cambria" pitchFamily="34" charset="0"/>
                <a:ea typeface="Cambria" pitchFamily="34" charset="-122"/>
                <a:cs typeface="Cambria" pitchFamily="34" charset="-120"/>
              </a:rPr>
              <a:t>What are the binary</a:t>
            </a:r>
            <a:endParaRPr lang="en-US" sz="1800" dirty="0"/>
          </a:p>
          <a:p>
            <a:pPr indent="0" marL="0">
              <a:lnSpc>
                <a:spcPts val="2400"/>
              </a:lnSpc>
              <a:buNone/>
            </a:pPr>
            <a:r>
              <a:rPr lang="en-US" sz="1800" b="1" dirty="0">
                <a:solidFill>
                  <a:srgbClr val="1A1B3A"/>
                </a:solidFill>
                <a:latin typeface="Cambria" pitchFamily="34" charset="0"/>
                <a:ea typeface="Cambria" pitchFamily="34" charset="-122"/>
                <a:cs typeface="Cambria" pitchFamily="34" charset="-120"/>
              </a:rPr>
              <a:t>variables, and</a:t>
            </a:r>
            <a:endParaRPr lang="en-US" sz="1800" dirty="0"/>
          </a:p>
          <a:p>
            <a:pPr indent="0" marL="0">
              <a:lnSpc>
                <a:spcPts val="2400"/>
              </a:lnSpc>
              <a:buNone/>
            </a:pPr>
            <a:r>
              <a:rPr lang="en-US" sz="1800" b="1" dirty="0">
                <a:solidFill>
                  <a:srgbClr val="1A1B3A"/>
                </a:solidFill>
                <a:latin typeface="Cambria" pitchFamily="34" charset="0"/>
                <a:ea typeface="Cambria" pitchFamily="34" charset="-122"/>
                <a:cs typeface="Cambria" pitchFamily="34" charset="-120"/>
              </a:rPr>
              <a:t>how many?</a:t>
            </a:r>
            <a:endParaRPr lang="en-US" sz="1800" dirty="0"/>
          </a:p>
        </p:txBody>
      </p:sp>
      <p:sp>
        <p:nvSpPr>
          <p:cNvPr id="10" name="Text 8"/>
          <p:cNvSpPr/>
          <p:nvPr/>
        </p:nvSpPr>
        <p:spPr>
          <a:xfrm>
            <a:off x="896112" y="4023360"/>
            <a:ext cx="2844698" cy="1325880"/>
          </a:xfrm>
          <a:prstGeom prst="rect">
            <a:avLst/>
          </a:prstGeom>
          <a:noFill/>
          <a:ln/>
        </p:spPr>
        <p:txBody>
          <a:bodyPr wrap="square" lIns="0" tIns="0" rIns="0" bIns="0" rtlCol="0" anchor="t"/>
          <a:lstStyle/>
          <a:p>
            <a:pPr indent="0" marL="0">
              <a:lnSpc>
                <a:spcPts val="1700"/>
              </a:lnSpc>
              <a:buNone/>
            </a:pPr>
            <a:r>
              <a:rPr lang="en-US" sz="1200" dirty="0">
                <a:solidFill>
                  <a:srgbClr val="6B6E8A"/>
                </a:solidFill>
                <a:latin typeface="Calibri" pitchFamily="34" charset="0"/>
                <a:ea typeface="Calibri" pitchFamily="34" charset="-122"/>
                <a:cs typeface="Calibri" pitchFamily="34" charset="-120"/>
              </a:rPr>
              <a:t>Answered on slide 5.</a:t>
            </a:r>
            <a:endParaRPr lang="en-US" sz="1200" dirty="0"/>
          </a:p>
          <a:p>
            <a:pPr indent="0" marL="0">
              <a:lnSpc>
                <a:spcPts val="1700"/>
              </a:lnSpc>
              <a:buNone/>
            </a:pPr>
            <a:r>
              <a:rPr lang="en-US" sz="1200" dirty="0">
                <a:solidFill>
                  <a:srgbClr val="6B6E8A"/>
                </a:solidFill>
                <a:latin typeface="Calibri" pitchFamily="34" charset="0"/>
                <a:ea typeface="Calibri" pitchFamily="34" charset="-122"/>
                <a:cs typeface="Calibri" pitchFamily="34" charset="-120"/>
              </a:rPr>
              <a:t>X, Y, Z — plus the 180-mile</a:t>
            </a:r>
            <a:endParaRPr lang="en-US" sz="1200" dirty="0"/>
          </a:p>
          <a:p>
            <a:pPr indent="0" marL="0">
              <a:lnSpc>
                <a:spcPts val="1700"/>
              </a:lnSpc>
              <a:buNone/>
            </a:pPr>
            <a:r>
              <a:rPr lang="en-US" sz="1200" dirty="0">
                <a:solidFill>
                  <a:srgbClr val="6B6E8A"/>
                </a:solidFill>
                <a:latin typeface="Calibri" pitchFamily="34" charset="0"/>
                <a:ea typeface="Calibri" pitchFamily="34" charset="-122"/>
                <a:cs typeface="Calibri" pitchFamily="34" charset="-120"/>
              </a:rPr>
              <a:t>pre-processing cap that</a:t>
            </a:r>
            <a:endParaRPr lang="en-US" sz="1200" dirty="0"/>
          </a:p>
          <a:p>
            <a:pPr indent="0" marL="0">
              <a:lnSpc>
                <a:spcPts val="1700"/>
              </a:lnSpc>
              <a:buNone/>
            </a:pPr>
            <a:r>
              <a:rPr lang="en-US" sz="1200" dirty="0">
                <a:solidFill>
                  <a:srgbClr val="6B6E8A"/>
                </a:solidFill>
                <a:latin typeface="Calibri" pitchFamily="34" charset="0"/>
                <a:ea typeface="Calibri" pitchFamily="34" charset="-122"/>
                <a:cs typeface="Calibri" pitchFamily="34" charset="-120"/>
              </a:rPr>
              <a:t>keeps Z tractable.</a:t>
            </a:r>
            <a:endParaRPr lang="en-US" sz="1200" dirty="0"/>
          </a:p>
        </p:txBody>
      </p:sp>
      <p:sp>
        <p:nvSpPr>
          <p:cNvPr id="11" name="Shape 9"/>
          <p:cNvSpPr/>
          <p:nvPr/>
        </p:nvSpPr>
        <p:spPr>
          <a:xfrm>
            <a:off x="4344314" y="1691640"/>
            <a:ext cx="3503066" cy="3840480"/>
          </a:xfrm>
          <a:prstGeom prst="roundRect">
            <a:avLst>
              <a:gd name="adj" fmla="val 2088"/>
            </a:avLst>
          </a:prstGeom>
          <a:solidFill>
            <a:srgbClr val="F1F2F8"/>
          </a:solidFill>
          <a:ln w="12700">
            <a:solidFill>
              <a:srgbClr val="E2E4EF"/>
            </a:solidFill>
            <a:prstDash val="solid"/>
          </a:ln>
        </p:spPr>
      </p:sp>
      <p:sp>
        <p:nvSpPr>
          <p:cNvPr id="12" name="Shape 10"/>
          <p:cNvSpPr/>
          <p:nvPr/>
        </p:nvSpPr>
        <p:spPr>
          <a:xfrm>
            <a:off x="4673498" y="2011680"/>
            <a:ext cx="530352" cy="530352"/>
          </a:xfrm>
          <a:prstGeom prst="ellipse">
            <a:avLst/>
          </a:prstGeom>
          <a:solidFill>
            <a:srgbClr val="1A1B3A"/>
          </a:solidFill>
          <a:ln/>
        </p:spPr>
      </p:sp>
      <p:sp>
        <p:nvSpPr>
          <p:cNvPr id="13" name="Text 11"/>
          <p:cNvSpPr/>
          <p:nvPr/>
        </p:nvSpPr>
        <p:spPr>
          <a:xfrm>
            <a:off x="4673498" y="2011680"/>
            <a:ext cx="530352" cy="530352"/>
          </a:xfrm>
          <a:prstGeom prst="rect">
            <a:avLst/>
          </a:prstGeom>
          <a:noFill/>
          <a:ln/>
        </p:spPr>
        <p:txBody>
          <a:bodyPr wrap="square" lIns="0" tIns="0" rIns="0" bIns="0" rtlCol="0" anchor="ctr"/>
          <a:lstStyle/>
          <a:p>
            <a:pPr algn="ctr" indent="0" marL="0">
              <a:buNone/>
            </a:pPr>
            <a:r>
              <a:rPr lang="en-US" sz="2200" b="1" dirty="0">
                <a:solidFill>
                  <a:srgbClr val="E8833A"/>
                </a:solidFill>
                <a:latin typeface="Cambria" pitchFamily="34" charset="0"/>
                <a:ea typeface="Cambria" pitchFamily="34" charset="-122"/>
                <a:cs typeface="Cambria" pitchFamily="34" charset="-120"/>
              </a:rPr>
              <a:t>?</a:t>
            </a:r>
            <a:endParaRPr lang="en-US" sz="2200" dirty="0"/>
          </a:p>
        </p:txBody>
      </p:sp>
      <p:sp>
        <p:nvSpPr>
          <p:cNvPr id="14" name="Text 12"/>
          <p:cNvSpPr/>
          <p:nvPr/>
        </p:nvSpPr>
        <p:spPr>
          <a:xfrm>
            <a:off x="4673498" y="2743200"/>
            <a:ext cx="2844698" cy="1234440"/>
          </a:xfrm>
          <a:prstGeom prst="rect">
            <a:avLst/>
          </a:prstGeom>
          <a:noFill/>
          <a:ln/>
        </p:spPr>
        <p:txBody>
          <a:bodyPr wrap="square" lIns="0" tIns="0" rIns="0" bIns="0" rtlCol="0" anchor="t"/>
          <a:lstStyle/>
          <a:p>
            <a:pPr indent="0" marL="0">
              <a:lnSpc>
                <a:spcPts val="2400"/>
              </a:lnSpc>
              <a:buNone/>
            </a:pPr>
            <a:r>
              <a:rPr lang="en-US" sz="1800" b="1" dirty="0">
                <a:solidFill>
                  <a:srgbClr val="1A1B3A"/>
                </a:solidFill>
                <a:latin typeface="Cambria" pitchFamily="34" charset="0"/>
                <a:ea typeface="Cambria" pitchFamily="34" charset="-122"/>
                <a:cs typeface="Cambria" pitchFamily="34" charset="-120"/>
              </a:rPr>
              <a:t>What are the constraints,</a:t>
            </a:r>
            <a:endParaRPr lang="en-US" sz="1800" dirty="0"/>
          </a:p>
          <a:p>
            <a:pPr indent="0" marL="0">
              <a:lnSpc>
                <a:spcPts val="2400"/>
              </a:lnSpc>
              <a:buNone/>
            </a:pPr>
            <a:r>
              <a:rPr lang="en-US" sz="1800" b="1" dirty="0">
                <a:solidFill>
                  <a:srgbClr val="1A1B3A"/>
                </a:solidFill>
                <a:latin typeface="Cambria" pitchFamily="34" charset="0"/>
                <a:ea typeface="Cambria" pitchFamily="34" charset="-122"/>
                <a:cs typeface="Cambria" pitchFamily="34" charset="-120"/>
              </a:rPr>
              <a:t>and how did they</a:t>
            </a:r>
            <a:endParaRPr lang="en-US" sz="1800" dirty="0"/>
          </a:p>
          <a:p>
            <a:pPr indent="0" marL="0">
              <a:lnSpc>
                <a:spcPts val="2400"/>
              </a:lnSpc>
              <a:buNone/>
            </a:pPr>
            <a:r>
              <a:rPr lang="en-US" sz="1800" b="1" dirty="0">
                <a:solidFill>
                  <a:srgbClr val="1A1B3A"/>
                </a:solidFill>
                <a:latin typeface="Cambria" pitchFamily="34" charset="0"/>
                <a:ea typeface="Cambria" pitchFamily="34" charset="-122"/>
                <a:cs typeface="Cambria" pitchFamily="34" charset="-120"/>
              </a:rPr>
              <a:t>become penalties?</a:t>
            </a:r>
            <a:endParaRPr lang="en-US" sz="1800" dirty="0"/>
          </a:p>
        </p:txBody>
      </p:sp>
      <p:sp>
        <p:nvSpPr>
          <p:cNvPr id="15" name="Text 13"/>
          <p:cNvSpPr/>
          <p:nvPr/>
        </p:nvSpPr>
        <p:spPr>
          <a:xfrm>
            <a:off x="4673498" y="4023360"/>
            <a:ext cx="2844698" cy="1325880"/>
          </a:xfrm>
          <a:prstGeom prst="rect">
            <a:avLst/>
          </a:prstGeom>
          <a:noFill/>
          <a:ln/>
        </p:spPr>
        <p:txBody>
          <a:bodyPr wrap="square" lIns="0" tIns="0" rIns="0" bIns="0" rtlCol="0" anchor="t"/>
          <a:lstStyle/>
          <a:p>
            <a:pPr indent="0" marL="0">
              <a:lnSpc>
                <a:spcPts val="1700"/>
              </a:lnSpc>
              <a:buNone/>
            </a:pPr>
            <a:r>
              <a:rPr lang="en-US" sz="1200" dirty="0">
                <a:solidFill>
                  <a:srgbClr val="6B6E8A"/>
                </a:solidFill>
                <a:latin typeface="Calibri" pitchFamily="34" charset="0"/>
                <a:ea typeface="Calibri" pitchFamily="34" charset="-122"/>
                <a:cs typeface="Calibri" pitchFamily="34" charset="-120"/>
              </a:rPr>
              <a:t>Answered on slides 7 and 14.</a:t>
            </a:r>
            <a:endParaRPr lang="en-US" sz="1200" dirty="0"/>
          </a:p>
          <a:p>
            <a:pPr indent="0" marL="0">
              <a:lnSpc>
                <a:spcPts val="1700"/>
              </a:lnSpc>
              <a:buNone/>
            </a:pPr>
            <a:r>
              <a:rPr lang="en-US" sz="1200" dirty="0">
                <a:solidFill>
                  <a:srgbClr val="6B6E8A"/>
                </a:solidFill>
                <a:latin typeface="Calibri" pitchFamily="34" charset="0"/>
                <a:ea typeface="Calibri" pitchFamily="34" charset="-122"/>
                <a:cs typeface="Calibri" pitchFamily="34" charset="-120"/>
              </a:rPr>
              <a:t>Four constraints, adaptive</a:t>
            </a:r>
            <a:endParaRPr lang="en-US" sz="1200" dirty="0"/>
          </a:p>
          <a:p>
            <a:pPr indent="0" marL="0">
              <a:lnSpc>
                <a:spcPts val="1700"/>
              </a:lnSpc>
              <a:buNone/>
            </a:pPr>
            <a:r>
              <a:rPr lang="en-US" sz="1200" dirty="0">
                <a:solidFill>
                  <a:srgbClr val="6B6E8A"/>
                </a:solidFill>
                <a:latin typeface="Calibri" pitchFamily="34" charset="0"/>
                <a:ea typeface="Calibri" pitchFamily="34" charset="-122"/>
                <a:cs typeface="Calibri" pitchFamily="34" charset="-120"/>
              </a:rPr>
              <a:t>penalty weights scaled off</a:t>
            </a:r>
            <a:endParaRPr lang="en-US" sz="1200" dirty="0"/>
          </a:p>
          <a:p>
            <a:pPr indent="0" marL="0">
              <a:lnSpc>
                <a:spcPts val="1700"/>
              </a:lnSpc>
              <a:buNone/>
            </a:pPr>
            <a:r>
              <a:rPr lang="en-US" sz="1200" dirty="0">
                <a:solidFill>
                  <a:srgbClr val="6B6E8A"/>
                </a:solidFill>
                <a:latin typeface="Calibri" pitchFamily="34" charset="0"/>
                <a:ea typeface="Calibri" pitchFamily="34" charset="-122"/>
                <a:cs typeface="Calibri" pitchFamily="34" charset="-120"/>
              </a:rPr>
              <a:t>the objective magnitude.</a:t>
            </a:r>
            <a:endParaRPr lang="en-US" sz="1200" dirty="0"/>
          </a:p>
        </p:txBody>
      </p:sp>
      <p:sp>
        <p:nvSpPr>
          <p:cNvPr id="16" name="Shape 14"/>
          <p:cNvSpPr/>
          <p:nvPr/>
        </p:nvSpPr>
        <p:spPr>
          <a:xfrm>
            <a:off x="8121701" y="1691640"/>
            <a:ext cx="3503066" cy="3840480"/>
          </a:xfrm>
          <a:prstGeom prst="roundRect">
            <a:avLst>
              <a:gd name="adj" fmla="val 2088"/>
            </a:avLst>
          </a:prstGeom>
          <a:solidFill>
            <a:srgbClr val="F1F2F8"/>
          </a:solidFill>
          <a:ln w="12700">
            <a:solidFill>
              <a:srgbClr val="E2E4EF"/>
            </a:solidFill>
            <a:prstDash val="solid"/>
          </a:ln>
        </p:spPr>
      </p:sp>
      <p:sp>
        <p:nvSpPr>
          <p:cNvPr id="17" name="Shape 15"/>
          <p:cNvSpPr/>
          <p:nvPr/>
        </p:nvSpPr>
        <p:spPr>
          <a:xfrm>
            <a:off x="8450885" y="2011680"/>
            <a:ext cx="530352" cy="530352"/>
          </a:xfrm>
          <a:prstGeom prst="ellipse">
            <a:avLst/>
          </a:prstGeom>
          <a:solidFill>
            <a:srgbClr val="1A1B3A"/>
          </a:solidFill>
          <a:ln/>
        </p:spPr>
      </p:sp>
      <p:sp>
        <p:nvSpPr>
          <p:cNvPr id="18" name="Text 16"/>
          <p:cNvSpPr/>
          <p:nvPr/>
        </p:nvSpPr>
        <p:spPr>
          <a:xfrm>
            <a:off x="8450885" y="2011680"/>
            <a:ext cx="530352" cy="530352"/>
          </a:xfrm>
          <a:prstGeom prst="rect">
            <a:avLst/>
          </a:prstGeom>
          <a:noFill/>
          <a:ln/>
        </p:spPr>
        <p:txBody>
          <a:bodyPr wrap="square" lIns="0" tIns="0" rIns="0" bIns="0" rtlCol="0" anchor="ctr"/>
          <a:lstStyle/>
          <a:p>
            <a:pPr algn="ctr" indent="0" marL="0">
              <a:buNone/>
            </a:pPr>
            <a:r>
              <a:rPr lang="en-US" sz="2200" b="1" dirty="0">
                <a:solidFill>
                  <a:srgbClr val="E8833A"/>
                </a:solidFill>
                <a:latin typeface="Cambria" pitchFamily="34" charset="0"/>
                <a:ea typeface="Cambria" pitchFamily="34" charset="-122"/>
                <a:cs typeface="Cambria" pitchFamily="34" charset="-120"/>
              </a:rPr>
              <a:t>?</a:t>
            </a:r>
            <a:endParaRPr lang="en-US" sz="2200" dirty="0"/>
          </a:p>
        </p:txBody>
      </p:sp>
      <p:sp>
        <p:nvSpPr>
          <p:cNvPr id="19" name="Text 17"/>
          <p:cNvSpPr/>
          <p:nvPr/>
        </p:nvSpPr>
        <p:spPr>
          <a:xfrm>
            <a:off x="8450885" y="2743200"/>
            <a:ext cx="2844698" cy="1234440"/>
          </a:xfrm>
          <a:prstGeom prst="rect">
            <a:avLst/>
          </a:prstGeom>
          <a:noFill/>
          <a:ln/>
        </p:spPr>
        <p:txBody>
          <a:bodyPr wrap="square" lIns="0" tIns="0" rIns="0" bIns="0" rtlCol="0" anchor="t"/>
          <a:lstStyle/>
          <a:p>
            <a:pPr indent="0" marL="0">
              <a:lnSpc>
                <a:spcPts val="2400"/>
              </a:lnSpc>
              <a:buNone/>
            </a:pPr>
            <a:r>
              <a:rPr lang="en-US" sz="1800" b="1" dirty="0">
                <a:solidFill>
                  <a:srgbClr val="1A1B3A"/>
                </a:solidFill>
                <a:latin typeface="Cambria" pitchFamily="34" charset="0"/>
                <a:ea typeface="Cambria" pitchFamily="34" charset="-122"/>
                <a:cs typeface="Cambria" pitchFamily="34" charset="-120"/>
              </a:rPr>
              <a:t>What is the honest</a:t>
            </a:r>
            <a:endParaRPr lang="en-US" sz="1800" dirty="0"/>
          </a:p>
          <a:p>
            <a:pPr indent="0" marL="0">
              <a:lnSpc>
                <a:spcPts val="2400"/>
              </a:lnSpc>
              <a:buNone/>
            </a:pPr>
            <a:r>
              <a:rPr lang="en-US" sz="1800" b="1" dirty="0">
                <a:solidFill>
                  <a:srgbClr val="1A1B3A"/>
                </a:solidFill>
                <a:latin typeface="Cambria" pitchFamily="34" charset="0"/>
                <a:ea typeface="Cambria" pitchFamily="34" charset="-122"/>
                <a:cs typeface="Cambria" pitchFamily="34" charset="-120"/>
              </a:rPr>
              <a:t>baseline, and on</a:t>
            </a:r>
            <a:endParaRPr lang="en-US" sz="1800" dirty="0"/>
          </a:p>
          <a:p>
            <a:pPr indent="0" marL="0">
              <a:lnSpc>
                <a:spcPts val="2400"/>
              </a:lnSpc>
              <a:buNone/>
            </a:pPr>
            <a:r>
              <a:rPr lang="en-US" sz="1800" b="1" dirty="0">
                <a:solidFill>
                  <a:srgbClr val="1A1B3A"/>
                </a:solidFill>
                <a:latin typeface="Cambria" pitchFamily="34" charset="0"/>
                <a:ea typeface="Cambria" pitchFamily="34" charset="-122"/>
                <a:cs typeface="Cambria" pitchFamily="34" charset="-120"/>
              </a:rPr>
              <a:t>what metric?</a:t>
            </a:r>
            <a:endParaRPr lang="en-US" sz="1800" dirty="0"/>
          </a:p>
        </p:txBody>
      </p:sp>
      <p:sp>
        <p:nvSpPr>
          <p:cNvPr id="20" name="Text 18"/>
          <p:cNvSpPr/>
          <p:nvPr/>
        </p:nvSpPr>
        <p:spPr>
          <a:xfrm>
            <a:off x="8450885" y="4023360"/>
            <a:ext cx="2844698" cy="1325880"/>
          </a:xfrm>
          <a:prstGeom prst="rect">
            <a:avLst/>
          </a:prstGeom>
          <a:noFill/>
          <a:ln/>
        </p:spPr>
        <p:txBody>
          <a:bodyPr wrap="square" lIns="0" tIns="0" rIns="0" bIns="0" rtlCol="0" anchor="t"/>
          <a:lstStyle/>
          <a:p>
            <a:pPr indent="0" marL="0">
              <a:lnSpc>
                <a:spcPts val="1700"/>
              </a:lnSpc>
              <a:buNone/>
            </a:pPr>
            <a:r>
              <a:rPr lang="en-US" sz="1200" dirty="0">
                <a:solidFill>
                  <a:srgbClr val="6B6E8A"/>
                </a:solidFill>
                <a:latin typeface="Calibri" pitchFamily="34" charset="0"/>
                <a:ea typeface="Calibri" pitchFamily="34" charset="-122"/>
                <a:cs typeface="Calibri" pitchFamily="34" charset="-120"/>
              </a:rPr>
              <a:t>Answered on slides 10-12.</a:t>
            </a:r>
            <a:endParaRPr lang="en-US" sz="1200" dirty="0"/>
          </a:p>
          <a:p>
            <a:pPr indent="0" marL="0">
              <a:lnSpc>
                <a:spcPts val="1700"/>
              </a:lnSpc>
              <a:buNone/>
            </a:pPr>
            <a:r>
              <a:rPr lang="en-US" sz="1200" dirty="0">
                <a:solidFill>
                  <a:srgbClr val="6B6E8A"/>
                </a:solidFill>
                <a:latin typeface="Calibri" pitchFamily="34" charset="0"/>
                <a:ea typeface="Calibri" pitchFamily="34" charset="-122"/>
                <a:cs typeface="Calibri" pitchFamily="34" charset="-120"/>
              </a:rPr>
              <a:t>Gurobi objective is ground</a:t>
            </a:r>
            <a:endParaRPr lang="en-US" sz="1200" dirty="0"/>
          </a:p>
          <a:p>
            <a:pPr indent="0" marL="0">
              <a:lnSpc>
                <a:spcPts val="1700"/>
              </a:lnSpc>
              <a:buNone/>
            </a:pPr>
            <a:r>
              <a:rPr lang="en-US" sz="1200" dirty="0">
                <a:solidFill>
                  <a:srgbClr val="6B6E8A"/>
                </a:solidFill>
                <a:latin typeface="Calibri" pitchFamily="34" charset="0"/>
                <a:ea typeface="Calibri" pitchFamily="34" charset="-122"/>
                <a:cs typeface="Calibri" pitchFamily="34" charset="-120"/>
              </a:rPr>
              <a:t>truth. % gap at equal</a:t>
            </a:r>
            <a:endParaRPr lang="en-US" sz="1200" dirty="0"/>
          </a:p>
          <a:p>
            <a:pPr indent="0" marL="0">
              <a:lnSpc>
                <a:spcPts val="1700"/>
              </a:lnSpc>
              <a:buNone/>
            </a:pPr>
            <a:r>
              <a:rPr lang="en-US" sz="1200" dirty="0">
                <a:solidFill>
                  <a:srgbClr val="6B6E8A"/>
                </a:solidFill>
                <a:latin typeface="Calibri" pitchFamily="34" charset="0"/>
                <a:ea typeface="Calibri" pitchFamily="34" charset="-122"/>
                <a:cs typeface="Calibri" pitchFamily="34" charset="-120"/>
              </a:rPr>
              <a:t>wall-clock, plus a feasibility audit.</a:t>
            </a:r>
            <a:endParaRPr lang="en-US" sz="1200" dirty="0"/>
          </a:p>
        </p:txBody>
      </p:sp>
      <p:sp>
        <p:nvSpPr>
          <p:cNvPr id="21" name="Text 19"/>
          <p:cNvSpPr/>
          <p:nvPr/>
        </p:nvSpPr>
        <p:spPr>
          <a:xfrm>
            <a:off x="566928" y="5760720"/>
            <a:ext cx="11057839" cy="457200"/>
          </a:xfrm>
          <a:prstGeom prst="rect">
            <a:avLst/>
          </a:prstGeom>
          <a:noFill/>
          <a:ln/>
        </p:spPr>
        <p:txBody>
          <a:bodyPr wrap="square" lIns="0" tIns="0" rIns="0" bIns="0" rtlCol="0" anchor="t"/>
          <a:lstStyle/>
          <a:p>
            <a:pPr indent="0" marL="0">
              <a:buNone/>
            </a:pPr>
            <a:r>
              <a:rPr lang="en-US" sz="1300" i="1" dirty="0">
                <a:solidFill>
                  <a:srgbClr val="1A1B3A"/>
                </a:solidFill>
                <a:latin typeface="Calibri" pitchFamily="34" charset="0"/>
                <a:ea typeface="Calibri" pitchFamily="34" charset="-122"/>
                <a:cs typeface="Calibri" pitchFamily="34" charset="-120"/>
              </a:rPr>
              <a:t>Teach the supply chain only as far as it makes these three answerable. Every business slide should end in “…and that’s why there’s a variable for it.”</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420624"/>
          </a:xfrm>
          <a:prstGeom prst="ellipse">
            <a:avLst/>
          </a:prstGeom>
          <a:solidFill>
            <a:srgbClr val="E8833A"/>
          </a:solidFill>
          <a:ln/>
        </p:spPr>
      </p:sp>
      <p:sp>
        <p:nvSpPr>
          <p:cNvPr id="3" name="Text 1"/>
          <p:cNvSpPr/>
          <p:nvPr/>
        </p:nvSpPr>
        <p:spPr>
          <a:xfrm>
            <a:off x="566928" y="4206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4" name="Text 2"/>
          <p:cNvSpPr/>
          <p:nvPr/>
        </p:nvSpPr>
        <p:spPr>
          <a:xfrm>
            <a:off x="1170432" y="365760"/>
            <a:ext cx="10454335" cy="548640"/>
          </a:xfrm>
          <a:prstGeom prst="rect">
            <a:avLst/>
          </a:prstGeom>
          <a:noFill/>
          <a:ln/>
        </p:spPr>
        <p:txBody>
          <a:bodyPr wrap="square" lIns="0" tIns="0" rIns="0" bIns="0" rtlCol="0" anchor="ctr"/>
          <a:lstStyle/>
          <a:p>
            <a:pPr algn="l" indent="0" marL="0">
              <a:buNone/>
            </a:pPr>
            <a:r>
              <a:rPr lang="en-US" sz="3000" b="1" dirty="0">
                <a:solidFill>
                  <a:srgbClr val="1A1B3A"/>
                </a:solidFill>
                <a:latin typeface="Cambria" pitchFamily="34" charset="0"/>
                <a:ea typeface="Cambria" pitchFamily="34" charset="-122"/>
                <a:cs typeface="Cambria" pitchFamily="34" charset="-120"/>
              </a:rPr>
              <a:t>The decision, in one sentence</a:t>
            </a:r>
            <a:endParaRPr lang="en-US" sz="3000" dirty="0"/>
          </a:p>
        </p:txBody>
      </p:sp>
      <p:sp>
        <p:nvSpPr>
          <p:cNvPr id="5" name="Text 3"/>
          <p:cNvSpPr/>
          <p:nvPr/>
        </p:nvSpPr>
        <p:spPr>
          <a:xfrm>
            <a:off x="1170432" y="932688"/>
            <a:ext cx="10454335" cy="329184"/>
          </a:xfrm>
          <a:prstGeom prst="rect">
            <a:avLst/>
          </a:prstGeom>
          <a:noFill/>
          <a:ln/>
        </p:spPr>
        <p:txBody>
          <a:bodyPr wrap="square" lIns="0" tIns="0" rIns="0" bIns="0" rtlCol="0" anchor="t"/>
          <a:lstStyle/>
          <a:p>
            <a:pPr algn="l" indent="0" marL="0">
              <a:buNone/>
            </a:pPr>
            <a:r>
              <a:rPr lang="en-US" sz="1400" i="1" dirty="0">
                <a:solidFill>
                  <a:srgbClr val="6B6E8A"/>
                </a:solidFill>
                <a:latin typeface="Calibri" pitchFamily="34" charset="0"/>
                <a:ea typeface="Calibri" pitchFamily="34" charset="-122"/>
                <a:cs typeface="Calibri" pitchFamily="34" charset="-120"/>
              </a:rPr>
              <a:t>Open with this. Not with background.</a:t>
            </a:r>
            <a:endParaRPr lang="en-US" sz="1400" dirty="0"/>
          </a:p>
        </p:txBody>
      </p:sp>
      <p:sp>
        <p:nvSpPr>
          <p:cNvPr id="6" name="Shape 4"/>
          <p:cNvSpPr/>
          <p:nvPr/>
        </p:nvSpPr>
        <p:spPr>
          <a:xfrm>
            <a:off x="566928" y="1627632"/>
            <a:ext cx="11057839" cy="1298448"/>
          </a:xfrm>
          <a:prstGeom prst="roundRect">
            <a:avLst>
              <a:gd name="adj" fmla="val 5634"/>
            </a:avLst>
          </a:prstGeom>
          <a:solidFill>
            <a:srgbClr val="F1F2F8"/>
          </a:solidFill>
          <a:ln w="12700">
            <a:solidFill>
              <a:srgbClr val="E2E4EF"/>
            </a:solidFill>
            <a:prstDash val="solid"/>
          </a:ln>
        </p:spPr>
      </p:sp>
      <p:sp>
        <p:nvSpPr>
          <p:cNvPr id="7" name="Text 5"/>
          <p:cNvSpPr/>
          <p:nvPr/>
        </p:nvSpPr>
        <p:spPr>
          <a:xfrm>
            <a:off x="877824" y="1783080"/>
            <a:ext cx="10436047" cy="987552"/>
          </a:xfrm>
          <a:prstGeom prst="rect">
            <a:avLst/>
          </a:prstGeom>
          <a:noFill/>
          <a:ln/>
        </p:spPr>
        <p:txBody>
          <a:bodyPr wrap="square" lIns="0" tIns="0" rIns="0" bIns="0" rtlCol="0" anchor="ctr"/>
          <a:lstStyle/>
          <a:p>
            <a:pPr indent="0" marL="0">
              <a:lnSpc>
                <a:spcPts val="2600"/>
              </a:lnSpc>
              <a:buNone/>
            </a:pPr>
            <a:r>
              <a:rPr lang="en-US" sz="1750" dirty="0">
                <a:solidFill>
                  <a:srgbClr val="1A1B3A"/>
                </a:solidFill>
                <a:latin typeface="Cambria" pitchFamily="34" charset="0"/>
                <a:ea typeface="Cambria" pitchFamily="34" charset="-122"/>
                <a:cs typeface="Cambria" pitchFamily="34" charset="-120"/>
              </a:rPr>
              <a:t>Dell has ~600 forward stocking locations. For every </a:t>
            </a:r>
            <a:pPr indent="0" marL="0">
              <a:lnSpc>
                <a:spcPts val="2600"/>
              </a:lnSpc>
              <a:buNone/>
            </a:pPr>
            <a:r>
              <a:rPr lang="en-US" sz="1750" b="1" dirty="0">
                <a:solidFill>
                  <a:srgbClr val="E8833A"/>
                </a:solidFill>
                <a:latin typeface="Cambria" pitchFamily="34" charset="0"/>
                <a:ea typeface="Cambria" pitchFamily="34" charset="-122"/>
                <a:cs typeface="Cambria" pitchFamily="34" charset="-120"/>
              </a:rPr>
              <a:t>(zip, part)</a:t>
            </a:r>
            <a:pPr indent="0" marL="0">
              <a:lnSpc>
                <a:spcPts val="2600"/>
              </a:lnSpc>
              <a:buNone/>
            </a:pPr>
            <a:r>
              <a:rPr lang="en-US" sz="1750" dirty="0">
                <a:solidFill>
                  <a:srgbClr val="1A1B3A"/>
                </a:solidFill>
                <a:latin typeface="Cambria" pitchFamily="34" charset="0"/>
                <a:ea typeface="Cambria" pitchFamily="34" charset="-122"/>
                <a:cs typeface="Cambria" pitchFamily="34" charset="-120"/>
              </a:rPr>
              <a:t> pair we decide </a:t>
            </a:r>
            <a:pPr indent="0" marL="0">
              <a:lnSpc>
                <a:spcPts val="2600"/>
              </a:lnSpc>
              <a:buNone/>
            </a:pPr>
            <a:r>
              <a:rPr lang="en-US" sz="1750" b="1" dirty="0">
                <a:solidFill>
                  <a:srgbClr val="1A1B3A"/>
                </a:solidFill>
                <a:latin typeface="Cambria" pitchFamily="34" charset="0"/>
                <a:ea typeface="Cambria" pitchFamily="34" charset="-122"/>
                <a:cs typeface="Cambria" pitchFamily="34" charset="-120"/>
              </a:rPr>
              <a:t>which hub serves it</a:t>
            </a:r>
            <a:pPr indent="0" marL="0">
              <a:lnSpc>
                <a:spcPts val="2600"/>
              </a:lnSpc>
              <a:buNone/>
            </a:pPr>
            <a:r>
              <a:rPr lang="en-US" sz="1750" dirty="0">
                <a:solidFill>
                  <a:srgbClr val="1A1B3A"/>
                </a:solidFill>
                <a:latin typeface="Cambria" pitchFamily="34" charset="0"/>
                <a:ea typeface="Cambria" pitchFamily="34" charset="-122"/>
                <a:cs typeface="Cambria" pitchFamily="34" charset="-120"/>
              </a:rPr>
              <a:t>, </a:t>
            </a:r>
            <a:pPr indent="0" marL="0">
              <a:lnSpc>
                <a:spcPts val="2600"/>
              </a:lnSpc>
              <a:buNone/>
            </a:pPr>
            <a:r>
              <a:rPr lang="en-US" sz="1750" b="1" dirty="0">
                <a:solidFill>
                  <a:srgbClr val="1A1B3A"/>
                </a:solidFill>
                <a:latin typeface="Cambria" pitchFamily="34" charset="0"/>
                <a:ea typeface="Cambria" pitchFamily="34" charset="-122"/>
                <a:cs typeface="Cambria" pitchFamily="34" charset="-120"/>
              </a:rPr>
              <a:t>which parts each hub stocks</a:t>
            </a:r>
            <a:pPr indent="0" marL="0">
              <a:lnSpc>
                <a:spcPts val="2600"/>
              </a:lnSpc>
              <a:buNone/>
            </a:pPr>
            <a:r>
              <a:rPr lang="en-US" sz="1750" dirty="0">
                <a:solidFill>
                  <a:srgbClr val="1A1B3A"/>
                </a:solidFill>
                <a:latin typeface="Cambria" pitchFamily="34" charset="0"/>
                <a:ea typeface="Cambria" pitchFamily="34" charset="-122"/>
                <a:cs typeface="Cambria" pitchFamily="34" charset="-120"/>
              </a:rPr>
              <a:t>, and </a:t>
            </a:r>
            <a:pPr indent="0" marL="0">
              <a:lnSpc>
                <a:spcPts val="2600"/>
              </a:lnSpc>
              <a:buNone/>
            </a:pPr>
            <a:r>
              <a:rPr lang="en-US" sz="1750" b="1" dirty="0">
                <a:solidFill>
                  <a:srgbClr val="1A1B3A"/>
                </a:solidFill>
                <a:latin typeface="Cambria" pitchFamily="34" charset="0"/>
                <a:ea typeface="Cambria" pitchFamily="34" charset="-122"/>
                <a:cs typeface="Cambria" pitchFamily="34" charset="-120"/>
              </a:rPr>
              <a:t>which hubs stay open</a:t>
            </a:r>
            <a:pPr indent="0" marL="0">
              <a:lnSpc>
                <a:spcPts val="2600"/>
              </a:lnSpc>
              <a:buNone/>
            </a:pPr>
            <a:r>
              <a:rPr lang="en-US" sz="1750" dirty="0">
                <a:solidFill>
                  <a:srgbClr val="1A1B3A"/>
                </a:solidFill>
                <a:latin typeface="Cambria" pitchFamily="34" charset="0"/>
                <a:ea typeface="Cambria" pitchFamily="34" charset="-122"/>
                <a:cs typeface="Cambria" pitchFamily="34" charset="-120"/>
              </a:rPr>
              <a:t> — minimizing total cost, subject to a 130-mile same-day SLA we are allowed to stretch to 180 at a penalty.</a:t>
            </a:r>
            <a:endParaRPr lang="en-US" sz="1750" dirty="0"/>
          </a:p>
        </p:txBody>
      </p:sp>
      <p:sp>
        <p:nvSpPr>
          <p:cNvPr id="8" name="Text 6"/>
          <p:cNvSpPr/>
          <p:nvPr/>
        </p:nvSpPr>
        <p:spPr>
          <a:xfrm>
            <a:off x="566928" y="3145536"/>
            <a:ext cx="5394960" cy="310896"/>
          </a:xfrm>
          <a:prstGeom prst="rect">
            <a:avLst/>
          </a:prstGeom>
          <a:noFill/>
          <a:ln/>
        </p:spPr>
        <p:txBody>
          <a:bodyPr wrap="square" lIns="0" tIns="0" rIns="0" bIns="0" rtlCol="0" anchor="ctr"/>
          <a:lstStyle/>
          <a:p>
            <a:pPr indent="0" marL="0">
              <a:buNone/>
            </a:pPr>
            <a:r>
              <a:rPr lang="en-US" sz="1300" b="1" spc="150" kern="0" dirty="0">
                <a:solidFill>
                  <a:srgbClr val="6B6E8A"/>
                </a:solidFill>
                <a:latin typeface="Calibri" pitchFamily="34" charset="0"/>
                <a:ea typeface="Calibri" pitchFamily="34" charset="-122"/>
                <a:cs typeface="Calibri" pitchFamily="34" charset="-120"/>
              </a:rPr>
              <a:t>Three levers, four cost owners</a:t>
            </a:r>
            <a:endParaRPr lang="en-US" sz="1300" dirty="0"/>
          </a:p>
        </p:txBody>
      </p:sp>
      <p:sp>
        <p:nvSpPr>
          <p:cNvPr id="9" name="Text 7"/>
          <p:cNvSpPr/>
          <p:nvPr/>
        </p:nvSpPr>
        <p:spPr>
          <a:xfrm>
            <a:off x="566928" y="3493008"/>
            <a:ext cx="5394960" cy="1554480"/>
          </a:xfrm>
          <a:prstGeom prst="rect">
            <a:avLst/>
          </a:prstGeom>
          <a:noFill/>
          <a:ln/>
        </p:spPr>
        <p:txBody>
          <a:bodyPr wrap="square" lIns="0" tIns="0" rIns="0" bIns="0" rtlCol="0" anchor="t"/>
          <a:lstStyle/>
          <a:p>
            <a:pPr marL="342900" indent="-342900">
              <a:lnSpc>
                <a:spcPts val="2000"/>
              </a:lnSpc>
              <a:spcAft>
                <a:spcPts val="1000"/>
              </a:spcAft>
              <a:buSzPct val="100000"/>
              <a:buChar char="•"/>
            </a:pPr>
            <a:r>
              <a:rPr lang="en-US" sz="1400" dirty="0">
                <a:solidFill>
                  <a:srgbClr val="1A1B3A"/>
                </a:solidFill>
                <a:latin typeface="Calibri" pitchFamily="34" charset="0"/>
                <a:ea typeface="Calibri" pitchFamily="34" charset="-122"/>
                <a:cs typeface="Calibri" pitchFamily="34" charset="-120"/>
              </a:rPr>
              <a:t>Re-assign (zip, part) → hub on distance, demand and inventory cost</a:t>
            </a:r>
            <a:endParaRPr lang="en-US" sz="1400" dirty="0"/>
          </a:p>
          <a:p>
            <a:pPr marL="342900" indent="-342900">
              <a:lnSpc>
                <a:spcPts val="2000"/>
              </a:lnSpc>
              <a:spcAft>
                <a:spcPts val="1000"/>
              </a:spcAft>
              <a:buSzPct val="100000"/>
              <a:buChar char="•"/>
            </a:pPr>
            <a:r>
              <a:rPr lang="en-US" sz="1400" dirty="0">
                <a:solidFill>
                  <a:srgbClr val="1A1B3A"/>
                </a:solidFill>
                <a:latin typeface="Calibri" pitchFamily="34" charset="0"/>
                <a:ea typeface="Calibri" pitchFamily="34" charset="-122"/>
                <a:cs typeface="Calibri" pitchFamily="34" charset="-120"/>
              </a:rPr>
              <a:t>Open or close hubs — the single most expensive term in the objective</a:t>
            </a:r>
            <a:endParaRPr lang="en-US" sz="1400" dirty="0"/>
          </a:p>
          <a:p>
            <a:pPr marL="342900" indent="-342900">
              <a:lnSpc>
                <a:spcPts val="2000"/>
              </a:lnSpc>
              <a:spcAft>
                <a:spcPts val="1000"/>
              </a:spcAft>
              <a:buSzPct val="100000"/>
              <a:buChar char="•"/>
            </a:pPr>
            <a:r>
              <a:rPr lang="en-US" sz="1400" dirty="0">
                <a:solidFill>
                  <a:srgbClr val="1A1B3A"/>
                </a:solidFill>
                <a:latin typeface="Calibri" pitchFamily="34" charset="0"/>
                <a:ea typeface="Calibri" pitchFamily="34" charset="-122"/>
                <a:cs typeface="Calibri" pitchFamily="34" charset="-120"/>
              </a:rPr>
              <a:t>Stretch the service radius selectively where the risk pays for itself</a:t>
            </a:r>
            <a:endParaRPr lang="en-US" sz="1400" dirty="0"/>
          </a:p>
        </p:txBody>
      </p:sp>
      <p:sp>
        <p:nvSpPr>
          <p:cNvPr id="10" name="Text 8"/>
          <p:cNvSpPr/>
          <p:nvPr/>
        </p:nvSpPr>
        <p:spPr>
          <a:xfrm>
            <a:off x="6355080" y="3145536"/>
            <a:ext cx="5269687" cy="310896"/>
          </a:xfrm>
          <a:prstGeom prst="rect">
            <a:avLst/>
          </a:prstGeom>
          <a:noFill/>
          <a:ln/>
        </p:spPr>
        <p:txBody>
          <a:bodyPr wrap="square" lIns="0" tIns="0" rIns="0" bIns="0" rtlCol="0" anchor="ctr"/>
          <a:lstStyle/>
          <a:p>
            <a:pPr indent="0" marL="0">
              <a:buNone/>
            </a:pPr>
            <a:r>
              <a:rPr lang="en-US" sz="1300" b="1" spc="150" kern="0" dirty="0">
                <a:solidFill>
                  <a:srgbClr val="6B6E8A"/>
                </a:solidFill>
                <a:latin typeface="Calibri" pitchFamily="34" charset="0"/>
                <a:ea typeface="Calibri" pitchFamily="34" charset="-122"/>
                <a:cs typeface="Calibri" pitchFamily="34" charset="-120"/>
              </a:rPr>
              <a:t>Cost structure</a:t>
            </a:r>
            <a:endParaRPr lang="en-US" sz="1300" dirty="0"/>
          </a:p>
        </p:txBody>
      </p:sp>
      <p:sp>
        <p:nvSpPr>
          <p:cNvPr id="11" name="Shape 9"/>
          <p:cNvSpPr/>
          <p:nvPr/>
        </p:nvSpPr>
        <p:spPr>
          <a:xfrm>
            <a:off x="6355080" y="3602736"/>
            <a:ext cx="146304" cy="146304"/>
          </a:xfrm>
          <a:prstGeom prst="ellipse">
            <a:avLst/>
          </a:prstGeom>
          <a:solidFill>
            <a:srgbClr val="E8833A"/>
          </a:solidFill>
          <a:ln/>
        </p:spPr>
      </p:sp>
      <p:sp>
        <p:nvSpPr>
          <p:cNvPr id="12" name="Text 10"/>
          <p:cNvSpPr/>
          <p:nvPr/>
        </p:nvSpPr>
        <p:spPr>
          <a:xfrm>
            <a:off x="6647688" y="3511296"/>
            <a:ext cx="1691640" cy="310896"/>
          </a:xfrm>
          <a:prstGeom prst="rect">
            <a:avLst/>
          </a:prstGeom>
          <a:noFill/>
          <a:ln/>
        </p:spPr>
        <p:txBody>
          <a:bodyPr wrap="square" lIns="0" tIns="0" rIns="0" bIns="0" rtlCol="0" anchor="ctr"/>
          <a:lstStyle/>
          <a:p>
            <a:pPr indent="0" marL="0">
              <a:buNone/>
            </a:pPr>
            <a:r>
              <a:rPr lang="en-US" sz="1350" b="1" dirty="0">
                <a:solidFill>
                  <a:srgbClr val="1A1B3A"/>
                </a:solidFill>
                <a:latin typeface="Calibri" pitchFamily="34" charset="0"/>
                <a:ea typeface="Calibri" pitchFamily="34" charset="-122"/>
                <a:cs typeface="Calibri" pitchFamily="34" charset="-120"/>
              </a:rPr>
              <a:t>Transportation</a:t>
            </a:r>
            <a:endParaRPr lang="en-US" sz="1350" dirty="0"/>
          </a:p>
        </p:txBody>
      </p:sp>
      <p:sp>
        <p:nvSpPr>
          <p:cNvPr id="13" name="Text 11"/>
          <p:cNvSpPr/>
          <p:nvPr/>
        </p:nvSpPr>
        <p:spPr>
          <a:xfrm>
            <a:off x="8321040" y="3511296"/>
            <a:ext cx="3303727" cy="310896"/>
          </a:xfrm>
          <a:prstGeom prst="rect">
            <a:avLst/>
          </a:prstGeom>
          <a:noFill/>
          <a:ln/>
        </p:spPr>
        <p:txBody>
          <a:bodyPr wrap="square" lIns="0" tIns="0" rIns="0" bIns="0" rtlCol="0" anchor="ctr"/>
          <a:lstStyle/>
          <a:p>
            <a:pPr indent="0" marL="0">
              <a:buNone/>
            </a:pPr>
            <a:r>
              <a:rPr lang="en-US" sz="1250" dirty="0">
                <a:solidFill>
                  <a:srgbClr val="6B6E8A"/>
                </a:solidFill>
                <a:latin typeface="Calibri" pitchFamily="34" charset="0"/>
                <a:ea typeface="Calibri" pitchFamily="34" charset="-122"/>
                <a:cs typeface="Calibri" pitchFamily="34" charset="-120"/>
              </a:rPr>
              <a:t>hub → customer, static + per-mile</a:t>
            </a:r>
            <a:endParaRPr lang="en-US" sz="1250" dirty="0"/>
          </a:p>
        </p:txBody>
      </p:sp>
      <p:sp>
        <p:nvSpPr>
          <p:cNvPr id="14" name="Shape 12"/>
          <p:cNvSpPr/>
          <p:nvPr/>
        </p:nvSpPr>
        <p:spPr>
          <a:xfrm>
            <a:off x="6355080" y="4041648"/>
            <a:ext cx="146304" cy="146304"/>
          </a:xfrm>
          <a:prstGeom prst="ellipse">
            <a:avLst/>
          </a:prstGeom>
          <a:solidFill>
            <a:srgbClr val="E8833A"/>
          </a:solidFill>
          <a:ln/>
        </p:spPr>
      </p:sp>
      <p:sp>
        <p:nvSpPr>
          <p:cNvPr id="15" name="Text 13"/>
          <p:cNvSpPr/>
          <p:nvPr/>
        </p:nvSpPr>
        <p:spPr>
          <a:xfrm>
            <a:off x="6647688" y="3950208"/>
            <a:ext cx="1691640" cy="310896"/>
          </a:xfrm>
          <a:prstGeom prst="rect">
            <a:avLst/>
          </a:prstGeom>
          <a:noFill/>
          <a:ln/>
        </p:spPr>
        <p:txBody>
          <a:bodyPr wrap="square" lIns="0" tIns="0" rIns="0" bIns="0" rtlCol="0" anchor="ctr"/>
          <a:lstStyle/>
          <a:p>
            <a:pPr indent="0" marL="0">
              <a:buNone/>
            </a:pPr>
            <a:r>
              <a:rPr lang="en-US" sz="1350" b="1" dirty="0">
                <a:solidFill>
                  <a:srgbClr val="1A1B3A"/>
                </a:solidFill>
                <a:latin typeface="Calibri" pitchFamily="34" charset="0"/>
                <a:ea typeface="Calibri" pitchFamily="34" charset="-122"/>
                <a:cs typeface="Calibri" pitchFamily="34" charset="-120"/>
              </a:rPr>
              <a:t>Inventory</a:t>
            </a:r>
            <a:endParaRPr lang="en-US" sz="1350" dirty="0"/>
          </a:p>
        </p:txBody>
      </p:sp>
      <p:sp>
        <p:nvSpPr>
          <p:cNvPr id="16" name="Text 14"/>
          <p:cNvSpPr/>
          <p:nvPr/>
        </p:nvSpPr>
        <p:spPr>
          <a:xfrm>
            <a:off x="8321040" y="3950208"/>
            <a:ext cx="3303727" cy="310896"/>
          </a:xfrm>
          <a:prstGeom prst="rect">
            <a:avLst/>
          </a:prstGeom>
          <a:noFill/>
          <a:ln/>
        </p:spPr>
        <p:txBody>
          <a:bodyPr wrap="square" lIns="0" tIns="0" rIns="0" bIns="0" rtlCol="0" anchor="ctr"/>
          <a:lstStyle/>
          <a:p>
            <a:pPr indent="0" marL="0">
              <a:buNone/>
            </a:pPr>
            <a:r>
              <a:rPr lang="en-US" sz="1250" dirty="0">
                <a:solidFill>
                  <a:srgbClr val="6B6E8A"/>
                </a:solidFill>
                <a:latin typeface="Calibri" pitchFamily="34" charset="0"/>
                <a:ea typeface="Calibri" pitchFamily="34" charset="-122"/>
                <a:cs typeface="Calibri" pitchFamily="34" charset="-120"/>
              </a:rPr>
              <a:t>unit price of every part planned</a:t>
            </a:r>
            <a:endParaRPr lang="en-US" sz="1250" dirty="0"/>
          </a:p>
        </p:txBody>
      </p:sp>
      <p:sp>
        <p:nvSpPr>
          <p:cNvPr id="17" name="Shape 15"/>
          <p:cNvSpPr/>
          <p:nvPr/>
        </p:nvSpPr>
        <p:spPr>
          <a:xfrm>
            <a:off x="6355080" y="4480560"/>
            <a:ext cx="146304" cy="146304"/>
          </a:xfrm>
          <a:prstGeom prst="ellipse">
            <a:avLst/>
          </a:prstGeom>
          <a:solidFill>
            <a:srgbClr val="E8833A"/>
          </a:solidFill>
          <a:ln/>
        </p:spPr>
      </p:sp>
      <p:sp>
        <p:nvSpPr>
          <p:cNvPr id="18" name="Text 16"/>
          <p:cNvSpPr/>
          <p:nvPr/>
        </p:nvSpPr>
        <p:spPr>
          <a:xfrm>
            <a:off x="6647688" y="4389120"/>
            <a:ext cx="1691640" cy="310896"/>
          </a:xfrm>
          <a:prstGeom prst="rect">
            <a:avLst/>
          </a:prstGeom>
          <a:noFill/>
          <a:ln/>
        </p:spPr>
        <p:txBody>
          <a:bodyPr wrap="square" lIns="0" tIns="0" rIns="0" bIns="0" rtlCol="0" anchor="ctr"/>
          <a:lstStyle/>
          <a:p>
            <a:pPr indent="0" marL="0">
              <a:buNone/>
            </a:pPr>
            <a:r>
              <a:rPr lang="en-US" sz="1350" b="1" dirty="0">
                <a:solidFill>
                  <a:srgbClr val="1A1B3A"/>
                </a:solidFill>
                <a:latin typeface="Calibri" pitchFamily="34" charset="0"/>
                <a:ea typeface="Calibri" pitchFamily="34" charset="-122"/>
                <a:cs typeface="Calibri" pitchFamily="34" charset="-120"/>
              </a:rPr>
              <a:t>Storage</a:t>
            </a:r>
            <a:endParaRPr lang="en-US" sz="1350" dirty="0"/>
          </a:p>
        </p:txBody>
      </p:sp>
      <p:sp>
        <p:nvSpPr>
          <p:cNvPr id="19" name="Text 17"/>
          <p:cNvSpPr/>
          <p:nvPr/>
        </p:nvSpPr>
        <p:spPr>
          <a:xfrm>
            <a:off x="8321040" y="4389120"/>
            <a:ext cx="3303727" cy="310896"/>
          </a:xfrm>
          <a:prstGeom prst="rect">
            <a:avLst/>
          </a:prstGeom>
          <a:noFill/>
          <a:ln/>
        </p:spPr>
        <p:txBody>
          <a:bodyPr wrap="square" lIns="0" tIns="0" rIns="0" bIns="0" rtlCol="0" anchor="ctr"/>
          <a:lstStyle/>
          <a:p>
            <a:pPr indent="0" marL="0">
              <a:buNone/>
            </a:pPr>
            <a:r>
              <a:rPr lang="en-US" sz="1250" dirty="0">
                <a:solidFill>
                  <a:srgbClr val="6B6E8A"/>
                </a:solidFill>
                <a:latin typeface="Calibri" pitchFamily="34" charset="0"/>
                <a:ea typeface="Calibri" pitchFamily="34" charset="-122"/>
                <a:cs typeface="Calibri" pitchFamily="34" charset="-120"/>
              </a:rPr>
              <a:t>fixed per open hub, variable over limit L</a:t>
            </a:r>
            <a:endParaRPr lang="en-US" sz="1250" dirty="0"/>
          </a:p>
        </p:txBody>
      </p:sp>
      <p:sp>
        <p:nvSpPr>
          <p:cNvPr id="20" name="Shape 18"/>
          <p:cNvSpPr/>
          <p:nvPr/>
        </p:nvSpPr>
        <p:spPr>
          <a:xfrm>
            <a:off x="6355080" y="4919472"/>
            <a:ext cx="146304" cy="146304"/>
          </a:xfrm>
          <a:prstGeom prst="ellipse">
            <a:avLst/>
          </a:prstGeom>
          <a:solidFill>
            <a:srgbClr val="E8833A"/>
          </a:solidFill>
          <a:ln/>
        </p:spPr>
      </p:sp>
      <p:sp>
        <p:nvSpPr>
          <p:cNvPr id="21" name="Text 19"/>
          <p:cNvSpPr/>
          <p:nvPr/>
        </p:nvSpPr>
        <p:spPr>
          <a:xfrm>
            <a:off x="6647688" y="4828032"/>
            <a:ext cx="1691640" cy="310896"/>
          </a:xfrm>
          <a:prstGeom prst="rect">
            <a:avLst/>
          </a:prstGeom>
          <a:noFill/>
          <a:ln/>
        </p:spPr>
        <p:txBody>
          <a:bodyPr wrap="square" lIns="0" tIns="0" rIns="0" bIns="0" rtlCol="0" anchor="ctr"/>
          <a:lstStyle/>
          <a:p>
            <a:pPr indent="0" marL="0">
              <a:buNone/>
            </a:pPr>
            <a:r>
              <a:rPr lang="en-US" sz="1350" b="1" dirty="0">
                <a:solidFill>
                  <a:srgbClr val="1A1B3A"/>
                </a:solidFill>
                <a:latin typeface="Calibri" pitchFamily="34" charset="0"/>
                <a:ea typeface="Calibri" pitchFamily="34" charset="-122"/>
                <a:cs typeface="Calibri" pitchFamily="34" charset="-120"/>
              </a:rPr>
              <a:t>Transfer</a:t>
            </a:r>
            <a:endParaRPr lang="en-US" sz="1350" dirty="0"/>
          </a:p>
        </p:txBody>
      </p:sp>
      <p:sp>
        <p:nvSpPr>
          <p:cNvPr id="22" name="Text 20"/>
          <p:cNvSpPr/>
          <p:nvPr/>
        </p:nvSpPr>
        <p:spPr>
          <a:xfrm>
            <a:off x="8321040" y="4828032"/>
            <a:ext cx="3303727" cy="310896"/>
          </a:xfrm>
          <a:prstGeom prst="rect">
            <a:avLst/>
          </a:prstGeom>
          <a:noFill/>
          <a:ln/>
        </p:spPr>
        <p:txBody>
          <a:bodyPr wrap="square" lIns="0" tIns="0" rIns="0" bIns="0" rtlCol="0" anchor="ctr"/>
          <a:lstStyle/>
          <a:p>
            <a:pPr indent="0" marL="0">
              <a:buNone/>
            </a:pPr>
            <a:r>
              <a:rPr lang="en-US" sz="1250" dirty="0">
                <a:solidFill>
                  <a:srgbClr val="6B6E8A"/>
                </a:solidFill>
                <a:latin typeface="Calibri" pitchFamily="34" charset="0"/>
                <a:ea typeface="Calibri" pitchFamily="34" charset="-122"/>
                <a:cs typeface="Calibri" pitchFamily="34" charset="-120"/>
              </a:rPr>
              <a:t>moving parts into a newly-stocking hub</a:t>
            </a:r>
            <a:endParaRPr lang="en-US" sz="1250" dirty="0"/>
          </a:p>
        </p:txBody>
      </p:sp>
      <p:sp>
        <p:nvSpPr>
          <p:cNvPr id="23" name="Text 21"/>
          <p:cNvSpPr/>
          <p:nvPr/>
        </p:nvSpPr>
        <p:spPr>
          <a:xfrm>
            <a:off x="566928" y="6382512"/>
            <a:ext cx="11057839" cy="274320"/>
          </a:xfrm>
          <a:prstGeom prst="rect">
            <a:avLst/>
          </a:prstGeom>
          <a:noFill/>
          <a:ln/>
        </p:spPr>
        <p:txBody>
          <a:bodyPr wrap="square" lIns="0" tIns="0" rIns="0" bIns="0" rtlCol="0" anchor="ctr"/>
          <a:lstStyle/>
          <a:p>
            <a:pPr algn="l" indent="0" marL="0">
              <a:buNone/>
            </a:pPr>
            <a:r>
              <a:rPr lang="en-US" sz="950" dirty="0">
                <a:solidFill>
                  <a:srgbClr val="9A9DB5"/>
                </a:solidFill>
                <a:latin typeface="Calibri" pitchFamily="34" charset="0"/>
                <a:ea typeface="Calibri" pitchFamily="34" charset="-122"/>
                <a:cs typeface="Calibri" pitchFamily="34" charset="-120"/>
              </a:rPr>
              <a:t>Source: US_FSL_risk_optimization.pdf, pp. 1–2</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420624"/>
          </a:xfrm>
          <a:prstGeom prst="ellipse">
            <a:avLst/>
          </a:prstGeom>
          <a:solidFill>
            <a:srgbClr val="E8833A"/>
          </a:solidFill>
          <a:ln/>
        </p:spPr>
      </p:sp>
      <p:sp>
        <p:nvSpPr>
          <p:cNvPr id="3" name="Text 1"/>
          <p:cNvSpPr/>
          <p:nvPr/>
        </p:nvSpPr>
        <p:spPr>
          <a:xfrm>
            <a:off x="566928" y="4206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4" name="Text 2"/>
          <p:cNvSpPr/>
          <p:nvPr/>
        </p:nvSpPr>
        <p:spPr>
          <a:xfrm>
            <a:off x="1170432" y="365760"/>
            <a:ext cx="10454335" cy="548640"/>
          </a:xfrm>
          <a:prstGeom prst="rect">
            <a:avLst/>
          </a:prstGeom>
          <a:noFill/>
          <a:ln/>
        </p:spPr>
        <p:txBody>
          <a:bodyPr wrap="square" lIns="0" tIns="0" rIns="0" bIns="0" rtlCol="0" anchor="ctr"/>
          <a:lstStyle/>
          <a:p>
            <a:pPr algn="l" indent="0" marL="0">
              <a:buNone/>
            </a:pPr>
            <a:r>
              <a:rPr lang="en-US" sz="3000" b="1" dirty="0">
                <a:solidFill>
                  <a:srgbClr val="1A1B3A"/>
                </a:solidFill>
                <a:latin typeface="Cambria" pitchFamily="34" charset="0"/>
                <a:ea typeface="Cambria" pitchFamily="34" charset="-122"/>
                <a:cs typeface="Cambria" pitchFamily="34" charset="-120"/>
              </a:rPr>
              <a:t>The three variable families</a:t>
            </a:r>
            <a:endParaRPr lang="en-US" sz="3000" dirty="0"/>
          </a:p>
        </p:txBody>
      </p:sp>
      <p:sp>
        <p:nvSpPr>
          <p:cNvPr id="5" name="Text 3"/>
          <p:cNvSpPr/>
          <p:nvPr/>
        </p:nvSpPr>
        <p:spPr>
          <a:xfrm>
            <a:off x="1170432" y="932688"/>
            <a:ext cx="10454335" cy="329184"/>
          </a:xfrm>
          <a:prstGeom prst="rect">
            <a:avLst/>
          </a:prstGeom>
          <a:noFill/>
          <a:ln/>
        </p:spPr>
        <p:txBody>
          <a:bodyPr wrap="square" lIns="0" tIns="0" rIns="0" bIns="0" rtlCol="0" anchor="t"/>
          <a:lstStyle/>
          <a:p>
            <a:pPr algn="l" indent="0" marL="0">
              <a:buNone/>
            </a:pPr>
            <a:r>
              <a:rPr lang="en-US" sz="1400" i="1" dirty="0">
                <a:solidFill>
                  <a:srgbClr val="6B6E8A"/>
                </a:solidFill>
                <a:latin typeface="Calibri" pitchFamily="34" charset="0"/>
                <a:ea typeface="Calibri" pitchFamily="34" charset="-122"/>
                <a:cs typeface="Calibri" pitchFamily="34" charset="-120"/>
              </a:rPr>
              <a:t>Put the cardinalities up immediately — this is the slide he will remember.</a:t>
            </a:r>
            <a:endParaRPr lang="en-US" sz="1400" dirty="0"/>
          </a:p>
        </p:txBody>
      </p:sp>
      <p:sp>
        <p:nvSpPr>
          <p:cNvPr id="6" name="Text 4"/>
          <p:cNvSpPr/>
          <p:nvPr/>
        </p:nvSpPr>
        <p:spPr>
          <a:xfrm>
            <a:off x="877824" y="1664208"/>
            <a:ext cx="1371600" cy="274320"/>
          </a:xfrm>
          <a:prstGeom prst="rect">
            <a:avLst/>
          </a:prstGeom>
          <a:noFill/>
          <a:ln/>
        </p:spPr>
        <p:txBody>
          <a:bodyPr wrap="square" lIns="0" tIns="0" rIns="0" bIns="0" rtlCol="0" anchor="ctr"/>
          <a:lstStyle/>
          <a:p>
            <a:pPr indent="0" marL="0">
              <a:buNone/>
            </a:pPr>
            <a:r>
              <a:rPr lang="en-US" sz="1050" b="1" spc="150" kern="0" dirty="0">
                <a:solidFill>
                  <a:srgbClr val="6B6E8A"/>
                </a:solidFill>
                <a:latin typeface="Calibri" pitchFamily="34" charset="0"/>
                <a:ea typeface="Calibri" pitchFamily="34" charset="-122"/>
                <a:cs typeface="Calibri" pitchFamily="34" charset="-120"/>
              </a:rPr>
              <a:t>VARIABLE</a:t>
            </a:r>
            <a:endParaRPr lang="en-US" sz="1050" dirty="0"/>
          </a:p>
        </p:txBody>
      </p:sp>
      <p:sp>
        <p:nvSpPr>
          <p:cNvPr id="7" name="Text 5"/>
          <p:cNvSpPr/>
          <p:nvPr/>
        </p:nvSpPr>
        <p:spPr>
          <a:xfrm>
            <a:off x="2487168" y="1664208"/>
            <a:ext cx="3657600" cy="274320"/>
          </a:xfrm>
          <a:prstGeom prst="rect">
            <a:avLst/>
          </a:prstGeom>
          <a:noFill/>
          <a:ln/>
        </p:spPr>
        <p:txBody>
          <a:bodyPr wrap="square" lIns="0" tIns="0" rIns="0" bIns="0" rtlCol="0" anchor="ctr"/>
          <a:lstStyle/>
          <a:p>
            <a:pPr indent="0" marL="0">
              <a:buNone/>
            </a:pPr>
            <a:r>
              <a:rPr lang="en-US" sz="1050" b="1" spc="150" kern="0" dirty="0">
                <a:solidFill>
                  <a:srgbClr val="6B6E8A"/>
                </a:solidFill>
                <a:latin typeface="Calibri" pitchFamily="34" charset="0"/>
                <a:ea typeface="Calibri" pitchFamily="34" charset="-122"/>
                <a:cs typeface="Calibri" pitchFamily="34" charset="-120"/>
              </a:rPr>
              <a:t>MEANING</a:t>
            </a:r>
            <a:endParaRPr lang="en-US" sz="1050" dirty="0"/>
          </a:p>
        </p:txBody>
      </p:sp>
      <p:sp>
        <p:nvSpPr>
          <p:cNvPr id="8" name="Text 6"/>
          <p:cNvSpPr/>
          <p:nvPr/>
        </p:nvSpPr>
        <p:spPr>
          <a:xfrm>
            <a:off x="6419088" y="1664208"/>
            <a:ext cx="4572000" cy="274320"/>
          </a:xfrm>
          <a:prstGeom prst="rect">
            <a:avLst/>
          </a:prstGeom>
          <a:noFill/>
          <a:ln/>
        </p:spPr>
        <p:txBody>
          <a:bodyPr wrap="square" lIns="0" tIns="0" rIns="0" bIns="0" rtlCol="0" anchor="ctr"/>
          <a:lstStyle/>
          <a:p>
            <a:pPr indent="0" marL="0">
              <a:buNone/>
            </a:pPr>
            <a:r>
              <a:rPr lang="en-US" sz="1050" b="1" spc="150" kern="0" dirty="0">
                <a:solidFill>
                  <a:srgbClr val="6B6E8A"/>
                </a:solidFill>
                <a:latin typeface="Calibri" pitchFamily="34" charset="0"/>
                <a:ea typeface="Calibri" pitchFamily="34" charset="-122"/>
                <a:cs typeface="Calibri" pitchFamily="34" charset="-120"/>
              </a:rPr>
              <a:t>COUNT — MEDIUM INSTANCE</a:t>
            </a:r>
            <a:endParaRPr lang="en-US" sz="1050" dirty="0"/>
          </a:p>
        </p:txBody>
      </p:sp>
      <p:sp>
        <p:nvSpPr>
          <p:cNvPr id="9" name="Shape 7"/>
          <p:cNvSpPr/>
          <p:nvPr/>
        </p:nvSpPr>
        <p:spPr>
          <a:xfrm>
            <a:off x="566928" y="2029968"/>
            <a:ext cx="11057839" cy="786384"/>
          </a:xfrm>
          <a:prstGeom prst="roundRect">
            <a:avLst>
              <a:gd name="adj" fmla="val 9302"/>
            </a:avLst>
          </a:prstGeom>
          <a:solidFill>
            <a:srgbClr val="F1F2F8"/>
          </a:solidFill>
          <a:ln w="12700">
            <a:solidFill>
              <a:srgbClr val="E2E4EF"/>
            </a:solidFill>
            <a:prstDash val="solid"/>
          </a:ln>
        </p:spPr>
      </p:sp>
      <p:sp>
        <p:nvSpPr>
          <p:cNvPr id="10" name="Text 8"/>
          <p:cNvSpPr/>
          <p:nvPr/>
        </p:nvSpPr>
        <p:spPr>
          <a:xfrm>
            <a:off x="877824" y="2029968"/>
            <a:ext cx="1463040" cy="786384"/>
          </a:xfrm>
          <a:prstGeom prst="rect">
            <a:avLst/>
          </a:prstGeom>
          <a:noFill/>
          <a:ln/>
        </p:spPr>
        <p:txBody>
          <a:bodyPr wrap="square" lIns="0" tIns="0" rIns="0" bIns="0" rtlCol="0" anchor="ctr"/>
          <a:lstStyle/>
          <a:p>
            <a:pPr indent="0" marL="0">
              <a:buNone/>
            </a:pPr>
            <a:r>
              <a:rPr lang="en-US" sz="2300" b="1" dirty="0">
                <a:solidFill>
                  <a:srgbClr val="2F6F8F"/>
                </a:solidFill>
                <a:latin typeface="Cambria" pitchFamily="34" charset="0"/>
                <a:ea typeface="Cambria" pitchFamily="34" charset="-122"/>
                <a:cs typeface="Cambria" pitchFamily="34" charset="-120"/>
              </a:rPr>
              <a:t>Xⱼ</a:t>
            </a:r>
            <a:endParaRPr lang="en-US" sz="2300" dirty="0"/>
          </a:p>
        </p:txBody>
      </p:sp>
      <p:sp>
        <p:nvSpPr>
          <p:cNvPr id="11" name="Text 9"/>
          <p:cNvSpPr/>
          <p:nvPr/>
        </p:nvSpPr>
        <p:spPr>
          <a:xfrm>
            <a:off x="2487168" y="2029968"/>
            <a:ext cx="3840480" cy="786384"/>
          </a:xfrm>
          <a:prstGeom prst="rect">
            <a:avLst/>
          </a:prstGeom>
          <a:noFill/>
          <a:ln/>
        </p:spPr>
        <p:txBody>
          <a:bodyPr wrap="square" lIns="0" tIns="0" rIns="0" bIns="0" rtlCol="0" anchor="ctr"/>
          <a:lstStyle/>
          <a:p>
            <a:pPr indent="0" marL="0">
              <a:buNone/>
            </a:pPr>
            <a:r>
              <a:rPr lang="en-US" sz="1400" dirty="0">
                <a:solidFill>
                  <a:srgbClr val="1A1B3A"/>
                </a:solidFill>
                <a:latin typeface="Calibri" pitchFamily="34" charset="0"/>
                <a:ea typeface="Calibri" pitchFamily="34" charset="-122"/>
                <a:cs typeface="Calibri" pitchFamily="34" charset="-120"/>
              </a:rPr>
              <a:t>hub j is open</a:t>
            </a:r>
            <a:endParaRPr lang="en-US" sz="1400" dirty="0"/>
          </a:p>
        </p:txBody>
      </p:sp>
      <p:sp>
        <p:nvSpPr>
          <p:cNvPr id="12" name="Text 10"/>
          <p:cNvSpPr/>
          <p:nvPr/>
        </p:nvSpPr>
        <p:spPr>
          <a:xfrm>
            <a:off x="6419088" y="2029968"/>
            <a:ext cx="4894783" cy="786384"/>
          </a:xfrm>
          <a:prstGeom prst="rect">
            <a:avLst/>
          </a:prstGeom>
          <a:noFill/>
          <a:ln/>
        </p:spPr>
        <p:txBody>
          <a:bodyPr wrap="square" lIns="0" tIns="0" rIns="0" bIns="0" rtlCol="0" anchor="ctr"/>
          <a:lstStyle/>
          <a:p>
            <a:pPr indent="0" marL="0">
              <a:buNone/>
            </a:pPr>
            <a:r>
              <a:rPr lang="en-US" sz="1400" b="1" dirty="0">
                <a:solidFill>
                  <a:srgbClr val="1A1B3A"/>
                </a:solidFill>
                <a:latin typeface="Calibri" pitchFamily="34" charset="0"/>
                <a:ea typeface="Calibri" pitchFamily="34" charset="-122"/>
                <a:cs typeface="Calibri" pitchFamily="34" charset="-120"/>
              </a:rPr>
              <a:t>500</a:t>
            </a:r>
            <a:endParaRPr lang="en-US" sz="1400" dirty="0"/>
          </a:p>
        </p:txBody>
      </p:sp>
      <p:sp>
        <p:nvSpPr>
          <p:cNvPr id="13" name="Shape 11"/>
          <p:cNvSpPr/>
          <p:nvPr/>
        </p:nvSpPr>
        <p:spPr>
          <a:xfrm>
            <a:off x="566928" y="2944368"/>
            <a:ext cx="11057839" cy="786384"/>
          </a:xfrm>
          <a:prstGeom prst="roundRect">
            <a:avLst>
              <a:gd name="adj" fmla="val 9302"/>
            </a:avLst>
          </a:prstGeom>
          <a:solidFill>
            <a:srgbClr val="F1F2F8"/>
          </a:solidFill>
          <a:ln w="12700">
            <a:solidFill>
              <a:srgbClr val="E2E4EF"/>
            </a:solidFill>
            <a:prstDash val="solid"/>
          </a:ln>
        </p:spPr>
      </p:sp>
      <p:sp>
        <p:nvSpPr>
          <p:cNvPr id="14" name="Text 12"/>
          <p:cNvSpPr/>
          <p:nvPr/>
        </p:nvSpPr>
        <p:spPr>
          <a:xfrm>
            <a:off x="877824" y="2944368"/>
            <a:ext cx="1463040" cy="786384"/>
          </a:xfrm>
          <a:prstGeom prst="rect">
            <a:avLst/>
          </a:prstGeom>
          <a:noFill/>
          <a:ln/>
        </p:spPr>
        <p:txBody>
          <a:bodyPr wrap="square" lIns="0" tIns="0" rIns="0" bIns="0" rtlCol="0" anchor="ctr"/>
          <a:lstStyle/>
          <a:p>
            <a:pPr indent="0" marL="0">
              <a:buNone/>
            </a:pPr>
            <a:r>
              <a:rPr lang="en-US" sz="2300" b="1" dirty="0">
                <a:solidFill>
                  <a:srgbClr val="2F6F8F"/>
                </a:solidFill>
                <a:latin typeface="Cambria" pitchFamily="34" charset="0"/>
                <a:ea typeface="Cambria" pitchFamily="34" charset="-122"/>
                <a:cs typeface="Cambria" pitchFamily="34" charset="-120"/>
              </a:rPr>
              <a:t>Yⱼₖ</a:t>
            </a:r>
            <a:endParaRPr lang="en-US" sz="2300" dirty="0"/>
          </a:p>
        </p:txBody>
      </p:sp>
      <p:sp>
        <p:nvSpPr>
          <p:cNvPr id="15" name="Text 13"/>
          <p:cNvSpPr/>
          <p:nvPr/>
        </p:nvSpPr>
        <p:spPr>
          <a:xfrm>
            <a:off x="2487168" y="2944368"/>
            <a:ext cx="3840480" cy="786384"/>
          </a:xfrm>
          <a:prstGeom prst="rect">
            <a:avLst/>
          </a:prstGeom>
          <a:noFill/>
          <a:ln/>
        </p:spPr>
        <p:txBody>
          <a:bodyPr wrap="square" lIns="0" tIns="0" rIns="0" bIns="0" rtlCol="0" anchor="ctr"/>
          <a:lstStyle/>
          <a:p>
            <a:pPr indent="0" marL="0">
              <a:buNone/>
            </a:pPr>
            <a:r>
              <a:rPr lang="en-US" sz="1400" dirty="0">
                <a:solidFill>
                  <a:srgbClr val="1A1B3A"/>
                </a:solidFill>
                <a:latin typeface="Calibri" pitchFamily="34" charset="0"/>
                <a:ea typeface="Calibri" pitchFamily="34" charset="-122"/>
                <a:cs typeface="Calibri" pitchFamily="34" charset="-120"/>
              </a:rPr>
              <a:t>part k is stocked at hub j</a:t>
            </a:r>
            <a:endParaRPr lang="en-US" sz="1400" dirty="0"/>
          </a:p>
        </p:txBody>
      </p:sp>
      <p:sp>
        <p:nvSpPr>
          <p:cNvPr id="16" name="Text 14"/>
          <p:cNvSpPr/>
          <p:nvPr/>
        </p:nvSpPr>
        <p:spPr>
          <a:xfrm>
            <a:off x="6419088" y="2944368"/>
            <a:ext cx="4894783" cy="786384"/>
          </a:xfrm>
          <a:prstGeom prst="rect">
            <a:avLst/>
          </a:prstGeom>
          <a:noFill/>
          <a:ln/>
        </p:spPr>
        <p:txBody>
          <a:bodyPr wrap="square" lIns="0" tIns="0" rIns="0" bIns="0" rtlCol="0" anchor="ctr"/>
          <a:lstStyle/>
          <a:p>
            <a:pPr indent="0" marL="0">
              <a:buNone/>
            </a:pPr>
            <a:r>
              <a:rPr lang="en-US" sz="1400" b="1" dirty="0">
                <a:solidFill>
                  <a:srgbClr val="1A1B3A"/>
                </a:solidFill>
                <a:latin typeface="Calibri" pitchFamily="34" charset="0"/>
                <a:ea typeface="Calibri" pitchFamily="34" charset="-122"/>
                <a:cs typeface="Calibri" pitchFamily="34" charset="-120"/>
              </a:rPr>
              <a:t>500 × 800 = 400,000</a:t>
            </a:r>
            <a:endParaRPr lang="en-US" sz="1400" dirty="0"/>
          </a:p>
        </p:txBody>
      </p:sp>
      <p:sp>
        <p:nvSpPr>
          <p:cNvPr id="17" name="Shape 15"/>
          <p:cNvSpPr/>
          <p:nvPr/>
        </p:nvSpPr>
        <p:spPr>
          <a:xfrm>
            <a:off x="566928" y="3858768"/>
            <a:ext cx="11057839" cy="786384"/>
          </a:xfrm>
          <a:prstGeom prst="roundRect">
            <a:avLst>
              <a:gd name="adj" fmla="val 9302"/>
            </a:avLst>
          </a:prstGeom>
          <a:solidFill>
            <a:srgbClr val="F1F2F8"/>
          </a:solidFill>
          <a:ln w="12700">
            <a:solidFill>
              <a:srgbClr val="E2E4EF"/>
            </a:solidFill>
            <a:prstDash val="solid"/>
          </a:ln>
        </p:spPr>
      </p:sp>
      <p:sp>
        <p:nvSpPr>
          <p:cNvPr id="18" name="Text 16"/>
          <p:cNvSpPr/>
          <p:nvPr/>
        </p:nvSpPr>
        <p:spPr>
          <a:xfrm>
            <a:off x="877824" y="3858768"/>
            <a:ext cx="1463040" cy="786384"/>
          </a:xfrm>
          <a:prstGeom prst="rect">
            <a:avLst/>
          </a:prstGeom>
          <a:noFill/>
          <a:ln/>
        </p:spPr>
        <p:txBody>
          <a:bodyPr wrap="square" lIns="0" tIns="0" rIns="0" bIns="0" rtlCol="0" anchor="ctr"/>
          <a:lstStyle/>
          <a:p>
            <a:pPr indent="0" marL="0">
              <a:buNone/>
            </a:pPr>
            <a:r>
              <a:rPr lang="en-US" sz="2300" b="1" dirty="0">
                <a:solidFill>
                  <a:srgbClr val="E8833A"/>
                </a:solidFill>
                <a:latin typeface="Cambria" pitchFamily="34" charset="0"/>
                <a:ea typeface="Cambria" pitchFamily="34" charset="-122"/>
                <a:cs typeface="Cambria" pitchFamily="34" charset="-120"/>
              </a:rPr>
              <a:t>Zᵢⱼₖ</a:t>
            </a:r>
            <a:endParaRPr lang="en-US" sz="2300" dirty="0"/>
          </a:p>
        </p:txBody>
      </p:sp>
      <p:sp>
        <p:nvSpPr>
          <p:cNvPr id="19" name="Text 17"/>
          <p:cNvSpPr/>
          <p:nvPr/>
        </p:nvSpPr>
        <p:spPr>
          <a:xfrm>
            <a:off x="2487168" y="3858768"/>
            <a:ext cx="3840480" cy="786384"/>
          </a:xfrm>
          <a:prstGeom prst="rect">
            <a:avLst/>
          </a:prstGeom>
          <a:noFill/>
          <a:ln/>
        </p:spPr>
        <p:txBody>
          <a:bodyPr wrap="square" lIns="0" tIns="0" rIns="0" bIns="0" rtlCol="0" anchor="ctr"/>
          <a:lstStyle/>
          <a:p>
            <a:pPr indent="0" marL="0">
              <a:buNone/>
            </a:pPr>
            <a:r>
              <a:rPr lang="en-US" sz="1400" dirty="0">
                <a:solidFill>
                  <a:srgbClr val="1A1B3A"/>
                </a:solidFill>
                <a:latin typeface="Calibri" pitchFamily="34" charset="0"/>
                <a:ea typeface="Calibri" pitchFamily="34" charset="-122"/>
                <a:cs typeface="Calibri" pitchFamily="34" charset="-120"/>
              </a:rPr>
              <a:t>zip i, part k served by hub j</a:t>
            </a:r>
            <a:endParaRPr lang="en-US" sz="1400" dirty="0"/>
          </a:p>
        </p:txBody>
      </p:sp>
      <p:sp>
        <p:nvSpPr>
          <p:cNvPr id="20" name="Text 18"/>
          <p:cNvSpPr/>
          <p:nvPr/>
        </p:nvSpPr>
        <p:spPr>
          <a:xfrm>
            <a:off x="6419088" y="3858768"/>
            <a:ext cx="4894783" cy="786384"/>
          </a:xfrm>
          <a:prstGeom prst="rect">
            <a:avLst/>
          </a:prstGeom>
          <a:noFill/>
          <a:ln/>
        </p:spPr>
        <p:txBody>
          <a:bodyPr wrap="square" lIns="0" tIns="0" rIns="0" bIns="0" rtlCol="0" anchor="ctr"/>
          <a:lstStyle/>
          <a:p>
            <a:pPr indent="0" marL="0">
              <a:buNone/>
            </a:pPr>
            <a:r>
              <a:rPr lang="en-US" sz="1400" b="1" dirty="0">
                <a:solidFill>
                  <a:srgbClr val="1A1B3A"/>
                </a:solidFill>
                <a:latin typeface="Calibri" pitchFamily="34" charset="0"/>
                <a:ea typeface="Calibri" pitchFamily="34" charset="-122"/>
                <a:cs typeface="Calibri" pitchFamily="34" charset="-120"/>
              </a:rPr>
              <a:t>147,293 demand rows × ~7.7 eligible hubs</a:t>
            </a:r>
            <a:endParaRPr lang="en-US" sz="1400" dirty="0"/>
          </a:p>
        </p:txBody>
      </p:sp>
      <p:sp>
        <p:nvSpPr>
          <p:cNvPr id="21" name="Shape 19"/>
          <p:cNvSpPr/>
          <p:nvPr/>
        </p:nvSpPr>
        <p:spPr>
          <a:xfrm>
            <a:off x="566928" y="4956048"/>
            <a:ext cx="11057839" cy="1042416"/>
          </a:xfrm>
          <a:prstGeom prst="roundRect">
            <a:avLst>
              <a:gd name="adj" fmla="val 7018"/>
            </a:avLst>
          </a:prstGeom>
          <a:solidFill>
            <a:srgbClr val="1A1B3A"/>
          </a:solidFill>
          <a:ln w="12700">
            <a:solidFill>
              <a:srgbClr val="333333"/>
            </a:solidFill>
            <a:prstDash val="solid"/>
          </a:ln>
        </p:spPr>
      </p:sp>
      <p:sp>
        <p:nvSpPr>
          <p:cNvPr id="22" name="Text 20"/>
          <p:cNvSpPr/>
          <p:nvPr/>
        </p:nvSpPr>
        <p:spPr>
          <a:xfrm>
            <a:off x="877824" y="5102352"/>
            <a:ext cx="10436047" cy="777240"/>
          </a:xfrm>
          <a:prstGeom prst="rect">
            <a:avLst/>
          </a:prstGeom>
          <a:noFill/>
          <a:ln/>
        </p:spPr>
        <p:txBody>
          <a:bodyPr wrap="square" lIns="0" tIns="0" rIns="0" bIns="0" rtlCol="0" anchor="ctr"/>
          <a:lstStyle/>
          <a:p>
            <a:pPr indent="0" marL="0">
              <a:lnSpc>
                <a:spcPts val="1900"/>
              </a:lnSpc>
              <a:buNone/>
            </a:pPr>
            <a:r>
              <a:rPr lang="en-US" sz="1300" b="1" dirty="0">
                <a:solidFill>
                  <a:srgbClr val="E8833A"/>
                </a:solidFill>
                <a:latin typeface="Calibri" pitchFamily="34" charset="0"/>
                <a:ea typeface="Calibri" pitchFamily="34" charset="-122"/>
                <a:cs typeface="Calibri" pitchFamily="34" charset="-120"/>
              </a:rPr>
              <a:t>The first encoding decision already exists.  </a:t>
            </a:r>
            <a:pPr indent="0" marL="0">
              <a:lnSpc>
                <a:spcPts val="1900"/>
              </a:lnSpc>
              <a:buNone/>
            </a:pPr>
            <a:r>
              <a:rPr lang="en-US" sz="1300" dirty="0">
                <a:solidFill>
                  <a:srgbClr val="FFFFFF"/>
                </a:solidFill>
                <a:latin typeface="Calibri" pitchFamily="34" charset="0"/>
                <a:ea typeface="Calibri" pitchFamily="34" charset="-122"/>
                <a:cs typeface="Calibri" pitchFamily="34" charset="-120"/>
              </a:rPr>
              <a:t>Without pre-processing, Z would be 2,000 × 500 × 800 = 800 million. Capping eligibility at the 180-mile hard service limit collapses it to ~1.1 million. He will ask this within 90 seconds — answer it first.</a:t>
            </a:r>
            <a:endParaRPr lang="en-US" sz="1300" dirty="0"/>
          </a:p>
        </p:txBody>
      </p:sp>
      <p:sp>
        <p:nvSpPr>
          <p:cNvPr id="23" name="Text 21"/>
          <p:cNvSpPr/>
          <p:nvPr/>
        </p:nvSpPr>
        <p:spPr>
          <a:xfrm>
            <a:off x="566928" y="6382512"/>
            <a:ext cx="11057839" cy="274320"/>
          </a:xfrm>
          <a:prstGeom prst="rect">
            <a:avLst/>
          </a:prstGeom>
          <a:noFill/>
          <a:ln/>
        </p:spPr>
        <p:txBody>
          <a:bodyPr wrap="square" lIns="0" tIns="0" rIns="0" bIns="0" rtlCol="0" anchor="ctr"/>
          <a:lstStyle/>
          <a:p>
            <a:pPr algn="l" indent="0" marL="0">
              <a:buNone/>
            </a:pPr>
            <a:r>
              <a:rPr lang="en-US" sz="950" dirty="0">
                <a:solidFill>
                  <a:srgbClr val="9A9DB5"/>
                </a:solidFill>
                <a:latin typeface="Calibri" pitchFamily="34" charset="0"/>
                <a:ea typeface="Calibri" pitchFamily="34" charset="-122"/>
                <a:cs typeface="Calibri" pitchFamily="34" charset="-120"/>
              </a:rPr>
              <a:t>Also a resultant variable: Wⱼ = count of parts stocked at hub j beyond storage limit L</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420624"/>
          </a:xfrm>
          <a:prstGeom prst="ellipse">
            <a:avLst/>
          </a:prstGeom>
          <a:solidFill>
            <a:srgbClr val="E8833A"/>
          </a:solidFill>
          <a:ln/>
        </p:spPr>
      </p:sp>
      <p:sp>
        <p:nvSpPr>
          <p:cNvPr id="3" name="Text 1"/>
          <p:cNvSpPr/>
          <p:nvPr/>
        </p:nvSpPr>
        <p:spPr>
          <a:xfrm>
            <a:off x="566928" y="4206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4" name="Text 2"/>
          <p:cNvSpPr/>
          <p:nvPr/>
        </p:nvSpPr>
        <p:spPr>
          <a:xfrm>
            <a:off x="1170432" y="365760"/>
            <a:ext cx="10454335" cy="548640"/>
          </a:xfrm>
          <a:prstGeom prst="rect">
            <a:avLst/>
          </a:prstGeom>
          <a:noFill/>
          <a:ln/>
        </p:spPr>
        <p:txBody>
          <a:bodyPr wrap="square" lIns="0" tIns="0" rIns="0" bIns="0" rtlCol="0" anchor="ctr"/>
          <a:lstStyle/>
          <a:p>
            <a:pPr algn="l" indent="0" marL="0">
              <a:buNone/>
            </a:pPr>
            <a:r>
              <a:rPr lang="en-US" sz="3000" b="1" dirty="0">
                <a:solidFill>
                  <a:srgbClr val="1A1B3A"/>
                </a:solidFill>
                <a:latin typeface="Cambria" pitchFamily="34" charset="0"/>
                <a:ea typeface="Cambria" pitchFamily="34" charset="-122"/>
                <a:cs typeface="Cambria" pitchFamily="34" charset="-120"/>
              </a:rPr>
              <a:t>The objective, term by term</a:t>
            </a:r>
            <a:endParaRPr lang="en-US" sz="3000" dirty="0"/>
          </a:p>
        </p:txBody>
      </p:sp>
      <p:sp>
        <p:nvSpPr>
          <p:cNvPr id="5" name="Text 3"/>
          <p:cNvSpPr/>
          <p:nvPr/>
        </p:nvSpPr>
        <p:spPr>
          <a:xfrm>
            <a:off x="1170432" y="932688"/>
            <a:ext cx="10454335" cy="329184"/>
          </a:xfrm>
          <a:prstGeom prst="rect">
            <a:avLst/>
          </a:prstGeom>
          <a:noFill/>
          <a:ln/>
        </p:spPr>
        <p:txBody>
          <a:bodyPr wrap="square" lIns="0" tIns="0" rIns="0" bIns="0" rtlCol="0" anchor="t"/>
          <a:lstStyle/>
          <a:p>
            <a:pPr algn="l" indent="0" marL="0">
              <a:buNone/>
            </a:pPr>
            <a:r>
              <a:rPr lang="en-US" sz="1400" i="1" dirty="0">
                <a:solidFill>
                  <a:srgbClr val="6B6E8A"/>
                </a:solidFill>
                <a:latin typeface="Calibri" pitchFamily="34" charset="0"/>
                <a:ea typeface="Calibri" pitchFamily="34" charset="-122"/>
                <a:cs typeface="Calibri" pitchFamily="34" charset="-120"/>
              </a:rPr>
              <a:t>Each term ties to a cost owner — and λ₁, λ₂, λ₃ are policy dials, not physics.</a:t>
            </a:r>
            <a:endParaRPr lang="en-US" sz="1400" dirty="0"/>
          </a:p>
        </p:txBody>
      </p:sp>
      <p:sp>
        <p:nvSpPr>
          <p:cNvPr id="6" name="Shape 4"/>
          <p:cNvSpPr/>
          <p:nvPr/>
        </p:nvSpPr>
        <p:spPr>
          <a:xfrm>
            <a:off x="566928" y="1572768"/>
            <a:ext cx="5400904" cy="768096"/>
          </a:xfrm>
          <a:prstGeom prst="roundRect">
            <a:avLst>
              <a:gd name="adj" fmla="val 9524"/>
            </a:avLst>
          </a:prstGeom>
          <a:solidFill>
            <a:srgbClr val="F1F2F8"/>
          </a:solidFill>
          <a:ln w="12700">
            <a:solidFill>
              <a:srgbClr val="E2E4EF"/>
            </a:solidFill>
            <a:prstDash val="solid"/>
          </a:ln>
        </p:spPr>
      </p:sp>
      <p:sp>
        <p:nvSpPr>
          <p:cNvPr id="7" name="Text 5"/>
          <p:cNvSpPr/>
          <p:nvPr/>
        </p:nvSpPr>
        <p:spPr>
          <a:xfrm>
            <a:off x="804672" y="1627632"/>
            <a:ext cx="4925416" cy="329184"/>
          </a:xfrm>
          <a:prstGeom prst="rect">
            <a:avLst/>
          </a:prstGeom>
          <a:noFill/>
          <a:ln/>
        </p:spPr>
        <p:txBody>
          <a:bodyPr wrap="square" lIns="0" tIns="0" rIns="0" bIns="0" rtlCol="0" anchor="ctr"/>
          <a:lstStyle/>
          <a:p>
            <a:pPr indent="0" marL="0">
              <a:buNone/>
            </a:pPr>
            <a:r>
              <a:rPr lang="en-US" sz="1450" b="1" dirty="0">
                <a:solidFill>
                  <a:srgbClr val="2F6F8F"/>
                </a:solidFill>
                <a:latin typeface="Cambria" pitchFamily="34" charset="0"/>
                <a:ea typeface="Cambria" pitchFamily="34" charset="-122"/>
                <a:cs typeface="Cambria" pitchFamily="34" charset="-120"/>
              </a:rPr>
              <a:t>Σ Yⱼₖ · Pₖ</a:t>
            </a:r>
            <a:endParaRPr lang="en-US" sz="1450" dirty="0"/>
          </a:p>
        </p:txBody>
      </p:sp>
      <p:sp>
        <p:nvSpPr>
          <p:cNvPr id="8" name="Text 6"/>
          <p:cNvSpPr/>
          <p:nvPr/>
        </p:nvSpPr>
        <p:spPr>
          <a:xfrm>
            <a:off x="804672" y="1975104"/>
            <a:ext cx="4925416" cy="310896"/>
          </a:xfrm>
          <a:prstGeom prst="rect">
            <a:avLst/>
          </a:prstGeom>
          <a:noFill/>
          <a:ln/>
        </p:spPr>
        <p:txBody>
          <a:bodyPr wrap="square" lIns="0" tIns="0" rIns="0" bIns="0" rtlCol="0" anchor="ctr"/>
          <a:lstStyle/>
          <a:p>
            <a:pPr indent="0" marL="0">
              <a:buNone/>
            </a:pPr>
            <a:r>
              <a:rPr lang="en-US" sz="1150" b="1" dirty="0">
                <a:solidFill>
                  <a:srgbClr val="1A1B3A"/>
                </a:solidFill>
                <a:latin typeface="Calibri" pitchFamily="34" charset="0"/>
                <a:ea typeface="Calibri" pitchFamily="34" charset="-122"/>
                <a:cs typeface="Calibri" pitchFamily="34" charset="-120"/>
              </a:rPr>
              <a:t>Inventory  —  </a:t>
            </a:r>
            <a:pPr indent="0" marL="0">
              <a:buNone/>
            </a:pPr>
            <a:r>
              <a:rPr lang="en-US" sz="1150" dirty="0">
                <a:solidFill>
                  <a:srgbClr val="6B6E8A"/>
                </a:solidFill>
                <a:latin typeface="Calibri" pitchFamily="34" charset="0"/>
                <a:ea typeface="Calibri" pitchFamily="34" charset="-122"/>
                <a:cs typeface="Calibri" pitchFamily="34" charset="-120"/>
              </a:rPr>
              <a:t>Unit price of every part planned at every hub</a:t>
            </a:r>
            <a:endParaRPr lang="en-US" sz="1150" dirty="0"/>
          </a:p>
        </p:txBody>
      </p:sp>
      <p:sp>
        <p:nvSpPr>
          <p:cNvPr id="9" name="Shape 7"/>
          <p:cNvSpPr/>
          <p:nvPr/>
        </p:nvSpPr>
        <p:spPr>
          <a:xfrm>
            <a:off x="6223864" y="1572768"/>
            <a:ext cx="5400904" cy="768096"/>
          </a:xfrm>
          <a:prstGeom prst="roundRect">
            <a:avLst>
              <a:gd name="adj" fmla="val 9524"/>
            </a:avLst>
          </a:prstGeom>
          <a:solidFill>
            <a:srgbClr val="F1F2F8"/>
          </a:solidFill>
          <a:ln w="12700">
            <a:solidFill>
              <a:srgbClr val="E2E4EF"/>
            </a:solidFill>
            <a:prstDash val="solid"/>
          </a:ln>
        </p:spPr>
      </p:sp>
      <p:sp>
        <p:nvSpPr>
          <p:cNvPr id="10" name="Text 8"/>
          <p:cNvSpPr/>
          <p:nvPr/>
        </p:nvSpPr>
        <p:spPr>
          <a:xfrm>
            <a:off x="6461608" y="1627632"/>
            <a:ext cx="4925416" cy="329184"/>
          </a:xfrm>
          <a:prstGeom prst="rect">
            <a:avLst/>
          </a:prstGeom>
          <a:noFill/>
          <a:ln/>
        </p:spPr>
        <p:txBody>
          <a:bodyPr wrap="square" lIns="0" tIns="0" rIns="0" bIns="0" rtlCol="0" anchor="ctr"/>
          <a:lstStyle/>
          <a:p>
            <a:pPr indent="0" marL="0">
              <a:buNone/>
            </a:pPr>
            <a:r>
              <a:rPr lang="en-US" sz="1450" b="1" dirty="0">
                <a:solidFill>
                  <a:srgbClr val="E8833A"/>
                </a:solidFill>
                <a:latin typeface="Cambria" pitchFamily="34" charset="0"/>
                <a:ea typeface="Cambria" pitchFamily="34" charset="-122"/>
                <a:cs typeface="Cambria" pitchFamily="34" charset="-120"/>
              </a:rPr>
              <a:t>Σ Xⱼ · Sₗᵢₘ</a:t>
            </a:r>
            <a:endParaRPr lang="en-US" sz="1450" dirty="0"/>
          </a:p>
        </p:txBody>
      </p:sp>
      <p:sp>
        <p:nvSpPr>
          <p:cNvPr id="11" name="Text 9"/>
          <p:cNvSpPr/>
          <p:nvPr/>
        </p:nvSpPr>
        <p:spPr>
          <a:xfrm>
            <a:off x="6461608" y="1975104"/>
            <a:ext cx="4925416" cy="310896"/>
          </a:xfrm>
          <a:prstGeom prst="rect">
            <a:avLst/>
          </a:prstGeom>
          <a:noFill/>
          <a:ln/>
        </p:spPr>
        <p:txBody>
          <a:bodyPr wrap="square" lIns="0" tIns="0" rIns="0" bIns="0" rtlCol="0" anchor="ctr"/>
          <a:lstStyle/>
          <a:p>
            <a:pPr indent="0" marL="0">
              <a:buNone/>
            </a:pPr>
            <a:r>
              <a:rPr lang="en-US" sz="1150" b="1" dirty="0">
                <a:solidFill>
                  <a:srgbClr val="1A1B3A"/>
                </a:solidFill>
                <a:latin typeface="Calibri" pitchFamily="34" charset="0"/>
                <a:ea typeface="Calibri" pitchFamily="34" charset="-122"/>
                <a:cs typeface="Calibri" pitchFamily="34" charset="-120"/>
              </a:rPr>
              <a:t>Fixed storage  —  </a:t>
            </a:r>
            <a:pPr indent="0" marL="0">
              <a:buNone/>
            </a:pPr>
            <a:r>
              <a:rPr lang="en-US" sz="1150" dirty="0">
                <a:solidFill>
                  <a:srgbClr val="6B6E8A"/>
                </a:solidFill>
                <a:latin typeface="Calibri" pitchFamily="34" charset="0"/>
                <a:ea typeface="Calibri" pitchFamily="34" charset="-122"/>
                <a:cs typeface="Calibri" pitchFamily="34" charset="-120"/>
              </a:rPr>
              <a:t>Charged per open hub — the dominant term</a:t>
            </a:r>
            <a:endParaRPr lang="en-US" sz="1150" dirty="0"/>
          </a:p>
        </p:txBody>
      </p:sp>
      <p:sp>
        <p:nvSpPr>
          <p:cNvPr id="12" name="Shape 10"/>
          <p:cNvSpPr/>
          <p:nvPr/>
        </p:nvSpPr>
        <p:spPr>
          <a:xfrm>
            <a:off x="566928" y="2468880"/>
            <a:ext cx="5400904" cy="768096"/>
          </a:xfrm>
          <a:prstGeom prst="roundRect">
            <a:avLst>
              <a:gd name="adj" fmla="val 9524"/>
            </a:avLst>
          </a:prstGeom>
          <a:solidFill>
            <a:srgbClr val="F1F2F8"/>
          </a:solidFill>
          <a:ln w="12700">
            <a:solidFill>
              <a:srgbClr val="E2E4EF"/>
            </a:solidFill>
            <a:prstDash val="solid"/>
          </a:ln>
        </p:spPr>
      </p:sp>
      <p:sp>
        <p:nvSpPr>
          <p:cNvPr id="13" name="Text 11"/>
          <p:cNvSpPr/>
          <p:nvPr/>
        </p:nvSpPr>
        <p:spPr>
          <a:xfrm>
            <a:off x="804672" y="2523744"/>
            <a:ext cx="4925416" cy="329184"/>
          </a:xfrm>
          <a:prstGeom prst="rect">
            <a:avLst/>
          </a:prstGeom>
          <a:noFill/>
          <a:ln/>
        </p:spPr>
        <p:txBody>
          <a:bodyPr wrap="square" lIns="0" tIns="0" rIns="0" bIns="0" rtlCol="0" anchor="ctr"/>
          <a:lstStyle/>
          <a:p>
            <a:pPr indent="0" marL="0">
              <a:buNone/>
            </a:pPr>
            <a:r>
              <a:rPr lang="en-US" sz="1450" b="1" dirty="0">
                <a:solidFill>
                  <a:srgbClr val="2F6F8F"/>
                </a:solidFill>
                <a:latin typeface="Cambria" pitchFamily="34" charset="0"/>
                <a:ea typeface="Cambria" pitchFamily="34" charset="-122"/>
                <a:cs typeface="Cambria" pitchFamily="34" charset="-120"/>
              </a:rPr>
              <a:t>Σ Wⱼ · Sᵥₐᵣ</a:t>
            </a:r>
            <a:endParaRPr lang="en-US" sz="1450" dirty="0"/>
          </a:p>
        </p:txBody>
      </p:sp>
      <p:sp>
        <p:nvSpPr>
          <p:cNvPr id="14" name="Text 12"/>
          <p:cNvSpPr/>
          <p:nvPr/>
        </p:nvSpPr>
        <p:spPr>
          <a:xfrm>
            <a:off x="804672" y="2871216"/>
            <a:ext cx="4925416" cy="310896"/>
          </a:xfrm>
          <a:prstGeom prst="rect">
            <a:avLst/>
          </a:prstGeom>
          <a:noFill/>
          <a:ln/>
        </p:spPr>
        <p:txBody>
          <a:bodyPr wrap="square" lIns="0" tIns="0" rIns="0" bIns="0" rtlCol="0" anchor="ctr"/>
          <a:lstStyle/>
          <a:p>
            <a:pPr indent="0" marL="0">
              <a:buNone/>
            </a:pPr>
            <a:r>
              <a:rPr lang="en-US" sz="1150" b="1" dirty="0">
                <a:solidFill>
                  <a:srgbClr val="1A1B3A"/>
                </a:solidFill>
                <a:latin typeface="Calibri" pitchFamily="34" charset="0"/>
                <a:ea typeface="Calibri" pitchFamily="34" charset="-122"/>
                <a:cs typeface="Calibri" pitchFamily="34" charset="-120"/>
              </a:rPr>
              <a:t>Overflow storage  —  </a:t>
            </a:r>
            <a:pPr indent="0" marL="0">
              <a:buNone/>
            </a:pPr>
            <a:r>
              <a:rPr lang="en-US" sz="1150" dirty="0">
                <a:solidFill>
                  <a:srgbClr val="6B6E8A"/>
                </a:solidFill>
                <a:latin typeface="Calibri" pitchFamily="34" charset="0"/>
                <a:ea typeface="Calibri" pitchFamily="34" charset="-122"/>
                <a:cs typeface="Calibri" pitchFamily="34" charset="-120"/>
              </a:rPr>
              <a:t>Per-part cost past storage limit L</a:t>
            </a:r>
            <a:endParaRPr lang="en-US" sz="1150" dirty="0"/>
          </a:p>
        </p:txBody>
      </p:sp>
      <p:sp>
        <p:nvSpPr>
          <p:cNvPr id="15" name="Shape 13"/>
          <p:cNvSpPr/>
          <p:nvPr/>
        </p:nvSpPr>
        <p:spPr>
          <a:xfrm>
            <a:off x="6223864" y="2468880"/>
            <a:ext cx="5400904" cy="768096"/>
          </a:xfrm>
          <a:prstGeom prst="roundRect">
            <a:avLst>
              <a:gd name="adj" fmla="val 9524"/>
            </a:avLst>
          </a:prstGeom>
          <a:solidFill>
            <a:srgbClr val="F1F2F8"/>
          </a:solidFill>
          <a:ln w="12700">
            <a:solidFill>
              <a:srgbClr val="E2E4EF"/>
            </a:solidFill>
            <a:prstDash val="solid"/>
          </a:ln>
        </p:spPr>
      </p:sp>
      <p:sp>
        <p:nvSpPr>
          <p:cNvPr id="16" name="Text 14"/>
          <p:cNvSpPr/>
          <p:nvPr/>
        </p:nvSpPr>
        <p:spPr>
          <a:xfrm>
            <a:off x="6461608" y="2523744"/>
            <a:ext cx="4925416" cy="329184"/>
          </a:xfrm>
          <a:prstGeom prst="rect">
            <a:avLst/>
          </a:prstGeom>
          <a:noFill/>
          <a:ln/>
        </p:spPr>
        <p:txBody>
          <a:bodyPr wrap="square" lIns="0" tIns="0" rIns="0" bIns="0" rtlCol="0" anchor="ctr"/>
          <a:lstStyle/>
          <a:p>
            <a:pPr indent="0" marL="0">
              <a:buNone/>
            </a:pPr>
            <a:r>
              <a:rPr lang="en-US" sz="1450" b="1" dirty="0">
                <a:solidFill>
                  <a:srgbClr val="2F6F8F"/>
                </a:solidFill>
                <a:latin typeface="Cambria" pitchFamily="34" charset="0"/>
                <a:ea typeface="Cambria" pitchFamily="34" charset="-122"/>
                <a:cs typeface="Cambria" pitchFamily="34" charset="-120"/>
              </a:rPr>
              <a:t>Σ Yⱼₖ(1−Tⱼ)·C</a:t>
            </a:r>
            <a:endParaRPr lang="en-US" sz="1450" dirty="0"/>
          </a:p>
        </p:txBody>
      </p:sp>
      <p:sp>
        <p:nvSpPr>
          <p:cNvPr id="17" name="Text 15"/>
          <p:cNvSpPr/>
          <p:nvPr/>
        </p:nvSpPr>
        <p:spPr>
          <a:xfrm>
            <a:off x="6461608" y="2871216"/>
            <a:ext cx="4925416" cy="310896"/>
          </a:xfrm>
          <a:prstGeom prst="rect">
            <a:avLst/>
          </a:prstGeom>
          <a:noFill/>
          <a:ln/>
        </p:spPr>
        <p:txBody>
          <a:bodyPr wrap="square" lIns="0" tIns="0" rIns="0" bIns="0" rtlCol="0" anchor="ctr"/>
          <a:lstStyle/>
          <a:p>
            <a:pPr indent="0" marL="0">
              <a:buNone/>
            </a:pPr>
            <a:r>
              <a:rPr lang="en-US" sz="1150" b="1" dirty="0">
                <a:solidFill>
                  <a:srgbClr val="1A1B3A"/>
                </a:solidFill>
                <a:latin typeface="Calibri" pitchFamily="34" charset="0"/>
                <a:ea typeface="Calibri" pitchFamily="34" charset="-122"/>
                <a:cs typeface="Calibri" pitchFamily="34" charset="-120"/>
              </a:rPr>
              <a:t>Transfer  —  </a:t>
            </a:r>
            <a:pPr indent="0" marL="0">
              <a:buNone/>
            </a:pPr>
            <a:r>
              <a:rPr lang="en-US" sz="1150" dirty="0">
                <a:solidFill>
                  <a:srgbClr val="6B6E8A"/>
                </a:solidFill>
                <a:latin typeface="Calibri" pitchFamily="34" charset="0"/>
                <a:ea typeface="Calibri" pitchFamily="34" charset="-122"/>
                <a:cs typeface="Calibri" pitchFamily="34" charset="-120"/>
              </a:rPr>
              <a:t>Stocking a part at a hub that wasn’t active</a:t>
            </a:r>
            <a:endParaRPr lang="en-US" sz="1150" dirty="0"/>
          </a:p>
        </p:txBody>
      </p:sp>
      <p:sp>
        <p:nvSpPr>
          <p:cNvPr id="18" name="Shape 16"/>
          <p:cNvSpPr/>
          <p:nvPr/>
        </p:nvSpPr>
        <p:spPr>
          <a:xfrm>
            <a:off x="566928" y="3364992"/>
            <a:ext cx="5400904" cy="768096"/>
          </a:xfrm>
          <a:prstGeom prst="roundRect">
            <a:avLst>
              <a:gd name="adj" fmla="val 9524"/>
            </a:avLst>
          </a:prstGeom>
          <a:solidFill>
            <a:srgbClr val="F1F2F8"/>
          </a:solidFill>
          <a:ln w="12700">
            <a:solidFill>
              <a:srgbClr val="E2E4EF"/>
            </a:solidFill>
            <a:prstDash val="solid"/>
          </a:ln>
        </p:spPr>
      </p:sp>
      <p:sp>
        <p:nvSpPr>
          <p:cNvPr id="19" name="Text 17"/>
          <p:cNvSpPr/>
          <p:nvPr/>
        </p:nvSpPr>
        <p:spPr>
          <a:xfrm>
            <a:off x="804672" y="3419856"/>
            <a:ext cx="4925416" cy="329184"/>
          </a:xfrm>
          <a:prstGeom prst="rect">
            <a:avLst/>
          </a:prstGeom>
          <a:noFill/>
          <a:ln/>
        </p:spPr>
        <p:txBody>
          <a:bodyPr wrap="square" lIns="0" tIns="0" rIns="0" bIns="0" rtlCol="0" anchor="ctr"/>
          <a:lstStyle/>
          <a:p>
            <a:pPr indent="0" marL="0">
              <a:buNone/>
            </a:pPr>
            <a:r>
              <a:rPr lang="en-US" sz="1450" b="1" dirty="0">
                <a:solidFill>
                  <a:srgbClr val="2F6F8F"/>
                </a:solidFill>
                <a:latin typeface="Cambria" pitchFamily="34" charset="0"/>
                <a:ea typeface="Cambria" pitchFamily="34" charset="-122"/>
                <a:cs typeface="Cambria" pitchFamily="34" charset="-120"/>
              </a:rPr>
              <a:t>λ₁ Σ hₛ·bᵢₖ·Z</a:t>
            </a:r>
            <a:endParaRPr lang="en-US" sz="1450" dirty="0"/>
          </a:p>
        </p:txBody>
      </p:sp>
      <p:sp>
        <p:nvSpPr>
          <p:cNvPr id="20" name="Text 18"/>
          <p:cNvSpPr/>
          <p:nvPr/>
        </p:nvSpPr>
        <p:spPr>
          <a:xfrm>
            <a:off x="804672" y="3767328"/>
            <a:ext cx="4925416" cy="310896"/>
          </a:xfrm>
          <a:prstGeom prst="rect">
            <a:avLst/>
          </a:prstGeom>
          <a:noFill/>
          <a:ln/>
        </p:spPr>
        <p:txBody>
          <a:bodyPr wrap="square" lIns="0" tIns="0" rIns="0" bIns="0" rtlCol="0" anchor="ctr"/>
          <a:lstStyle/>
          <a:p>
            <a:pPr indent="0" marL="0">
              <a:buNone/>
            </a:pPr>
            <a:r>
              <a:rPr lang="en-US" sz="1150" b="1" dirty="0">
                <a:solidFill>
                  <a:srgbClr val="1A1B3A"/>
                </a:solidFill>
                <a:latin typeface="Calibri" pitchFamily="34" charset="0"/>
                <a:ea typeface="Calibri" pitchFamily="34" charset="-122"/>
                <a:cs typeface="Calibri" pitchFamily="34" charset="-120"/>
              </a:rPr>
              <a:t>Transport — static  —  </a:t>
            </a:r>
            <a:pPr indent="0" marL="0">
              <a:buNone/>
            </a:pPr>
            <a:r>
              <a:rPr lang="en-US" sz="1150" dirty="0">
                <a:solidFill>
                  <a:srgbClr val="6B6E8A"/>
                </a:solidFill>
                <a:latin typeface="Calibri" pitchFamily="34" charset="0"/>
                <a:ea typeface="Calibri" pitchFamily="34" charset="-122"/>
                <a:cs typeface="Calibri" pitchFamily="34" charset="-120"/>
              </a:rPr>
              <a:t>Flat cost for the first 20 miles of every dispatch</a:t>
            </a:r>
            <a:endParaRPr lang="en-US" sz="1150" dirty="0"/>
          </a:p>
        </p:txBody>
      </p:sp>
      <p:sp>
        <p:nvSpPr>
          <p:cNvPr id="21" name="Shape 19"/>
          <p:cNvSpPr/>
          <p:nvPr/>
        </p:nvSpPr>
        <p:spPr>
          <a:xfrm>
            <a:off x="6223864" y="3364992"/>
            <a:ext cx="5400904" cy="768096"/>
          </a:xfrm>
          <a:prstGeom prst="roundRect">
            <a:avLst>
              <a:gd name="adj" fmla="val 9524"/>
            </a:avLst>
          </a:prstGeom>
          <a:solidFill>
            <a:srgbClr val="F1F2F8"/>
          </a:solidFill>
          <a:ln w="12700">
            <a:solidFill>
              <a:srgbClr val="E2E4EF"/>
            </a:solidFill>
            <a:prstDash val="solid"/>
          </a:ln>
        </p:spPr>
      </p:sp>
      <p:sp>
        <p:nvSpPr>
          <p:cNvPr id="22" name="Text 20"/>
          <p:cNvSpPr/>
          <p:nvPr/>
        </p:nvSpPr>
        <p:spPr>
          <a:xfrm>
            <a:off x="6461608" y="3419856"/>
            <a:ext cx="4925416" cy="329184"/>
          </a:xfrm>
          <a:prstGeom prst="rect">
            <a:avLst/>
          </a:prstGeom>
          <a:noFill/>
          <a:ln/>
        </p:spPr>
        <p:txBody>
          <a:bodyPr wrap="square" lIns="0" tIns="0" rIns="0" bIns="0" rtlCol="0" anchor="ctr"/>
          <a:lstStyle/>
          <a:p>
            <a:pPr indent="0" marL="0">
              <a:buNone/>
            </a:pPr>
            <a:r>
              <a:rPr lang="en-US" sz="1450" b="1" dirty="0">
                <a:solidFill>
                  <a:srgbClr val="2F6F8F"/>
                </a:solidFill>
                <a:latin typeface="Cambria" pitchFamily="34" charset="0"/>
                <a:ea typeface="Cambria" pitchFamily="34" charset="-122"/>
                <a:cs typeface="Cambria" pitchFamily="34" charset="-120"/>
              </a:rPr>
              <a:t>λ₂ Σ h_d·bᵢₖ·dᵢⱼ·Z</a:t>
            </a:r>
            <a:endParaRPr lang="en-US" sz="1450" dirty="0"/>
          </a:p>
        </p:txBody>
      </p:sp>
      <p:sp>
        <p:nvSpPr>
          <p:cNvPr id="23" name="Text 21"/>
          <p:cNvSpPr/>
          <p:nvPr/>
        </p:nvSpPr>
        <p:spPr>
          <a:xfrm>
            <a:off x="6461608" y="3767328"/>
            <a:ext cx="4925416" cy="310896"/>
          </a:xfrm>
          <a:prstGeom prst="rect">
            <a:avLst/>
          </a:prstGeom>
          <a:noFill/>
          <a:ln/>
        </p:spPr>
        <p:txBody>
          <a:bodyPr wrap="square" lIns="0" tIns="0" rIns="0" bIns="0" rtlCol="0" anchor="ctr"/>
          <a:lstStyle/>
          <a:p>
            <a:pPr indent="0" marL="0">
              <a:buNone/>
            </a:pPr>
            <a:r>
              <a:rPr lang="en-US" sz="1150" b="1" dirty="0">
                <a:solidFill>
                  <a:srgbClr val="1A1B3A"/>
                </a:solidFill>
                <a:latin typeface="Calibri" pitchFamily="34" charset="0"/>
                <a:ea typeface="Calibri" pitchFamily="34" charset="-122"/>
                <a:cs typeface="Calibri" pitchFamily="34" charset="-120"/>
              </a:rPr>
              <a:t>Transport — distance  —  </a:t>
            </a:r>
            <a:pPr indent="0" marL="0">
              <a:buNone/>
            </a:pPr>
            <a:r>
              <a:rPr lang="en-US" sz="1150" dirty="0">
                <a:solidFill>
                  <a:srgbClr val="6B6E8A"/>
                </a:solidFill>
                <a:latin typeface="Calibri" pitchFamily="34" charset="0"/>
                <a:ea typeface="Calibri" pitchFamily="34" charset="-122"/>
                <a:cs typeface="Calibri" pitchFamily="34" charset="-120"/>
              </a:rPr>
              <a:t>Per-mile cost beyond the 20-mile base</a:t>
            </a:r>
            <a:endParaRPr lang="en-US" sz="1150" dirty="0"/>
          </a:p>
        </p:txBody>
      </p:sp>
      <p:sp>
        <p:nvSpPr>
          <p:cNvPr id="24" name="Shape 22"/>
          <p:cNvSpPr/>
          <p:nvPr/>
        </p:nvSpPr>
        <p:spPr>
          <a:xfrm>
            <a:off x="566928" y="4261104"/>
            <a:ext cx="5400904" cy="768096"/>
          </a:xfrm>
          <a:prstGeom prst="roundRect">
            <a:avLst>
              <a:gd name="adj" fmla="val 9524"/>
            </a:avLst>
          </a:prstGeom>
          <a:solidFill>
            <a:srgbClr val="F1F2F8"/>
          </a:solidFill>
          <a:ln w="12700">
            <a:solidFill>
              <a:srgbClr val="E2E4EF"/>
            </a:solidFill>
            <a:prstDash val="solid"/>
          </a:ln>
        </p:spPr>
      </p:sp>
      <p:sp>
        <p:nvSpPr>
          <p:cNvPr id="25" name="Text 23"/>
          <p:cNvSpPr/>
          <p:nvPr/>
        </p:nvSpPr>
        <p:spPr>
          <a:xfrm>
            <a:off x="804672" y="4315968"/>
            <a:ext cx="4925416" cy="329184"/>
          </a:xfrm>
          <a:prstGeom prst="rect">
            <a:avLst/>
          </a:prstGeom>
          <a:noFill/>
          <a:ln/>
        </p:spPr>
        <p:txBody>
          <a:bodyPr wrap="square" lIns="0" tIns="0" rIns="0" bIns="0" rtlCol="0" anchor="ctr"/>
          <a:lstStyle/>
          <a:p>
            <a:pPr indent="0" marL="0">
              <a:buNone/>
            </a:pPr>
            <a:r>
              <a:rPr lang="en-US" sz="1450" b="1" dirty="0">
                <a:solidFill>
                  <a:srgbClr val="E8833A"/>
                </a:solidFill>
                <a:latin typeface="Cambria" pitchFamily="34" charset="0"/>
                <a:ea typeface="Cambria" pitchFamily="34" charset="-122"/>
                <a:cs typeface="Cambria" pitchFamily="34" charset="-120"/>
              </a:rPr>
              <a:t>λ₃ Σ bᵢₖ(dᵢⱼ−dₛ)·Z</a:t>
            </a:r>
            <a:endParaRPr lang="en-US" sz="1450" dirty="0"/>
          </a:p>
        </p:txBody>
      </p:sp>
      <p:sp>
        <p:nvSpPr>
          <p:cNvPr id="26" name="Text 24"/>
          <p:cNvSpPr/>
          <p:nvPr/>
        </p:nvSpPr>
        <p:spPr>
          <a:xfrm>
            <a:off x="804672" y="4663440"/>
            <a:ext cx="4925416" cy="310896"/>
          </a:xfrm>
          <a:prstGeom prst="rect">
            <a:avLst/>
          </a:prstGeom>
          <a:noFill/>
          <a:ln/>
        </p:spPr>
        <p:txBody>
          <a:bodyPr wrap="square" lIns="0" tIns="0" rIns="0" bIns="0" rtlCol="0" anchor="ctr"/>
          <a:lstStyle/>
          <a:p>
            <a:pPr indent="0" marL="0">
              <a:buNone/>
            </a:pPr>
            <a:r>
              <a:rPr lang="en-US" sz="1150" b="1" dirty="0">
                <a:solidFill>
                  <a:srgbClr val="1A1B3A"/>
                </a:solidFill>
                <a:latin typeface="Calibri" pitchFamily="34" charset="0"/>
                <a:ea typeface="Calibri" pitchFamily="34" charset="-122"/>
                <a:cs typeface="Calibri" pitchFamily="34" charset="-120"/>
              </a:rPr>
              <a:t>SLA risk  —  </a:t>
            </a:r>
            <a:pPr indent="0" marL="0">
              <a:buNone/>
            </a:pPr>
            <a:r>
              <a:rPr lang="en-US" sz="1150" dirty="0">
                <a:solidFill>
                  <a:srgbClr val="6B6E8A"/>
                </a:solidFill>
                <a:latin typeface="Calibri" pitchFamily="34" charset="0"/>
                <a:ea typeface="Calibri" pitchFamily="34" charset="-122"/>
                <a:cs typeface="Calibri" pitchFamily="34" charset="-120"/>
              </a:rPr>
              <a:t>Customer-experience penalty past dₛ = 110 mi</a:t>
            </a:r>
            <a:endParaRPr lang="en-US" sz="1150" dirty="0"/>
          </a:p>
        </p:txBody>
      </p:sp>
      <p:sp>
        <p:nvSpPr>
          <p:cNvPr id="27" name="Shape 25"/>
          <p:cNvSpPr/>
          <p:nvPr/>
        </p:nvSpPr>
        <p:spPr>
          <a:xfrm>
            <a:off x="6223864" y="4261104"/>
            <a:ext cx="5400904" cy="768096"/>
          </a:xfrm>
          <a:prstGeom prst="roundRect">
            <a:avLst>
              <a:gd name="adj" fmla="val 9524"/>
            </a:avLst>
          </a:prstGeom>
          <a:solidFill>
            <a:srgbClr val="1A1B3A"/>
          </a:solidFill>
          <a:ln w="12700">
            <a:solidFill>
              <a:srgbClr val="333333"/>
            </a:solidFill>
            <a:prstDash val="solid"/>
          </a:ln>
        </p:spPr>
      </p:sp>
      <p:sp>
        <p:nvSpPr>
          <p:cNvPr id="28" name="Text 26"/>
          <p:cNvSpPr/>
          <p:nvPr/>
        </p:nvSpPr>
        <p:spPr>
          <a:xfrm>
            <a:off x="6461608" y="4261104"/>
            <a:ext cx="4925416" cy="768096"/>
          </a:xfrm>
          <a:prstGeom prst="rect">
            <a:avLst/>
          </a:prstGeom>
          <a:noFill/>
          <a:ln/>
        </p:spPr>
        <p:txBody>
          <a:bodyPr wrap="square" lIns="0" tIns="0" rIns="0" bIns="0" rtlCol="0" anchor="ctr"/>
          <a:lstStyle/>
          <a:p>
            <a:pPr indent="0" marL="0">
              <a:lnSpc>
                <a:spcPts val="1700"/>
              </a:lnSpc>
              <a:buNone/>
            </a:pPr>
            <a:r>
              <a:rPr lang="en-US" sz="1200" b="1" dirty="0">
                <a:solidFill>
                  <a:srgbClr val="E8833A"/>
                </a:solidFill>
                <a:latin typeface="Calibri" pitchFamily="34" charset="0"/>
                <a:ea typeface="Calibri" pitchFamily="34" charset="-122"/>
                <a:cs typeface="Calibri" pitchFamily="34" charset="-120"/>
              </a:rPr>
              <a:t>λ₃ = 0.25 in all three instances.  </a:t>
            </a:r>
            <a:pPr indent="0" marL="0">
              <a:lnSpc>
                <a:spcPts val="1700"/>
              </a:lnSpc>
              <a:buNone/>
            </a:pPr>
            <a:r>
              <a:rPr lang="en-US" sz="1200" dirty="0">
                <a:solidFill>
                  <a:srgbClr val="FFFFFF"/>
                </a:solidFill>
                <a:latin typeface="Calibri" pitchFamily="34" charset="0"/>
                <a:ea typeface="Calibri" pitchFamily="34" charset="-122"/>
                <a:cs typeface="Calibri" pitchFamily="34" charset="-120"/>
              </a:rPr>
              <a:t>Set by trial and error — part of the objective is a policy choice.</a:t>
            </a:r>
            <a:endParaRPr lang="en-US" sz="1200" dirty="0"/>
          </a:p>
        </p:txBody>
      </p:sp>
      <p:sp>
        <p:nvSpPr>
          <p:cNvPr id="29" name="Text 27"/>
          <p:cNvSpPr/>
          <p:nvPr/>
        </p:nvSpPr>
        <p:spPr>
          <a:xfrm>
            <a:off x="566928" y="6382512"/>
            <a:ext cx="11057839" cy="274320"/>
          </a:xfrm>
          <a:prstGeom prst="rect">
            <a:avLst/>
          </a:prstGeom>
          <a:noFill/>
          <a:ln/>
        </p:spPr>
        <p:txBody>
          <a:bodyPr wrap="square" lIns="0" tIns="0" rIns="0" bIns="0" rtlCol="0" anchor="ctr"/>
          <a:lstStyle/>
          <a:p>
            <a:pPr algn="l" indent="0" marL="0">
              <a:buNone/>
            </a:pPr>
            <a:r>
              <a:rPr lang="en-US" sz="950" dirty="0">
                <a:solidFill>
                  <a:srgbClr val="9A9DB5"/>
                </a:solidFill>
                <a:latin typeface="Calibri" pitchFamily="34" charset="0"/>
                <a:ea typeface="Calibri" pitchFamily="34" charset="-122"/>
                <a:cs typeface="Calibri" pitchFamily="34" charset="-120"/>
              </a:rPr>
              <a:t>Source: US_FSL_risk_optimization.pdf, p. 5 — minimize inventory + storage + transfer + transportation</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420624"/>
          </a:xfrm>
          <a:prstGeom prst="ellipse">
            <a:avLst/>
          </a:prstGeom>
          <a:solidFill>
            <a:srgbClr val="E8833A"/>
          </a:solidFill>
          <a:ln/>
        </p:spPr>
      </p:sp>
      <p:sp>
        <p:nvSpPr>
          <p:cNvPr id="3" name="Text 1"/>
          <p:cNvSpPr/>
          <p:nvPr/>
        </p:nvSpPr>
        <p:spPr>
          <a:xfrm>
            <a:off x="566928" y="4206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4" name="Text 2"/>
          <p:cNvSpPr/>
          <p:nvPr/>
        </p:nvSpPr>
        <p:spPr>
          <a:xfrm>
            <a:off x="1170432" y="365760"/>
            <a:ext cx="10454335" cy="548640"/>
          </a:xfrm>
          <a:prstGeom prst="rect">
            <a:avLst/>
          </a:prstGeom>
          <a:noFill/>
          <a:ln/>
        </p:spPr>
        <p:txBody>
          <a:bodyPr wrap="square" lIns="0" tIns="0" rIns="0" bIns="0" rtlCol="0" anchor="ctr"/>
          <a:lstStyle/>
          <a:p>
            <a:pPr algn="l" indent="0" marL="0">
              <a:buNone/>
            </a:pPr>
            <a:r>
              <a:rPr lang="en-US" sz="3000" b="1" dirty="0">
                <a:solidFill>
                  <a:srgbClr val="1A1B3A"/>
                </a:solidFill>
                <a:latin typeface="Cambria" pitchFamily="34" charset="0"/>
                <a:ea typeface="Cambria" pitchFamily="34" charset="-122"/>
                <a:cs typeface="Cambria" pitchFamily="34" charset="-120"/>
              </a:rPr>
              <a:t>Four constraints — which become four penalties</a:t>
            </a:r>
            <a:endParaRPr lang="en-US" sz="3000" dirty="0"/>
          </a:p>
        </p:txBody>
      </p:sp>
      <p:sp>
        <p:nvSpPr>
          <p:cNvPr id="5" name="Text 3"/>
          <p:cNvSpPr/>
          <p:nvPr/>
        </p:nvSpPr>
        <p:spPr>
          <a:xfrm>
            <a:off x="1170432" y="932688"/>
            <a:ext cx="10454335" cy="329184"/>
          </a:xfrm>
          <a:prstGeom prst="rect">
            <a:avLst/>
          </a:prstGeom>
          <a:noFill/>
          <a:ln/>
        </p:spPr>
        <p:txBody>
          <a:bodyPr wrap="square" lIns="0" tIns="0" rIns="0" bIns="0" rtlCol="0" anchor="t"/>
          <a:lstStyle/>
          <a:p>
            <a:pPr algn="l" indent="0" marL="0">
              <a:buNone/>
            </a:pPr>
            <a:r>
              <a:rPr lang="en-US" sz="1400" i="1" dirty="0">
                <a:solidFill>
                  <a:srgbClr val="6B6E8A"/>
                </a:solidFill>
                <a:latin typeface="Calibri" pitchFamily="34" charset="0"/>
                <a:ea typeface="Calibri" pitchFamily="34" charset="-122"/>
                <a:cs typeface="Calibri" pitchFamily="34" charset="-120"/>
              </a:rPr>
              <a:t>End session 1 here. It is the bridge into his work.</a:t>
            </a:r>
            <a:endParaRPr lang="en-US" sz="1400" dirty="0"/>
          </a:p>
        </p:txBody>
      </p:sp>
      <p:sp>
        <p:nvSpPr>
          <p:cNvPr id="6" name="Shape 4"/>
          <p:cNvSpPr/>
          <p:nvPr/>
        </p:nvSpPr>
        <p:spPr>
          <a:xfrm>
            <a:off x="566928" y="1554480"/>
            <a:ext cx="11057839" cy="1024128"/>
          </a:xfrm>
          <a:prstGeom prst="roundRect">
            <a:avLst>
              <a:gd name="adj" fmla="val 7143"/>
            </a:avLst>
          </a:prstGeom>
          <a:solidFill>
            <a:srgbClr val="F1F2F8"/>
          </a:solidFill>
          <a:ln w="12700">
            <a:solidFill>
              <a:srgbClr val="E2E4EF"/>
            </a:solidFill>
            <a:prstDash val="solid"/>
          </a:ln>
        </p:spPr>
      </p:sp>
      <p:sp>
        <p:nvSpPr>
          <p:cNvPr id="7" name="Shape 5"/>
          <p:cNvSpPr/>
          <p:nvPr/>
        </p:nvSpPr>
        <p:spPr>
          <a:xfrm>
            <a:off x="822960" y="1847088"/>
            <a:ext cx="566928" cy="438912"/>
          </a:xfrm>
          <a:prstGeom prst="roundRect">
            <a:avLst>
              <a:gd name="adj" fmla="val 20833"/>
            </a:avLst>
          </a:prstGeom>
          <a:solidFill>
            <a:srgbClr val="1A1B3A"/>
          </a:solidFill>
          <a:ln w="12700">
            <a:solidFill>
              <a:srgbClr val="333333"/>
            </a:solidFill>
            <a:prstDash val="solid"/>
          </a:ln>
        </p:spPr>
      </p:sp>
      <p:sp>
        <p:nvSpPr>
          <p:cNvPr id="8" name="Text 6"/>
          <p:cNvSpPr/>
          <p:nvPr/>
        </p:nvSpPr>
        <p:spPr>
          <a:xfrm>
            <a:off x="822960" y="1847088"/>
            <a:ext cx="566928"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C1</a:t>
            </a:r>
            <a:endParaRPr lang="en-US" sz="1300" dirty="0"/>
          </a:p>
        </p:txBody>
      </p:sp>
      <p:sp>
        <p:nvSpPr>
          <p:cNvPr id="9" name="Text 7"/>
          <p:cNvSpPr/>
          <p:nvPr/>
        </p:nvSpPr>
        <p:spPr>
          <a:xfrm>
            <a:off x="1572768" y="1719072"/>
            <a:ext cx="5029200" cy="365760"/>
          </a:xfrm>
          <a:prstGeom prst="rect">
            <a:avLst/>
          </a:prstGeom>
          <a:noFill/>
          <a:ln/>
        </p:spPr>
        <p:txBody>
          <a:bodyPr wrap="square" lIns="0" tIns="0" rIns="0" bIns="0" rtlCol="0" anchor="ctr"/>
          <a:lstStyle/>
          <a:p>
            <a:pPr indent="0" marL="0">
              <a:buNone/>
            </a:pPr>
            <a:r>
              <a:rPr lang="en-US" sz="1400" b="1" dirty="0">
                <a:solidFill>
                  <a:srgbClr val="1A1B3A"/>
                </a:solidFill>
                <a:latin typeface="Calibri" pitchFamily="34" charset="0"/>
                <a:ea typeface="Calibri" pitchFamily="34" charset="-122"/>
                <a:cs typeface="Calibri" pitchFamily="34" charset="-120"/>
              </a:rPr>
              <a:t>Every (zip, part) is served by exactly one hub</a:t>
            </a:r>
            <a:endParaRPr lang="en-US" sz="1400" dirty="0"/>
          </a:p>
        </p:txBody>
      </p:sp>
      <p:sp>
        <p:nvSpPr>
          <p:cNvPr id="10" name="Text 8"/>
          <p:cNvSpPr/>
          <p:nvPr/>
        </p:nvSpPr>
        <p:spPr>
          <a:xfrm>
            <a:off x="1572768" y="2084832"/>
            <a:ext cx="5029200" cy="347472"/>
          </a:xfrm>
          <a:prstGeom prst="rect">
            <a:avLst/>
          </a:prstGeom>
          <a:noFill/>
          <a:ln/>
        </p:spPr>
        <p:txBody>
          <a:bodyPr wrap="square" lIns="0" tIns="0" rIns="0" bIns="0" rtlCol="0" anchor="ctr"/>
          <a:lstStyle/>
          <a:p>
            <a:pPr indent="0" marL="0">
              <a:buNone/>
            </a:pPr>
            <a:r>
              <a:rPr lang="en-US" sz="1400" dirty="0">
                <a:solidFill>
                  <a:srgbClr val="2F6F8F"/>
                </a:solidFill>
                <a:latin typeface="Cambria" pitchFamily="34" charset="0"/>
                <a:ea typeface="Cambria" pitchFamily="34" charset="-122"/>
                <a:cs typeface="Cambria" pitchFamily="34" charset="-120"/>
              </a:rPr>
              <a:t>Σⱼ Zᵢⱼₖ = 1</a:t>
            </a:r>
            <a:endParaRPr lang="en-US" sz="1400" dirty="0"/>
          </a:p>
        </p:txBody>
      </p:sp>
      <p:sp>
        <p:nvSpPr>
          <p:cNvPr id="11" name="Text 9"/>
          <p:cNvSpPr/>
          <p:nvPr/>
        </p:nvSpPr>
        <p:spPr>
          <a:xfrm>
            <a:off x="6967728" y="1554480"/>
            <a:ext cx="4401007" cy="1024128"/>
          </a:xfrm>
          <a:prstGeom prst="rect">
            <a:avLst/>
          </a:prstGeom>
          <a:noFill/>
          <a:ln/>
        </p:spPr>
        <p:txBody>
          <a:bodyPr wrap="square" lIns="0" tIns="0" rIns="0" bIns="0" rtlCol="0" anchor="ctr"/>
          <a:lstStyle/>
          <a:p>
            <a:pPr indent="0" marL="0">
              <a:buNone/>
            </a:pPr>
            <a:r>
              <a:rPr lang="en-US" sz="1250" i="1" dirty="0">
                <a:solidFill>
                  <a:srgbClr val="6B6E8A"/>
                </a:solidFill>
                <a:latin typeface="Calibri" pitchFamily="34" charset="0"/>
                <a:ea typeface="Calibri" pitchFamily="34" charset="-122"/>
                <a:cs typeface="Calibri" pitchFamily="34" charset="-120"/>
              </a:rPr>
              <a:t>One-hot — the classic QUBO penalty</a:t>
            </a:r>
            <a:endParaRPr lang="en-US" sz="1250" dirty="0"/>
          </a:p>
        </p:txBody>
      </p:sp>
      <p:sp>
        <p:nvSpPr>
          <p:cNvPr id="12" name="Shape 10"/>
          <p:cNvSpPr/>
          <p:nvPr/>
        </p:nvSpPr>
        <p:spPr>
          <a:xfrm>
            <a:off x="566928" y="2688336"/>
            <a:ext cx="11057839" cy="1024128"/>
          </a:xfrm>
          <a:prstGeom prst="roundRect">
            <a:avLst>
              <a:gd name="adj" fmla="val 7143"/>
            </a:avLst>
          </a:prstGeom>
          <a:solidFill>
            <a:srgbClr val="F1F2F8"/>
          </a:solidFill>
          <a:ln w="12700">
            <a:solidFill>
              <a:srgbClr val="E2E4EF"/>
            </a:solidFill>
            <a:prstDash val="solid"/>
          </a:ln>
        </p:spPr>
      </p:sp>
      <p:sp>
        <p:nvSpPr>
          <p:cNvPr id="13" name="Shape 11"/>
          <p:cNvSpPr/>
          <p:nvPr/>
        </p:nvSpPr>
        <p:spPr>
          <a:xfrm>
            <a:off x="822960" y="2980944"/>
            <a:ext cx="566928" cy="438912"/>
          </a:xfrm>
          <a:prstGeom prst="roundRect">
            <a:avLst>
              <a:gd name="adj" fmla="val 20833"/>
            </a:avLst>
          </a:prstGeom>
          <a:solidFill>
            <a:srgbClr val="1A1B3A"/>
          </a:solidFill>
          <a:ln w="12700">
            <a:solidFill>
              <a:srgbClr val="333333"/>
            </a:solidFill>
            <a:prstDash val="solid"/>
          </a:ln>
        </p:spPr>
      </p:sp>
      <p:sp>
        <p:nvSpPr>
          <p:cNvPr id="14" name="Text 12"/>
          <p:cNvSpPr/>
          <p:nvPr/>
        </p:nvSpPr>
        <p:spPr>
          <a:xfrm>
            <a:off x="822960" y="2980944"/>
            <a:ext cx="566928"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C2</a:t>
            </a:r>
            <a:endParaRPr lang="en-US" sz="1300" dirty="0"/>
          </a:p>
        </p:txBody>
      </p:sp>
      <p:sp>
        <p:nvSpPr>
          <p:cNvPr id="15" name="Text 13"/>
          <p:cNvSpPr/>
          <p:nvPr/>
        </p:nvSpPr>
        <p:spPr>
          <a:xfrm>
            <a:off x="1572768" y="2852928"/>
            <a:ext cx="5029200" cy="365760"/>
          </a:xfrm>
          <a:prstGeom prst="rect">
            <a:avLst/>
          </a:prstGeom>
          <a:noFill/>
          <a:ln/>
        </p:spPr>
        <p:txBody>
          <a:bodyPr wrap="square" lIns="0" tIns="0" rIns="0" bIns="0" rtlCol="0" anchor="ctr"/>
          <a:lstStyle/>
          <a:p>
            <a:pPr indent="0" marL="0">
              <a:buNone/>
            </a:pPr>
            <a:r>
              <a:rPr lang="en-US" sz="1400" b="1" dirty="0">
                <a:solidFill>
                  <a:srgbClr val="1A1B3A"/>
                </a:solidFill>
                <a:latin typeface="Calibri" pitchFamily="34" charset="0"/>
                <a:ea typeface="Calibri" pitchFamily="34" charset="-122"/>
                <a:cs typeface="Calibri" pitchFamily="34" charset="-120"/>
              </a:rPr>
              <a:t>A hub can only serve a part it actually stocks</a:t>
            </a:r>
            <a:endParaRPr lang="en-US" sz="1400" dirty="0"/>
          </a:p>
        </p:txBody>
      </p:sp>
      <p:sp>
        <p:nvSpPr>
          <p:cNvPr id="16" name="Text 14"/>
          <p:cNvSpPr/>
          <p:nvPr/>
        </p:nvSpPr>
        <p:spPr>
          <a:xfrm>
            <a:off x="1572768" y="3218688"/>
            <a:ext cx="5029200" cy="347472"/>
          </a:xfrm>
          <a:prstGeom prst="rect">
            <a:avLst/>
          </a:prstGeom>
          <a:noFill/>
          <a:ln/>
        </p:spPr>
        <p:txBody>
          <a:bodyPr wrap="square" lIns="0" tIns="0" rIns="0" bIns="0" rtlCol="0" anchor="ctr"/>
          <a:lstStyle/>
          <a:p>
            <a:pPr indent="0" marL="0">
              <a:buNone/>
            </a:pPr>
            <a:r>
              <a:rPr lang="en-US" sz="1400" dirty="0">
                <a:solidFill>
                  <a:srgbClr val="2F6F8F"/>
                </a:solidFill>
                <a:latin typeface="Cambria" pitchFamily="34" charset="0"/>
                <a:ea typeface="Cambria" pitchFamily="34" charset="-122"/>
                <a:cs typeface="Cambria" pitchFamily="34" charset="-120"/>
              </a:rPr>
              <a:t>ΣᵢΣₖ Zᵢⱼₖ Qᵢₖ ≤ Yⱼₖ</a:t>
            </a:r>
            <a:endParaRPr lang="en-US" sz="1400" dirty="0"/>
          </a:p>
        </p:txBody>
      </p:sp>
      <p:sp>
        <p:nvSpPr>
          <p:cNvPr id="17" name="Text 15"/>
          <p:cNvSpPr/>
          <p:nvPr/>
        </p:nvSpPr>
        <p:spPr>
          <a:xfrm>
            <a:off x="6967728" y="2688336"/>
            <a:ext cx="4401007" cy="1024128"/>
          </a:xfrm>
          <a:prstGeom prst="rect">
            <a:avLst/>
          </a:prstGeom>
          <a:noFill/>
          <a:ln/>
        </p:spPr>
        <p:txBody>
          <a:bodyPr wrap="square" lIns="0" tIns="0" rIns="0" bIns="0" rtlCol="0" anchor="ctr"/>
          <a:lstStyle/>
          <a:p>
            <a:pPr indent="0" marL="0">
              <a:buNone/>
            </a:pPr>
            <a:r>
              <a:rPr lang="en-US" sz="1250" i="1" dirty="0">
                <a:solidFill>
                  <a:srgbClr val="6B6E8A"/>
                </a:solidFill>
                <a:latin typeface="Calibri" pitchFamily="34" charset="0"/>
                <a:ea typeface="Calibri" pitchFamily="34" charset="-122"/>
                <a:cs typeface="Calibri" pitchFamily="34" charset="-120"/>
              </a:rPr>
              <a:t>Implication → quadratic penalty Z(1−Y)</a:t>
            </a:r>
            <a:endParaRPr lang="en-US" sz="1250" dirty="0"/>
          </a:p>
        </p:txBody>
      </p:sp>
      <p:sp>
        <p:nvSpPr>
          <p:cNvPr id="18" name="Shape 16"/>
          <p:cNvSpPr/>
          <p:nvPr/>
        </p:nvSpPr>
        <p:spPr>
          <a:xfrm>
            <a:off x="566928" y="3822192"/>
            <a:ext cx="11057839" cy="1024128"/>
          </a:xfrm>
          <a:prstGeom prst="roundRect">
            <a:avLst>
              <a:gd name="adj" fmla="val 7143"/>
            </a:avLst>
          </a:prstGeom>
          <a:solidFill>
            <a:srgbClr val="F1F2F8"/>
          </a:solidFill>
          <a:ln w="12700">
            <a:solidFill>
              <a:srgbClr val="E2E4EF"/>
            </a:solidFill>
            <a:prstDash val="solid"/>
          </a:ln>
        </p:spPr>
      </p:sp>
      <p:sp>
        <p:nvSpPr>
          <p:cNvPr id="19" name="Shape 17"/>
          <p:cNvSpPr/>
          <p:nvPr/>
        </p:nvSpPr>
        <p:spPr>
          <a:xfrm>
            <a:off x="822960" y="4114800"/>
            <a:ext cx="566928" cy="438912"/>
          </a:xfrm>
          <a:prstGeom prst="roundRect">
            <a:avLst>
              <a:gd name="adj" fmla="val 20833"/>
            </a:avLst>
          </a:prstGeom>
          <a:solidFill>
            <a:srgbClr val="1A1B3A"/>
          </a:solidFill>
          <a:ln w="12700">
            <a:solidFill>
              <a:srgbClr val="333333"/>
            </a:solidFill>
            <a:prstDash val="solid"/>
          </a:ln>
        </p:spPr>
      </p:sp>
      <p:sp>
        <p:nvSpPr>
          <p:cNvPr id="20" name="Text 18"/>
          <p:cNvSpPr/>
          <p:nvPr/>
        </p:nvSpPr>
        <p:spPr>
          <a:xfrm>
            <a:off x="822960" y="4114800"/>
            <a:ext cx="566928"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C3</a:t>
            </a:r>
            <a:endParaRPr lang="en-US" sz="1300" dirty="0"/>
          </a:p>
        </p:txBody>
      </p:sp>
      <p:sp>
        <p:nvSpPr>
          <p:cNvPr id="21" name="Text 19"/>
          <p:cNvSpPr/>
          <p:nvPr/>
        </p:nvSpPr>
        <p:spPr>
          <a:xfrm>
            <a:off x="1572768" y="3986784"/>
            <a:ext cx="5029200" cy="365760"/>
          </a:xfrm>
          <a:prstGeom prst="rect">
            <a:avLst/>
          </a:prstGeom>
          <a:noFill/>
          <a:ln/>
        </p:spPr>
        <p:txBody>
          <a:bodyPr wrap="square" lIns="0" tIns="0" rIns="0" bIns="0" rtlCol="0" anchor="ctr"/>
          <a:lstStyle/>
          <a:p>
            <a:pPr indent="0" marL="0">
              <a:buNone/>
            </a:pPr>
            <a:r>
              <a:rPr lang="en-US" sz="1400" b="1" dirty="0">
                <a:solidFill>
                  <a:srgbClr val="1A1B3A"/>
                </a:solidFill>
                <a:latin typeface="Calibri" pitchFamily="34" charset="0"/>
                <a:ea typeface="Calibri" pitchFamily="34" charset="-122"/>
                <a:cs typeface="Calibri" pitchFamily="34" charset="-120"/>
              </a:rPr>
              <a:t>A hub that stocks anything must be open</a:t>
            </a:r>
            <a:endParaRPr lang="en-US" sz="1400" dirty="0"/>
          </a:p>
        </p:txBody>
      </p:sp>
      <p:sp>
        <p:nvSpPr>
          <p:cNvPr id="22" name="Text 20"/>
          <p:cNvSpPr/>
          <p:nvPr/>
        </p:nvSpPr>
        <p:spPr>
          <a:xfrm>
            <a:off x="1572768" y="4352544"/>
            <a:ext cx="5029200" cy="347472"/>
          </a:xfrm>
          <a:prstGeom prst="rect">
            <a:avLst/>
          </a:prstGeom>
          <a:noFill/>
          <a:ln/>
        </p:spPr>
        <p:txBody>
          <a:bodyPr wrap="square" lIns="0" tIns="0" rIns="0" bIns="0" rtlCol="0" anchor="ctr"/>
          <a:lstStyle/>
          <a:p>
            <a:pPr indent="0" marL="0">
              <a:buNone/>
            </a:pPr>
            <a:r>
              <a:rPr lang="en-US" sz="1400" dirty="0">
                <a:solidFill>
                  <a:srgbClr val="2F6F8F"/>
                </a:solidFill>
                <a:latin typeface="Cambria" pitchFamily="34" charset="0"/>
                <a:ea typeface="Cambria" pitchFamily="34" charset="-122"/>
                <a:cs typeface="Cambria" pitchFamily="34" charset="-120"/>
              </a:rPr>
              <a:t>Σₖ Yⱼₖ / B ≤ Xⱼ</a:t>
            </a:r>
            <a:endParaRPr lang="en-US" sz="1400" dirty="0"/>
          </a:p>
        </p:txBody>
      </p:sp>
      <p:sp>
        <p:nvSpPr>
          <p:cNvPr id="23" name="Text 21"/>
          <p:cNvSpPr/>
          <p:nvPr/>
        </p:nvSpPr>
        <p:spPr>
          <a:xfrm>
            <a:off x="6967728" y="3822192"/>
            <a:ext cx="4401007" cy="1024128"/>
          </a:xfrm>
          <a:prstGeom prst="rect">
            <a:avLst/>
          </a:prstGeom>
          <a:noFill/>
          <a:ln/>
        </p:spPr>
        <p:txBody>
          <a:bodyPr wrap="square" lIns="0" tIns="0" rIns="0" bIns="0" rtlCol="0" anchor="ctr"/>
          <a:lstStyle/>
          <a:p>
            <a:pPr indent="0" marL="0">
              <a:buNone/>
            </a:pPr>
            <a:r>
              <a:rPr lang="en-US" sz="1250" i="1" dirty="0">
                <a:solidFill>
                  <a:srgbClr val="6B6E8A"/>
                </a:solidFill>
                <a:latin typeface="Calibri" pitchFamily="34" charset="0"/>
                <a:ea typeface="Calibri" pitchFamily="34" charset="-122"/>
                <a:cs typeface="Calibri" pitchFamily="34" charset="-120"/>
              </a:rPr>
              <a:t>Implication → Y(1−X); B = max parts planned</a:t>
            </a:r>
            <a:endParaRPr lang="en-US" sz="1250" dirty="0"/>
          </a:p>
        </p:txBody>
      </p:sp>
      <p:sp>
        <p:nvSpPr>
          <p:cNvPr id="24" name="Shape 22"/>
          <p:cNvSpPr/>
          <p:nvPr/>
        </p:nvSpPr>
        <p:spPr>
          <a:xfrm>
            <a:off x="566928" y="4956048"/>
            <a:ext cx="11057839" cy="1024128"/>
          </a:xfrm>
          <a:prstGeom prst="roundRect">
            <a:avLst>
              <a:gd name="adj" fmla="val 7143"/>
            </a:avLst>
          </a:prstGeom>
          <a:solidFill>
            <a:srgbClr val="F1F2F8"/>
          </a:solidFill>
          <a:ln w="12700">
            <a:solidFill>
              <a:srgbClr val="E2E4EF"/>
            </a:solidFill>
            <a:prstDash val="solid"/>
          </a:ln>
        </p:spPr>
      </p:sp>
      <p:sp>
        <p:nvSpPr>
          <p:cNvPr id="25" name="Shape 23"/>
          <p:cNvSpPr/>
          <p:nvPr/>
        </p:nvSpPr>
        <p:spPr>
          <a:xfrm>
            <a:off x="822960" y="5248656"/>
            <a:ext cx="566928" cy="438912"/>
          </a:xfrm>
          <a:prstGeom prst="roundRect">
            <a:avLst>
              <a:gd name="adj" fmla="val 20833"/>
            </a:avLst>
          </a:prstGeom>
          <a:solidFill>
            <a:srgbClr val="E8833A"/>
          </a:solidFill>
          <a:ln w="12700">
            <a:solidFill>
              <a:srgbClr val="333333"/>
            </a:solidFill>
            <a:prstDash val="solid"/>
          </a:ln>
        </p:spPr>
      </p:sp>
      <p:sp>
        <p:nvSpPr>
          <p:cNvPr id="26" name="Text 24"/>
          <p:cNvSpPr/>
          <p:nvPr/>
        </p:nvSpPr>
        <p:spPr>
          <a:xfrm>
            <a:off x="822960" y="5248656"/>
            <a:ext cx="566928"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C4</a:t>
            </a:r>
            <a:endParaRPr lang="en-US" sz="1300" dirty="0"/>
          </a:p>
        </p:txBody>
      </p:sp>
      <p:sp>
        <p:nvSpPr>
          <p:cNvPr id="27" name="Text 25"/>
          <p:cNvSpPr/>
          <p:nvPr/>
        </p:nvSpPr>
        <p:spPr>
          <a:xfrm>
            <a:off x="1572768" y="5120640"/>
            <a:ext cx="5029200" cy="365760"/>
          </a:xfrm>
          <a:prstGeom prst="rect">
            <a:avLst/>
          </a:prstGeom>
          <a:noFill/>
          <a:ln/>
        </p:spPr>
        <p:txBody>
          <a:bodyPr wrap="square" lIns="0" tIns="0" rIns="0" bIns="0" rtlCol="0" anchor="ctr"/>
          <a:lstStyle/>
          <a:p>
            <a:pPr indent="0" marL="0">
              <a:buNone/>
            </a:pPr>
            <a:r>
              <a:rPr lang="en-US" sz="1400" b="1" dirty="0">
                <a:solidFill>
                  <a:srgbClr val="1A1B3A"/>
                </a:solidFill>
                <a:latin typeface="Calibri" pitchFamily="34" charset="0"/>
                <a:ea typeface="Calibri" pitchFamily="34" charset="-122"/>
                <a:cs typeface="Calibri" pitchFamily="34" charset="-120"/>
              </a:rPr>
              <a:t>Count parts stocked beyond the storage limit</a:t>
            </a:r>
            <a:endParaRPr lang="en-US" sz="1400" dirty="0"/>
          </a:p>
        </p:txBody>
      </p:sp>
      <p:sp>
        <p:nvSpPr>
          <p:cNvPr id="28" name="Text 26"/>
          <p:cNvSpPr/>
          <p:nvPr/>
        </p:nvSpPr>
        <p:spPr>
          <a:xfrm>
            <a:off x="1572768" y="5486400"/>
            <a:ext cx="5029200" cy="347472"/>
          </a:xfrm>
          <a:prstGeom prst="rect">
            <a:avLst/>
          </a:prstGeom>
          <a:noFill/>
          <a:ln/>
        </p:spPr>
        <p:txBody>
          <a:bodyPr wrap="square" lIns="0" tIns="0" rIns="0" bIns="0" rtlCol="0" anchor="ctr"/>
          <a:lstStyle/>
          <a:p>
            <a:pPr indent="0" marL="0">
              <a:buNone/>
            </a:pPr>
            <a:r>
              <a:rPr lang="en-US" sz="1400" dirty="0">
                <a:solidFill>
                  <a:srgbClr val="2F6F8F"/>
                </a:solidFill>
                <a:latin typeface="Cambria" pitchFamily="34" charset="0"/>
                <a:ea typeface="Cambria" pitchFamily="34" charset="-122"/>
                <a:cs typeface="Cambria" pitchFamily="34" charset="-120"/>
              </a:rPr>
              <a:t>Σₖ Yⱼₖ − L ≤ Wⱼ ,  Wⱼ ≥ 0</a:t>
            </a:r>
            <a:endParaRPr lang="en-US" sz="1400" dirty="0"/>
          </a:p>
        </p:txBody>
      </p:sp>
      <p:sp>
        <p:nvSpPr>
          <p:cNvPr id="29" name="Text 27"/>
          <p:cNvSpPr/>
          <p:nvPr/>
        </p:nvSpPr>
        <p:spPr>
          <a:xfrm>
            <a:off x="6967728" y="4956048"/>
            <a:ext cx="4401007" cy="1024128"/>
          </a:xfrm>
          <a:prstGeom prst="rect">
            <a:avLst/>
          </a:prstGeom>
          <a:noFill/>
          <a:ln/>
        </p:spPr>
        <p:txBody>
          <a:bodyPr wrap="square" lIns="0" tIns="0" rIns="0" bIns="0" rtlCol="0" anchor="ctr"/>
          <a:lstStyle/>
          <a:p>
            <a:pPr indent="0" marL="0">
              <a:buNone/>
            </a:pPr>
            <a:r>
              <a:rPr lang="en-US" sz="1250" i="1" dirty="0">
                <a:solidFill>
                  <a:srgbClr val="6B6E8A"/>
                </a:solidFill>
                <a:latin typeface="Calibri" pitchFamily="34" charset="0"/>
                <a:ea typeface="Calibri" pitchFamily="34" charset="-122"/>
                <a:cs typeface="Calibri" pitchFamily="34" charset="-120"/>
              </a:rPr>
              <a:t>Needs integer-ish encoding in a binary model</a:t>
            </a:r>
            <a:endParaRPr lang="en-US" sz="1250" dirty="0"/>
          </a:p>
        </p:txBody>
      </p:sp>
      <p:sp>
        <p:nvSpPr>
          <p:cNvPr id="30" name="Text 28"/>
          <p:cNvSpPr/>
          <p:nvPr/>
        </p:nvSpPr>
        <p:spPr>
          <a:xfrm>
            <a:off x="566928" y="6382512"/>
            <a:ext cx="11057839" cy="274320"/>
          </a:xfrm>
          <a:prstGeom prst="rect">
            <a:avLst/>
          </a:prstGeom>
          <a:noFill/>
          <a:ln/>
        </p:spPr>
        <p:txBody>
          <a:bodyPr wrap="square" lIns="0" tIns="0" rIns="0" bIns="0" rtlCol="0" anchor="ctr"/>
          <a:lstStyle/>
          <a:p>
            <a:pPr algn="l" indent="0" marL="0">
              <a:buNone/>
            </a:pPr>
            <a:r>
              <a:rPr lang="en-US" sz="950" dirty="0">
                <a:solidFill>
                  <a:srgbClr val="9A9DB5"/>
                </a:solidFill>
                <a:latin typeface="Calibri" pitchFamily="34" charset="0"/>
                <a:ea typeface="Calibri" pitchFamily="34" charset="-122"/>
                <a:cs typeface="Calibri" pitchFamily="34" charset="-120"/>
              </a:rPr>
              <a:t>Closing line for session 1: “Next session, these four become your penalty terms.”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420624"/>
          </a:xfrm>
          <a:prstGeom prst="ellipse">
            <a:avLst/>
          </a:prstGeom>
          <a:solidFill>
            <a:srgbClr val="E8833A"/>
          </a:solidFill>
          <a:ln/>
        </p:spPr>
      </p:sp>
      <p:sp>
        <p:nvSpPr>
          <p:cNvPr id="3" name="Text 1"/>
          <p:cNvSpPr/>
          <p:nvPr/>
        </p:nvSpPr>
        <p:spPr>
          <a:xfrm>
            <a:off x="566928" y="4206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4" name="Text 2"/>
          <p:cNvSpPr/>
          <p:nvPr/>
        </p:nvSpPr>
        <p:spPr>
          <a:xfrm>
            <a:off x="1170432" y="365760"/>
            <a:ext cx="10454335" cy="548640"/>
          </a:xfrm>
          <a:prstGeom prst="rect">
            <a:avLst/>
          </a:prstGeom>
          <a:noFill/>
          <a:ln/>
        </p:spPr>
        <p:txBody>
          <a:bodyPr wrap="square" lIns="0" tIns="0" rIns="0" bIns="0" rtlCol="0" anchor="ctr"/>
          <a:lstStyle/>
          <a:p>
            <a:pPr algn="l" indent="0" marL="0">
              <a:buNone/>
            </a:pPr>
            <a:r>
              <a:rPr lang="en-US" sz="3000" b="1" dirty="0">
                <a:solidFill>
                  <a:srgbClr val="1A1B3A"/>
                </a:solidFill>
                <a:latin typeface="Cambria" pitchFamily="34" charset="0"/>
                <a:ea typeface="Cambria" pitchFamily="34" charset="-122"/>
                <a:cs typeface="Cambria" pitchFamily="34" charset="-120"/>
              </a:rPr>
              <a:t>The data: synthetic, Dell-shaped, reproducible</a:t>
            </a:r>
            <a:endParaRPr lang="en-US" sz="3000" dirty="0"/>
          </a:p>
        </p:txBody>
      </p:sp>
      <p:sp>
        <p:nvSpPr>
          <p:cNvPr id="5" name="Text 3"/>
          <p:cNvSpPr/>
          <p:nvPr/>
        </p:nvSpPr>
        <p:spPr>
          <a:xfrm>
            <a:off x="1170432" y="932688"/>
            <a:ext cx="10454335" cy="329184"/>
          </a:xfrm>
          <a:prstGeom prst="rect">
            <a:avLst/>
          </a:prstGeom>
          <a:noFill/>
          <a:ln/>
        </p:spPr>
        <p:txBody>
          <a:bodyPr wrap="square" lIns="0" tIns="0" rIns="0" bIns="0" rtlCol="0" anchor="t"/>
          <a:lstStyle/>
          <a:p>
            <a:pPr algn="l" indent="0" marL="0">
              <a:buNone/>
            </a:pPr>
            <a:r>
              <a:rPr lang="en-US" sz="1400" i="1" dirty="0">
                <a:solidFill>
                  <a:srgbClr val="6B6E8A"/>
                </a:solidFill>
                <a:latin typeface="Calibri" pitchFamily="34" charset="0"/>
                <a:ea typeface="Calibri" pitchFamily="34" charset="-122"/>
                <a:cs typeface="Calibri" pitchFamily="34" charset="-120"/>
              </a:rPr>
              <a:t>885 anchor cities · seed 42 · schema v7 · no NDA friction</a:t>
            </a:r>
            <a:endParaRPr lang="en-US" sz="1400" dirty="0"/>
          </a:p>
        </p:txBody>
      </p:sp>
      <p:sp>
        <p:nvSpPr>
          <p:cNvPr id="6" name="Text 4"/>
          <p:cNvSpPr/>
          <p:nvPr/>
        </p:nvSpPr>
        <p:spPr>
          <a:xfrm>
            <a:off x="877824" y="1627632"/>
            <a:ext cx="1280160" cy="274320"/>
          </a:xfrm>
          <a:prstGeom prst="rect">
            <a:avLst/>
          </a:prstGeom>
          <a:noFill/>
          <a:ln/>
        </p:spPr>
        <p:txBody>
          <a:bodyPr wrap="square" lIns="0" tIns="0" rIns="0" bIns="0" rtlCol="0" anchor="ctr"/>
          <a:lstStyle/>
          <a:p>
            <a:pPr indent="0" marL="0">
              <a:buNone/>
            </a:pPr>
            <a:endParaRPr lang="en-US" sz="1000" dirty="0"/>
          </a:p>
        </p:txBody>
      </p:sp>
      <p:sp>
        <p:nvSpPr>
          <p:cNvPr id="7" name="Text 5"/>
          <p:cNvSpPr/>
          <p:nvPr/>
        </p:nvSpPr>
        <p:spPr>
          <a:xfrm>
            <a:off x="2212848" y="1627632"/>
            <a:ext cx="1005840" cy="274320"/>
          </a:xfrm>
          <a:prstGeom prst="rect">
            <a:avLst/>
          </a:prstGeom>
          <a:noFill/>
          <a:ln/>
        </p:spPr>
        <p:txBody>
          <a:bodyPr wrap="square" lIns="0" tIns="0" rIns="0" bIns="0" rtlCol="0" anchor="ctr"/>
          <a:lstStyle/>
          <a:p>
            <a:pPr indent="0" marL="0">
              <a:buNone/>
            </a:pPr>
            <a:r>
              <a:rPr lang="en-US" sz="1000" b="1" spc="120" kern="0" dirty="0">
                <a:solidFill>
                  <a:srgbClr val="6B6E8A"/>
                </a:solidFill>
                <a:latin typeface="Calibri" pitchFamily="34" charset="0"/>
                <a:ea typeface="Calibri" pitchFamily="34" charset="-122"/>
                <a:cs typeface="Calibri" pitchFamily="34" charset="-120"/>
              </a:rPr>
              <a:t>HUBS</a:t>
            </a:r>
            <a:endParaRPr lang="en-US" sz="1000" dirty="0"/>
          </a:p>
        </p:txBody>
      </p:sp>
      <p:sp>
        <p:nvSpPr>
          <p:cNvPr id="8" name="Text 6"/>
          <p:cNvSpPr/>
          <p:nvPr/>
        </p:nvSpPr>
        <p:spPr>
          <a:xfrm>
            <a:off x="3310128" y="1627632"/>
            <a:ext cx="1005840" cy="274320"/>
          </a:xfrm>
          <a:prstGeom prst="rect">
            <a:avLst/>
          </a:prstGeom>
          <a:noFill/>
          <a:ln/>
        </p:spPr>
        <p:txBody>
          <a:bodyPr wrap="square" lIns="0" tIns="0" rIns="0" bIns="0" rtlCol="0" anchor="ctr"/>
          <a:lstStyle/>
          <a:p>
            <a:pPr indent="0" marL="0">
              <a:buNone/>
            </a:pPr>
            <a:r>
              <a:rPr lang="en-US" sz="1000" b="1" spc="120" kern="0" dirty="0">
                <a:solidFill>
                  <a:srgbClr val="6B6E8A"/>
                </a:solidFill>
                <a:latin typeface="Calibri" pitchFamily="34" charset="0"/>
                <a:ea typeface="Calibri" pitchFamily="34" charset="-122"/>
                <a:cs typeface="Calibri" pitchFamily="34" charset="-120"/>
              </a:rPr>
              <a:t>ZIPS</a:t>
            </a:r>
            <a:endParaRPr lang="en-US" sz="1000" dirty="0"/>
          </a:p>
        </p:txBody>
      </p:sp>
      <p:sp>
        <p:nvSpPr>
          <p:cNvPr id="9" name="Text 7"/>
          <p:cNvSpPr/>
          <p:nvPr/>
        </p:nvSpPr>
        <p:spPr>
          <a:xfrm>
            <a:off x="4407408" y="1627632"/>
            <a:ext cx="1097280" cy="274320"/>
          </a:xfrm>
          <a:prstGeom prst="rect">
            <a:avLst/>
          </a:prstGeom>
          <a:noFill/>
          <a:ln/>
        </p:spPr>
        <p:txBody>
          <a:bodyPr wrap="square" lIns="0" tIns="0" rIns="0" bIns="0" rtlCol="0" anchor="ctr"/>
          <a:lstStyle/>
          <a:p>
            <a:pPr indent="0" marL="0">
              <a:buNone/>
            </a:pPr>
            <a:r>
              <a:rPr lang="en-US" sz="1000" b="1" spc="120" kern="0" dirty="0">
                <a:solidFill>
                  <a:srgbClr val="6B6E8A"/>
                </a:solidFill>
                <a:latin typeface="Calibri" pitchFamily="34" charset="0"/>
                <a:ea typeface="Calibri" pitchFamily="34" charset="-122"/>
                <a:cs typeface="Calibri" pitchFamily="34" charset="-120"/>
              </a:rPr>
              <a:t>PARTS</a:t>
            </a:r>
            <a:endParaRPr lang="en-US" sz="1000" dirty="0"/>
          </a:p>
        </p:txBody>
      </p:sp>
      <p:sp>
        <p:nvSpPr>
          <p:cNvPr id="10" name="Text 8"/>
          <p:cNvSpPr/>
          <p:nvPr/>
        </p:nvSpPr>
        <p:spPr>
          <a:xfrm>
            <a:off x="5596128" y="1627632"/>
            <a:ext cx="1920240" cy="274320"/>
          </a:xfrm>
          <a:prstGeom prst="rect">
            <a:avLst/>
          </a:prstGeom>
          <a:noFill/>
          <a:ln/>
        </p:spPr>
        <p:txBody>
          <a:bodyPr wrap="square" lIns="0" tIns="0" rIns="0" bIns="0" rtlCol="0" anchor="ctr"/>
          <a:lstStyle/>
          <a:p>
            <a:pPr indent="0" marL="0">
              <a:buNone/>
            </a:pPr>
            <a:r>
              <a:rPr lang="en-US" sz="1000" b="1" spc="120" kern="0" dirty="0">
                <a:solidFill>
                  <a:srgbClr val="6B6E8A"/>
                </a:solidFill>
                <a:latin typeface="Calibri" pitchFamily="34" charset="0"/>
                <a:ea typeface="Calibri" pitchFamily="34" charset="-122"/>
                <a:cs typeface="Calibri" pitchFamily="34" charset="-120"/>
              </a:rPr>
              <a:t>DEMAND ROWS</a:t>
            </a:r>
            <a:endParaRPr lang="en-US" sz="1000" dirty="0"/>
          </a:p>
        </p:txBody>
      </p:sp>
      <p:sp>
        <p:nvSpPr>
          <p:cNvPr id="11" name="Text 9"/>
          <p:cNvSpPr/>
          <p:nvPr/>
        </p:nvSpPr>
        <p:spPr>
          <a:xfrm>
            <a:off x="7607808" y="1627632"/>
            <a:ext cx="2926080" cy="274320"/>
          </a:xfrm>
          <a:prstGeom prst="rect">
            <a:avLst/>
          </a:prstGeom>
          <a:noFill/>
          <a:ln/>
        </p:spPr>
        <p:txBody>
          <a:bodyPr wrap="square" lIns="0" tIns="0" rIns="0" bIns="0" rtlCol="0" anchor="ctr"/>
          <a:lstStyle/>
          <a:p>
            <a:pPr indent="0" marL="0">
              <a:buNone/>
            </a:pPr>
            <a:r>
              <a:rPr lang="en-US" sz="1000" b="1" spc="120" kern="0" dirty="0">
                <a:solidFill>
                  <a:srgbClr val="6B6E8A"/>
                </a:solidFill>
                <a:latin typeface="Calibri" pitchFamily="34" charset="0"/>
                <a:ea typeface="Calibri" pitchFamily="34" charset="-122"/>
                <a:cs typeface="Calibri" pitchFamily="34" charset="-120"/>
              </a:rPr>
              <a:t>AVG ELIGIBLE HUBS / ZIP</a:t>
            </a:r>
            <a:endParaRPr lang="en-US" sz="1000" dirty="0"/>
          </a:p>
        </p:txBody>
      </p:sp>
      <p:sp>
        <p:nvSpPr>
          <p:cNvPr id="12" name="Shape 10"/>
          <p:cNvSpPr/>
          <p:nvPr/>
        </p:nvSpPr>
        <p:spPr>
          <a:xfrm>
            <a:off x="566928" y="1975104"/>
            <a:ext cx="11057839" cy="676656"/>
          </a:xfrm>
          <a:prstGeom prst="roundRect">
            <a:avLst>
              <a:gd name="adj" fmla="val 10811"/>
            </a:avLst>
          </a:prstGeom>
          <a:solidFill>
            <a:srgbClr val="F1F2F8"/>
          </a:solidFill>
          <a:ln w="12700">
            <a:solidFill>
              <a:srgbClr val="E2E4EF"/>
            </a:solidFill>
            <a:prstDash val="solid"/>
          </a:ln>
        </p:spPr>
      </p:sp>
      <p:sp>
        <p:nvSpPr>
          <p:cNvPr id="13" name="Text 11"/>
          <p:cNvSpPr/>
          <p:nvPr/>
        </p:nvSpPr>
        <p:spPr>
          <a:xfrm>
            <a:off x="877824" y="1975104"/>
            <a:ext cx="1280160" cy="676656"/>
          </a:xfrm>
          <a:prstGeom prst="rect">
            <a:avLst/>
          </a:prstGeom>
          <a:noFill/>
          <a:ln/>
        </p:spPr>
        <p:txBody>
          <a:bodyPr wrap="square" lIns="0" tIns="0" rIns="0" bIns="0" rtlCol="0" anchor="ctr"/>
          <a:lstStyle/>
          <a:p>
            <a:pPr indent="0" marL="0">
              <a:buNone/>
            </a:pPr>
            <a:r>
              <a:rPr lang="en-US" sz="1600" b="1" dirty="0">
                <a:solidFill>
                  <a:srgbClr val="1A1B3A"/>
                </a:solidFill>
                <a:latin typeface="Cambria" pitchFamily="34" charset="0"/>
                <a:ea typeface="Cambria" pitchFamily="34" charset="-122"/>
                <a:cs typeface="Cambria" pitchFamily="34" charset="-120"/>
              </a:rPr>
              <a:t>Low</a:t>
            </a:r>
            <a:endParaRPr lang="en-US" sz="1600" dirty="0"/>
          </a:p>
        </p:txBody>
      </p:sp>
      <p:sp>
        <p:nvSpPr>
          <p:cNvPr id="14" name="Text 12"/>
          <p:cNvSpPr/>
          <p:nvPr/>
        </p:nvSpPr>
        <p:spPr>
          <a:xfrm>
            <a:off x="2212848" y="1975104"/>
            <a:ext cx="1005840" cy="676656"/>
          </a:xfrm>
          <a:prstGeom prst="rect">
            <a:avLst/>
          </a:prstGeom>
          <a:noFill/>
          <a:ln/>
        </p:spPr>
        <p:txBody>
          <a:bodyPr wrap="square" lIns="0" tIns="0" rIns="0" bIns="0" rtlCol="0" anchor="ctr"/>
          <a:lstStyle/>
          <a:p>
            <a:pPr indent="0" marL="0">
              <a:buNone/>
            </a:pPr>
            <a:r>
              <a:rPr lang="en-US" sz="1400" dirty="0">
                <a:solidFill>
                  <a:srgbClr val="1A1B3A"/>
                </a:solidFill>
                <a:latin typeface="Calibri" pitchFamily="34" charset="0"/>
                <a:ea typeface="Calibri" pitchFamily="34" charset="-122"/>
                <a:cs typeface="Calibri" pitchFamily="34" charset="-120"/>
              </a:rPr>
              <a:t>200</a:t>
            </a:r>
            <a:endParaRPr lang="en-US" sz="1400" dirty="0"/>
          </a:p>
        </p:txBody>
      </p:sp>
      <p:sp>
        <p:nvSpPr>
          <p:cNvPr id="15" name="Text 13"/>
          <p:cNvSpPr/>
          <p:nvPr/>
        </p:nvSpPr>
        <p:spPr>
          <a:xfrm>
            <a:off x="3310128" y="1975104"/>
            <a:ext cx="1005840" cy="676656"/>
          </a:xfrm>
          <a:prstGeom prst="rect">
            <a:avLst/>
          </a:prstGeom>
          <a:noFill/>
          <a:ln/>
        </p:spPr>
        <p:txBody>
          <a:bodyPr wrap="square" lIns="0" tIns="0" rIns="0" bIns="0" rtlCol="0" anchor="ctr"/>
          <a:lstStyle/>
          <a:p>
            <a:pPr indent="0" marL="0">
              <a:buNone/>
            </a:pPr>
            <a:r>
              <a:rPr lang="en-US" sz="1400" dirty="0">
                <a:solidFill>
                  <a:srgbClr val="1A1B3A"/>
                </a:solidFill>
                <a:latin typeface="Calibri" pitchFamily="34" charset="0"/>
                <a:ea typeface="Calibri" pitchFamily="34" charset="-122"/>
                <a:cs typeface="Calibri" pitchFamily="34" charset="-120"/>
              </a:rPr>
              <a:t>2,000</a:t>
            </a:r>
            <a:endParaRPr lang="en-US" sz="1400" dirty="0"/>
          </a:p>
        </p:txBody>
      </p:sp>
      <p:sp>
        <p:nvSpPr>
          <p:cNvPr id="16" name="Text 14"/>
          <p:cNvSpPr/>
          <p:nvPr/>
        </p:nvSpPr>
        <p:spPr>
          <a:xfrm>
            <a:off x="4407408" y="1975104"/>
            <a:ext cx="1097280" cy="676656"/>
          </a:xfrm>
          <a:prstGeom prst="rect">
            <a:avLst/>
          </a:prstGeom>
          <a:noFill/>
          <a:ln/>
        </p:spPr>
        <p:txBody>
          <a:bodyPr wrap="square" lIns="0" tIns="0" rIns="0" bIns="0" rtlCol="0" anchor="ctr"/>
          <a:lstStyle/>
          <a:p>
            <a:pPr indent="0" marL="0">
              <a:buNone/>
            </a:pPr>
            <a:r>
              <a:rPr lang="en-US" sz="1400" dirty="0">
                <a:solidFill>
                  <a:srgbClr val="1A1B3A"/>
                </a:solidFill>
                <a:latin typeface="Calibri" pitchFamily="34" charset="0"/>
                <a:ea typeface="Calibri" pitchFamily="34" charset="-122"/>
                <a:cs typeface="Calibri" pitchFamily="34" charset="-120"/>
              </a:rPr>
              <a:t>600</a:t>
            </a:r>
            <a:endParaRPr lang="en-US" sz="1400" dirty="0"/>
          </a:p>
        </p:txBody>
      </p:sp>
      <p:sp>
        <p:nvSpPr>
          <p:cNvPr id="17" name="Text 15"/>
          <p:cNvSpPr/>
          <p:nvPr/>
        </p:nvSpPr>
        <p:spPr>
          <a:xfrm>
            <a:off x="5596128" y="1975104"/>
            <a:ext cx="1920240" cy="676656"/>
          </a:xfrm>
          <a:prstGeom prst="rect">
            <a:avLst/>
          </a:prstGeom>
          <a:noFill/>
          <a:ln/>
        </p:spPr>
        <p:txBody>
          <a:bodyPr wrap="square" lIns="0" tIns="0" rIns="0" bIns="0" rtlCol="0" anchor="ctr"/>
          <a:lstStyle/>
          <a:p>
            <a:pPr indent="0" marL="0">
              <a:buNone/>
            </a:pPr>
            <a:r>
              <a:rPr lang="en-US" sz="1400" dirty="0">
                <a:solidFill>
                  <a:srgbClr val="1A1B3A"/>
                </a:solidFill>
                <a:latin typeface="Calibri" pitchFamily="34" charset="0"/>
                <a:ea typeface="Calibri" pitchFamily="34" charset="-122"/>
                <a:cs typeface="Calibri" pitchFamily="34" charset="-120"/>
              </a:rPr>
              <a:t>115,710</a:t>
            </a:r>
            <a:endParaRPr lang="en-US" sz="1400" dirty="0"/>
          </a:p>
        </p:txBody>
      </p:sp>
      <p:sp>
        <p:nvSpPr>
          <p:cNvPr id="18" name="Text 16"/>
          <p:cNvSpPr/>
          <p:nvPr/>
        </p:nvSpPr>
        <p:spPr>
          <a:xfrm>
            <a:off x="7607808" y="1975104"/>
            <a:ext cx="2926080" cy="676656"/>
          </a:xfrm>
          <a:prstGeom prst="rect">
            <a:avLst/>
          </a:prstGeom>
          <a:noFill/>
          <a:ln/>
        </p:spPr>
        <p:txBody>
          <a:bodyPr wrap="square" lIns="0" tIns="0" rIns="0" bIns="0" rtlCol="0" anchor="ctr"/>
          <a:lstStyle/>
          <a:p>
            <a:pPr indent="0" marL="0">
              <a:buNone/>
            </a:pPr>
            <a:r>
              <a:rPr lang="en-US" sz="1400" b="1" dirty="0">
                <a:solidFill>
                  <a:srgbClr val="E8833A"/>
                </a:solidFill>
                <a:latin typeface="Calibri" pitchFamily="34" charset="0"/>
                <a:ea typeface="Calibri" pitchFamily="34" charset="-122"/>
                <a:cs typeface="Calibri" pitchFamily="34" charset="-120"/>
              </a:rPr>
              <a:t>4.4</a:t>
            </a:r>
            <a:endParaRPr lang="en-US" sz="1400" dirty="0"/>
          </a:p>
        </p:txBody>
      </p:sp>
      <p:sp>
        <p:nvSpPr>
          <p:cNvPr id="19" name="Shape 17"/>
          <p:cNvSpPr/>
          <p:nvPr/>
        </p:nvSpPr>
        <p:spPr>
          <a:xfrm>
            <a:off x="566928" y="2761488"/>
            <a:ext cx="11057839" cy="676656"/>
          </a:xfrm>
          <a:prstGeom prst="roundRect">
            <a:avLst>
              <a:gd name="adj" fmla="val 10811"/>
            </a:avLst>
          </a:prstGeom>
          <a:solidFill>
            <a:srgbClr val="F1F2F8"/>
          </a:solidFill>
          <a:ln w="12700">
            <a:solidFill>
              <a:srgbClr val="E2E4EF"/>
            </a:solidFill>
            <a:prstDash val="solid"/>
          </a:ln>
        </p:spPr>
      </p:sp>
      <p:sp>
        <p:nvSpPr>
          <p:cNvPr id="20" name="Text 18"/>
          <p:cNvSpPr/>
          <p:nvPr/>
        </p:nvSpPr>
        <p:spPr>
          <a:xfrm>
            <a:off x="877824" y="2761488"/>
            <a:ext cx="1280160" cy="676656"/>
          </a:xfrm>
          <a:prstGeom prst="rect">
            <a:avLst/>
          </a:prstGeom>
          <a:noFill/>
          <a:ln/>
        </p:spPr>
        <p:txBody>
          <a:bodyPr wrap="square" lIns="0" tIns="0" rIns="0" bIns="0" rtlCol="0" anchor="ctr"/>
          <a:lstStyle/>
          <a:p>
            <a:pPr indent="0" marL="0">
              <a:buNone/>
            </a:pPr>
            <a:r>
              <a:rPr lang="en-US" sz="1600" b="1" dirty="0">
                <a:solidFill>
                  <a:srgbClr val="1A1B3A"/>
                </a:solidFill>
                <a:latin typeface="Cambria" pitchFamily="34" charset="0"/>
                <a:ea typeface="Cambria" pitchFamily="34" charset="-122"/>
                <a:cs typeface="Cambria" pitchFamily="34" charset="-120"/>
              </a:rPr>
              <a:t>Medium</a:t>
            </a:r>
            <a:endParaRPr lang="en-US" sz="1600" dirty="0"/>
          </a:p>
        </p:txBody>
      </p:sp>
      <p:sp>
        <p:nvSpPr>
          <p:cNvPr id="21" name="Text 19"/>
          <p:cNvSpPr/>
          <p:nvPr/>
        </p:nvSpPr>
        <p:spPr>
          <a:xfrm>
            <a:off x="2212848" y="2761488"/>
            <a:ext cx="1005840" cy="676656"/>
          </a:xfrm>
          <a:prstGeom prst="rect">
            <a:avLst/>
          </a:prstGeom>
          <a:noFill/>
          <a:ln/>
        </p:spPr>
        <p:txBody>
          <a:bodyPr wrap="square" lIns="0" tIns="0" rIns="0" bIns="0" rtlCol="0" anchor="ctr"/>
          <a:lstStyle/>
          <a:p>
            <a:pPr indent="0" marL="0">
              <a:buNone/>
            </a:pPr>
            <a:r>
              <a:rPr lang="en-US" sz="1400" dirty="0">
                <a:solidFill>
                  <a:srgbClr val="1A1B3A"/>
                </a:solidFill>
                <a:latin typeface="Calibri" pitchFamily="34" charset="0"/>
                <a:ea typeface="Calibri" pitchFamily="34" charset="-122"/>
                <a:cs typeface="Calibri" pitchFamily="34" charset="-120"/>
              </a:rPr>
              <a:t>500</a:t>
            </a:r>
            <a:endParaRPr lang="en-US" sz="1400" dirty="0"/>
          </a:p>
        </p:txBody>
      </p:sp>
      <p:sp>
        <p:nvSpPr>
          <p:cNvPr id="22" name="Text 20"/>
          <p:cNvSpPr/>
          <p:nvPr/>
        </p:nvSpPr>
        <p:spPr>
          <a:xfrm>
            <a:off x="3310128" y="2761488"/>
            <a:ext cx="1005840" cy="676656"/>
          </a:xfrm>
          <a:prstGeom prst="rect">
            <a:avLst/>
          </a:prstGeom>
          <a:noFill/>
          <a:ln/>
        </p:spPr>
        <p:txBody>
          <a:bodyPr wrap="square" lIns="0" tIns="0" rIns="0" bIns="0" rtlCol="0" anchor="ctr"/>
          <a:lstStyle/>
          <a:p>
            <a:pPr indent="0" marL="0">
              <a:buNone/>
            </a:pPr>
            <a:r>
              <a:rPr lang="en-US" sz="1400" dirty="0">
                <a:solidFill>
                  <a:srgbClr val="1A1B3A"/>
                </a:solidFill>
                <a:latin typeface="Calibri" pitchFamily="34" charset="0"/>
                <a:ea typeface="Calibri" pitchFamily="34" charset="-122"/>
                <a:cs typeface="Calibri" pitchFamily="34" charset="-120"/>
              </a:rPr>
              <a:t>2,000</a:t>
            </a:r>
            <a:endParaRPr lang="en-US" sz="1400" dirty="0"/>
          </a:p>
        </p:txBody>
      </p:sp>
      <p:sp>
        <p:nvSpPr>
          <p:cNvPr id="23" name="Text 21"/>
          <p:cNvSpPr/>
          <p:nvPr/>
        </p:nvSpPr>
        <p:spPr>
          <a:xfrm>
            <a:off x="4407408" y="2761488"/>
            <a:ext cx="1097280" cy="676656"/>
          </a:xfrm>
          <a:prstGeom prst="rect">
            <a:avLst/>
          </a:prstGeom>
          <a:noFill/>
          <a:ln/>
        </p:spPr>
        <p:txBody>
          <a:bodyPr wrap="square" lIns="0" tIns="0" rIns="0" bIns="0" rtlCol="0" anchor="ctr"/>
          <a:lstStyle/>
          <a:p>
            <a:pPr indent="0" marL="0">
              <a:buNone/>
            </a:pPr>
            <a:r>
              <a:rPr lang="en-US" sz="1400" dirty="0">
                <a:solidFill>
                  <a:srgbClr val="1A1B3A"/>
                </a:solidFill>
                <a:latin typeface="Calibri" pitchFamily="34" charset="0"/>
                <a:ea typeface="Calibri" pitchFamily="34" charset="-122"/>
                <a:cs typeface="Calibri" pitchFamily="34" charset="-120"/>
              </a:rPr>
              <a:t>800</a:t>
            </a:r>
            <a:endParaRPr lang="en-US" sz="1400" dirty="0"/>
          </a:p>
        </p:txBody>
      </p:sp>
      <p:sp>
        <p:nvSpPr>
          <p:cNvPr id="24" name="Text 22"/>
          <p:cNvSpPr/>
          <p:nvPr/>
        </p:nvSpPr>
        <p:spPr>
          <a:xfrm>
            <a:off x="5596128" y="2761488"/>
            <a:ext cx="1920240" cy="676656"/>
          </a:xfrm>
          <a:prstGeom prst="rect">
            <a:avLst/>
          </a:prstGeom>
          <a:noFill/>
          <a:ln/>
        </p:spPr>
        <p:txBody>
          <a:bodyPr wrap="square" lIns="0" tIns="0" rIns="0" bIns="0" rtlCol="0" anchor="ctr"/>
          <a:lstStyle/>
          <a:p>
            <a:pPr indent="0" marL="0">
              <a:buNone/>
            </a:pPr>
            <a:r>
              <a:rPr lang="en-US" sz="1400" dirty="0">
                <a:solidFill>
                  <a:srgbClr val="1A1B3A"/>
                </a:solidFill>
                <a:latin typeface="Calibri" pitchFamily="34" charset="0"/>
                <a:ea typeface="Calibri" pitchFamily="34" charset="-122"/>
                <a:cs typeface="Calibri" pitchFamily="34" charset="-120"/>
              </a:rPr>
              <a:t>147,293</a:t>
            </a:r>
            <a:endParaRPr lang="en-US" sz="1400" dirty="0"/>
          </a:p>
        </p:txBody>
      </p:sp>
      <p:sp>
        <p:nvSpPr>
          <p:cNvPr id="25" name="Text 23"/>
          <p:cNvSpPr/>
          <p:nvPr/>
        </p:nvSpPr>
        <p:spPr>
          <a:xfrm>
            <a:off x="7607808" y="2761488"/>
            <a:ext cx="2926080" cy="676656"/>
          </a:xfrm>
          <a:prstGeom prst="rect">
            <a:avLst/>
          </a:prstGeom>
          <a:noFill/>
          <a:ln/>
        </p:spPr>
        <p:txBody>
          <a:bodyPr wrap="square" lIns="0" tIns="0" rIns="0" bIns="0" rtlCol="0" anchor="ctr"/>
          <a:lstStyle/>
          <a:p>
            <a:pPr indent="0" marL="0">
              <a:buNone/>
            </a:pPr>
            <a:r>
              <a:rPr lang="en-US" sz="1400" b="1" dirty="0">
                <a:solidFill>
                  <a:srgbClr val="E8833A"/>
                </a:solidFill>
                <a:latin typeface="Calibri" pitchFamily="34" charset="0"/>
                <a:ea typeface="Calibri" pitchFamily="34" charset="-122"/>
                <a:cs typeface="Calibri" pitchFamily="34" charset="-120"/>
              </a:rPr>
              <a:t>7.7</a:t>
            </a:r>
            <a:endParaRPr lang="en-US" sz="1400" dirty="0"/>
          </a:p>
        </p:txBody>
      </p:sp>
      <p:sp>
        <p:nvSpPr>
          <p:cNvPr id="26" name="Shape 24"/>
          <p:cNvSpPr/>
          <p:nvPr/>
        </p:nvSpPr>
        <p:spPr>
          <a:xfrm>
            <a:off x="566928" y="3547872"/>
            <a:ext cx="11057839" cy="676656"/>
          </a:xfrm>
          <a:prstGeom prst="roundRect">
            <a:avLst>
              <a:gd name="adj" fmla="val 10811"/>
            </a:avLst>
          </a:prstGeom>
          <a:solidFill>
            <a:srgbClr val="F1F2F8"/>
          </a:solidFill>
          <a:ln w="12700">
            <a:solidFill>
              <a:srgbClr val="E2E4EF"/>
            </a:solidFill>
            <a:prstDash val="solid"/>
          </a:ln>
        </p:spPr>
      </p:sp>
      <p:sp>
        <p:nvSpPr>
          <p:cNvPr id="27" name="Text 25"/>
          <p:cNvSpPr/>
          <p:nvPr/>
        </p:nvSpPr>
        <p:spPr>
          <a:xfrm>
            <a:off x="877824" y="3547872"/>
            <a:ext cx="1280160" cy="676656"/>
          </a:xfrm>
          <a:prstGeom prst="rect">
            <a:avLst/>
          </a:prstGeom>
          <a:noFill/>
          <a:ln/>
        </p:spPr>
        <p:txBody>
          <a:bodyPr wrap="square" lIns="0" tIns="0" rIns="0" bIns="0" rtlCol="0" anchor="ctr"/>
          <a:lstStyle/>
          <a:p>
            <a:pPr indent="0" marL="0">
              <a:buNone/>
            </a:pPr>
            <a:r>
              <a:rPr lang="en-US" sz="1600" b="1" dirty="0">
                <a:solidFill>
                  <a:srgbClr val="1A1B3A"/>
                </a:solidFill>
                <a:latin typeface="Cambria" pitchFamily="34" charset="0"/>
                <a:ea typeface="Cambria" pitchFamily="34" charset="-122"/>
                <a:cs typeface="Cambria" pitchFamily="34" charset="-120"/>
              </a:rPr>
              <a:t>High</a:t>
            </a:r>
            <a:endParaRPr lang="en-US" sz="1600" dirty="0"/>
          </a:p>
        </p:txBody>
      </p:sp>
      <p:sp>
        <p:nvSpPr>
          <p:cNvPr id="28" name="Text 26"/>
          <p:cNvSpPr/>
          <p:nvPr/>
        </p:nvSpPr>
        <p:spPr>
          <a:xfrm>
            <a:off x="2212848" y="3547872"/>
            <a:ext cx="1005840" cy="676656"/>
          </a:xfrm>
          <a:prstGeom prst="rect">
            <a:avLst/>
          </a:prstGeom>
          <a:noFill/>
          <a:ln/>
        </p:spPr>
        <p:txBody>
          <a:bodyPr wrap="square" lIns="0" tIns="0" rIns="0" bIns="0" rtlCol="0" anchor="ctr"/>
          <a:lstStyle/>
          <a:p>
            <a:pPr indent="0" marL="0">
              <a:buNone/>
            </a:pPr>
            <a:r>
              <a:rPr lang="en-US" sz="1400" dirty="0">
                <a:solidFill>
                  <a:srgbClr val="1A1B3A"/>
                </a:solidFill>
                <a:latin typeface="Calibri" pitchFamily="34" charset="0"/>
                <a:ea typeface="Calibri" pitchFamily="34" charset="-122"/>
                <a:cs typeface="Calibri" pitchFamily="34" charset="-120"/>
              </a:rPr>
              <a:t>800</a:t>
            </a:r>
            <a:endParaRPr lang="en-US" sz="1400" dirty="0"/>
          </a:p>
        </p:txBody>
      </p:sp>
      <p:sp>
        <p:nvSpPr>
          <p:cNvPr id="29" name="Text 27"/>
          <p:cNvSpPr/>
          <p:nvPr/>
        </p:nvSpPr>
        <p:spPr>
          <a:xfrm>
            <a:off x="3310128" y="3547872"/>
            <a:ext cx="1005840" cy="676656"/>
          </a:xfrm>
          <a:prstGeom prst="rect">
            <a:avLst/>
          </a:prstGeom>
          <a:noFill/>
          <a:ln/>
        </p:spPr>
        <p:txBody>
          <a:bodyPr wrap="square" lIns="0" tIns="0" rIns="0" bIns="0" rtlCol="0" anchor="ctr"/>
          <a:lstStyle/>
          <a:p>
            <a:pPr indent="0" marL="0">
              <a:buNone/>
            </a:pPr>
            <a:r>
              <a:rPr lang="en-US" sz="1400" dirty="0">
                <a:solidFill>
                  <a:srgbClr val="1A1B3A"/>
                </a:solidFill>
                <a:latin typeface="Calibri" pitchFamily="34" charset="0"/>
                <a:ea typeface="Calibri" pitchFamily="34" charset="-122"/>
                <a:cs typeface="Calibri" pitchFamily="34" charset="-120"/>
              </a:rPr>
              <a:t>2,000</a:t>
            </a:r>
            <a:endParaRPr lang="en-US" sz="1400" dirty="0"/>
          </a:p>
        </p:txBody>
      </p:sp>
      <p:sp>
        <p:nvSpPr>
          <p:cNvPr id="30" name="Text 28"/>
          <p:cNvSpPr/>
          <p:nvPr/>
        </p:nvSpPr>
        <p:spPr>
          <a:xfrm>
            <a:off x="4407408" y="3547872"/>
            <a:ext cx="1097280" cy="676656"/>
          </a:xfrm>
          <a:prstGeom prst="rect">
            <a:avLst/>
          </a:prstGeom>
          <a:noFill/>
          <a:ln/>
        </p:spPr>
        <p:txBody>
          <a:bodyPr wrap="square" lIns="0" tIns="0" rIns="0" bIns="0" rtlCol="0" anchor="ctr"/>
          <a:lstStyle/>
          <a:p>
            <a:pPr indent="0" marL="0">
              <a:buNone/>
            </a:pPr>
            <a:r>
              <a:rPr lang="en-US" sz="1400" dirty="0">
                <a:solidFill>
                  <a:srgbClr val="1A1B3A"/>
                </a:solidFill>
                <a:latin typeface="Calibri" pitchFamily="34" charset="0"/>
                <a:ea typeface="Calibri" pitchFamily="34" charset="-122"/>
                <a:cs typeface="Calibri" pitchFamily="34" charset="-120"/>
              </a:rPr>
              <a:t>1,000</a:t>
            </a:r>
            <a:endParaRPr lang="en-US" sz="1400" dirty="0"/>
          </a:p>
        </p:txBody>
      </p:sp>
      <p:sp>
        <p:nvSpPr>
          <p:cNvPr id="31" name="Text 29"/>
          <p:cNvSpPr/>
          <p:nvPr/>
        </p:nvSpPr>
        <p:spPr>
          <a:xfrm>
            <a:off x="5596128" y="3547872"/>
            <a:ext cx="1920240" cy="676656"/>
          </a:xfrm>
          <a:prstGeom prst="rect">
            <a:avLst/>
          </a:prstGeom>
          <a:noFill/>
          <a:ln/>
        </p:spPr>
        <p:txBody>
          <a:bodyPr wrap="square" lIns="0" tIns="0" rIns="0" bIns="0" rtlCol="0" anchor="ctr"/>
          <a:lstStyle/>
          <a:p>
            <a:pPr indent="0" marL="0">
              <a:buNone/>
            </a:pPr>
            <a:r>
              <a:rPr lang="en-US" sz="1400" dirty="0">
                <a:solidFill>
                  <a:srgbClr val="1A1B3A"/>
                </a:solidFill>
                <a:latin typeface="Calibri" pitchFamily="34" charset="0"/>
                <a:ea typeface="Calibri" pitchFamily="34" charset="-122"/>
                <a:cs typeface="Calibri" pitchFamily="34" charset="-120"/>
              </a:rPr>
              <a:t>186,163</a:t>
            </a:r>
            <a:endParaRPr lang="en-US" sz="1400" dirty="0"/>
          </a:p>
        </p:txBody>
      </p:sp>
      <p:sp>
        <p:nvSpPr>
          <p:cNvPr id="32" name="Text 30"/>
          <p:cNvSpPr/>
          <p:nvPr/>
        </p:nvSpPr>
        <p:spPr>
          <a:xfrm>
            <a:off x="7607808" y="3547872"/>
            <a:ext cx="2926080" cy="676656"/>
          </a:xfrm>
          <a:prstGeom prst="rect">
            <a:avLst/>
          </a:prstGeom>
          <a:noFill/>
          <a:ln/>
        </p:spPr>
        <p:txBody>
          <a:bodyPr wrap="square" lIns="0" tIns="0" rIns="0" bIns="0" rtlCol="0" anchor="ctr"/>
          <a:lstStyle/>
          <a:p>
            <a:pPr indent="0" marL="0">
              <a:buNone/>
            </a:pPr>
            <a:r>
              <a:rPr lang="en-US" sz="1400" b="1" dirty="0">
                <a:solidFill>
                  <a:srgbClr val="E8833A"/>
                </a:solidFill>
                <a:latin typeface="Calibri" pitchFamily="34" charset="0"/>
                <a:ea typeface="Calibri" pitchFamily="34" charset="-122"/>
                <a:cs typeface="Calibri" pitchFamily="34" charset="-120"/>
              </a:rPr>
              <a:t>11.5</a:t>
            </a:r>
            <a:endParaRPr lang="en-US" sz="1400" dirty="0"/>
          </a:p>
        </p:txBody>
      </p:sp>
      <p:sp>
        <p:nvSpPr>
          <p:cNvPr id="33" name="Shape 31"/>
          <p:cNvSpPr/>
          <p:nvPr/>
        </p:nvSpPr>
        <p:spPr>
          <a:xfrm>
            <a:off x="566928" y="4498848"/>
            <a:ext cx="5806440" cy="1481328"/>
          </a:xfrm>
          <a:prstGeom prst="roundRect">
            <a:avLst>
              <a:gd name="adj" fmla="val 4938"/>
            </a:avLst>
          </a:prstGeom>
          <a:solidFill>
            <a:srgbClr val="1A1B3A"/>
          </a:solidFill>
          <a:ln w="12700">
            <a:solidFill>
              <a:srgbClr val="333333"/>
            </a:solidFill>
            <a:prstDash val="solid"/>
          </a:ln>
        </p:spPr>
      </p:sp>
      <p:sp>
        <p:nvSpPr>
          <p:cNvPr id="34" name="Text 32"/>
          <p:cNvSpPr/>
          <p:nvPr/>
        </p:nvSpPr>
        <p:spPr>
          <a:xfrm>
            <a:off x="841248" y="4645152"/>
            <a:ext cx="5257800" cy="1188720"/>
          </a:xfrm>
          <a:prstGeom prst="rect">
            <a:avLst/>
          </a:prstGeom>
          <a:noFill/>
          <a:ln/>
        </p:spPr>
        <p:txBody>
          <a:bodyPr wrap="square" lIns="0" tIns="0" rIns="0" bIns="0" rtlCol="0" anchor="t"/>
          <a:lstStyle/>
          <a:p>
            <a:pPr indent="0" marL="0">
              <a:lnSpc>
                <a:spcPts val="1900"/>
              </a:lnSpc>
              <a:buNone/>
            </a:pPr>
            <a:r>
              <a:rPr lang="en-US" sz="1400" b="1" dirty="0">
                <a:solidFill>
                  <a:srgbClr val="E8833A"/>
                </a:solidFill>
                <a:latin typeface="Calibri" pitchFamily="34" charset="0"/>
                <a:ea typeface="Calibri" pitchFamily="34" charset="-122"/>
                <a:cs typeface="Calibri" pitchFamily="34" charset="-120"/>
              </a:rPr>
              <a:t>The difficulty knob
</a:t>
            </a:r>
            <a:pPr indent="0" marL="0">
              <a:lnSpc>
                <a:spcPts val="1900"/>
              </a:lnSpc>
              <a:buNone/>
            </a:pPr>
            <a:r>
              <a:rPr lang="en-US" sz="1250" dirty="0">
                <a:solidFill>
                  <a:srgbClr val="FFFFFF"/>
                </a:solidFill>
                <a:latin typeface="Calibri" pitchFamily="34" charset="0"/>
                <a:ea typeface="Calibri" pitchFamily="34" charset="-122"/>
                <a:cs typeface="Calibri" pitchFamily="34" charset="-120"/>
              </a:rPr>
              <a:t>Zips are fixed at 2,000. What grows is hub density — and therefore the branching factor on every assignment. That is what matters for an encoding.</a:t>
            </a:r>
            <a:endParaRPr lang="en-US" sz="1400" dirty="0"/>
          </a:p>
        </p:txBody>
      </p:sp>
      <p:sp>
        <p:nvSpPr>
          <p:cNvPr id="35" name="Shape 33"/>
          <p:cNvSpPr/>
          <p:nvPr/>
        </p:nvSpPr>
        <p:spPr>
          <a:xfrm>
            <a:off x="6647688" y="4498848"/>
            <a:ext cx="4977079" cy="1481328"/>
          </a:xfrm>
          <a:prstGeom prst="roundRect">
            <a:avLst>
              <a:gd name="adj" fmla="val 4938"/>
            </a:avLst>
          </a:prstGeom>
          <a:solidFill>
            <a:srgbClr val="F1F2F8"/>
          </a:solidFill>
          <a:ln w="12700">
            <a:solidFill>
              <a:srgbClr val="E2E4EF"/>
            </a:solidFill>
            <a:prstDash val="solid"/>
          </a:ln>
        </p:spPr>
      </p:sp>
      <p:sp>
        <p:nvSpPr>
          <p:cNvPr id="36" name="Text 34"/>
          <p:cNvSpPr/>
          <p:nvPr/>
        </p:nvSpPr>
        <p:spPr>
          <a:xfrm>
            <a:off x="6922008" y="4645152"/>
            <a:ext cx="4428439" cy="1188720"/>
          </a:xfrm>
          <a:prstGeom prst="rect">
            <a:avLst/>
          </a:prstGeom>
          <a:noFill/>
          <a:ln/>
        </p:spPr>
        <p:txBody>
          <a:bodyPr wrap="square" lIns="0" tIns="0" rIns="0" bIns="0" rtlCol="0" anchor="t"/>
          <a:lstStyle/>
          <a:p>
            <a:pPr indent="0" marL="0">
              <a:lnSpc>
                <a:spcPts val="1800"/>
              </a:lnSpc>
              <a:buNone/>
            </a:pPr>
            <a:r>
              <a:rPr lang="en-US" sz="1300" b="1" dirty="0">
                <a:solidFill>
                  <a:srgbClr val="1A1B3A"/>
                </a:solidFill>
                <a:latin typeface="Calibri" pitchFamily="34" charset="0"/>
                <a:ea typeface="Calibri" pitchFamily="34" charset="-122"/>
                <a:cs typeface="Calibri" pitchFamily="34" charset="-120"/>
              </a:rPr>
              <a:t>Shared parameters across all three
</a:t>
            </a:r>
            <a:pPr indent="0" marL="0">
              <a:lnSpc>
                <a:spcPts val="1800"/>
              </a:lnSpc>
              <a:buNone/>
            </a:pPr>
            <a:r>
              <a:rPr lang="en-US" sz="1200" dirty="0">
                <a:solidFill>
                  <a:srgbClr val="6B6E8A"/>
                </a:solidFill>
                <a:latin typeface="Calibri" pitchFamily="34" charset="0"/>
                <a:ea typeface="Calibri" pitchFamily="34" charset="-122"/>
                <a:cs typeface="Calibri" pitchFamily="34" charset="-120"/>
              </a:rPr>
              <a:t>Base 20 mi · penalty starts 130 mi · hard cap 180 mi · transfer C = 50 · λ₁ = λ₂ = 1.0, λ₃ = 0.25</a:t>
            </a:r>
            <a:endParaRPr lang="en-US" sz="1300" dirty="0"/>
          </a:p>
        </p:txBody>
      </p:sp>
      <p:sp>
        <p:nvSpPr>
          <p:cNvPr id="37" name="Text 35"/>
          <p:cNvSpPr/>
          <p:nvPr/>
        </p:nvSpPr>
        <p:spPr>
          <a:xfrm>
            <a:off x="566928" y="6382512"/>
            <a:ext cx="11057839" cy="274320"/>
          </a:xfrm>
          <a:prstGeom prst="rect">
            <a:avLst/>
          </a:prstGeom>
          <a:noFill/>
          <a:ln/>
        </p:spPr>
        <p:txBody>
          <a:bodyPr wrap="square" lIns="0" tIns="0" rIns="0" bIns="0" rtlCol="0" anchor="ctr"/>
          <a:lstStyle/>
          <a:p>
            <a:pPr algn="l" indent="0" marL="0">
              <a:buNone/>
            </a:pPr>
            <a:r>
              <a:rPr lang="en-US" sz="950" dirty="0">
                <a:solidFill>
                  <a:srgbClr val="9A9DB5"/>
                </a:solidFill>
                <a:latin typeface="Calibri" pitchFamily="34" charset="0"/>
                <a:ea typeface="Calibri" pitchFamily="34" charset="-122"/>
                <a:cs typeface="Calibri" pitchFamily="34" charset="-120"/>
              </a:rPr>
              <a:t>instances_low / instances_medium / instances_high — summary_report.csv, parameters.csv</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420624"/>
          </a:xfrm>
          <a:prstGeom prst="ellipse">
            <a:avLst/>
          </a:prstGeom>
          <a:solidFill>
            <a:srgbClr val="E8833A"/>
          </a:solidFill>
          <a:ln/>
        </p:spPr>
      </p:sp>
      <p:sp>
        <p:nvSpPr>
          <p:cNvPr id="3" name="Text 1"/>
          <p:cNvSpPr/>
          <p:nvPr/>
        </p:nvSpPr>
        <p:spPr>
          <a:xfrm>
            <a:off x="566928" y="4206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4" name="Text 2"/>
          <p:cNvSpPr/>
          <p:nvPr/>
        </p:nvSpPr>
        <p:spPr>
          <a:xfrm>
            <a:off x="1170432" y="365760"/>
            <a:ext cx="10454335" cy="548640"/>
          </a:xfrm>
          <a:prstGeom prst="rect">
            <a:avLst/>
          </a:prstGeom>
          <a:noFill/>
          <a:ln/>
        </p:spPr>
        <p:txBody>
          <a:bodyPr wrap="square" lIns="0" tIns="0" rIns="0" bIns="0" rtlCol="0" anchor="ctr"/>
          <a:lstStyle/>
          <a:p>
            <a:pPr algn="l" indent="0" marL="0">
              <a:buNone/>
            </a:pPr>
            <a:r>
              <a:rPr lang="en-US" sz="3000" b="1" dirty="0">
                <a:solidFill>
                  <a:srgbClr val="1A1B3A"/>
                </a:solidFill>
                <a:latin typeface="Cambria" pitchFamily="34" charset="0"/>
                <a:ea typeface="Cambria" pitchFamily="34" charset="-122"/>
                <a:cs typeface="Cambria" pitchFamily="34" charset="-120"/>
              </a:rPr>
              <a:t>The business question lives in a thin tail</a:t>
            </a:r>
            <a:endParaRPr lang="en-US" sz="3000" dirty="0"/>
          </a:p>
        </p:txBody>
      </p:sp>
      <p:sp>
        <p:nvSpPr>
          <p:cNvPr id="5" name="Text 3"/>
          <p:cNvSpPr/>
          <p:nvPr/>
        </p:nvSpPr>
        <p:spPr>
          <a:xfrm>
            <a:off x="1170432" y="932688"/>
            <a:ext cx="10454335" cy="329184"/>
          </a:xfrm>
          <a:prstGeom prst="rect">
            <a:avLst/>
          </a:prstGeom>
          <a:noFill/>
          <a:ln/>
        </p:spPr>
        <p:txBody>
          <a:bodyPr wrap="square" lIns="0" tIns="0" rIns="0" bIns="0" rtlCol="0" anchor="t"/>
          <a:lstStyle/>
          <a:p>
            <a:pPr algn="l" indent="0" marL="0">
              <a:buNone/>
            </a:pPr>
            <a:r>
              <a:rPr lang="en-US" sz="1400" i="1" dirty="0">
                <a:solidFill>
                  <a:srgbClr val="6B6E8A"/>
                </a:solidFill>
                <a:latin typeface="Calibri" pitchFamily="34" charset="0"/>
                <a:ea typeface="Calibri" pitchFamily="34" charset="-122"/>
                <a:cs typeface="Calibri" pitchFamily="34" charset="-120"/>
              </a:rPr>
              <a:t>94–96% of demand is already inside 130 miles. 100% is inside 180.</a:t>
            </a:r>
            <a:endParaRPr lang="en-US" sz="1400" dirty="0"/>
          </a:p>
        </p:txBody>
      </p:sp>
      <p:sp>
        <p:nvSpPr>
          <p:cNvPr id="6" name="Text 4"/>
          <p:cNvSpPr/>
          <p:nvPr/>
        </p:nvSpPr>
        <p:spPr>
          <a:xfrm>
            <a:off x="566928" y="1737360"/>
            <a:ext cx="3108960" cy="749808"/>
          </a:xfrm>
          <a:prstGeom prst="rect">
            <a:avLst/>
          </a:prstGeom>
          <a:noFill/>
          <a:ln/>
        </p:spPr>
        <p:txBody>
          <a:bodyPr wrap="square" lIns="0" tIns="0" rIns="0" bIns="0" rtlCol="0" anchor="ctr"/>
          <a:lstStyle/>
          <a:p>
            <a:pPr algn="l" indent="0" marL="0">
              <a:buNone/>
            </a:pPr>
            <a:r>
              <a:rPr lang="en-US" sz="4000" b="1" dirty="0">
                <a:solidFill>
                  <a:srgbClr val="2F6F8F"/>
                </a:solidFill>
                <a:latin typeface="Cambria" pitchFamily="34" charset="0"/>
                <a:ea typeface="Cambria" pitchFamily="34" charset="-122"/>
                <a:cs typeface="Cambria" pitchFamily="34" charset="-120"/>
              </a:rPr>
              <a:t>94.1%</a:t>
            </a:r>
            <a:endParaRPr lang="en-US" sz="4000" dirty="0"/>
          </a:p>
        </p:txBody>
      </p:sp>
      <p:sp>
        <p:nvSpPr>
          <p:cNvPr id="7" name="Text 5"/>
          <p:cNvSpPr/>
          <p:nvPr/>
        </p:nvSpPr>
        <p:spPr>
          <a:xfrm>
            <a:off x="566928" y="2468880"/>
            <a:ext cx="3108960" cy="274320"/>
          </a:xfrm>
          <a:prstGeom prst="rect">
            <a:avLst/>
          </a:prstGeom>
          <a:noFill/>
          <a:ln/>
        </p:spPr>
        <p:txBody>
          <a:bodyPr wrap="square" lIns="0" tIns="0" rIns="0" bIns="0" rtlCol="0" anchor="t"/>
          <a:lstStyle/>
          <a:p>
            <a:pPr algn="l" indent="0" marL="0">
              <a:buNone/>
            </a:pPr>
            <a:r>
              <a:rPr lang="en-US" sz="1250" b="1" dirty="0">
                <a:solidFill>
                  <a:srgbClr val="1A1B3A"/>
                </a:solidFill>
                <a:latin typeface="Calibri" pitchFamily="34" charset="0"/>
                <a:ea typeface="Calibri" pitchFamily="34" charset="-122"/>
                <a:cs typeface="Calibri" pitchFamily="34" charset="-120"/>
              </a:rPr>
              <a:t>LOW INSTANCE</a:t>
            </a:r>
            <a:endParaRPr lang="en-US" sz="1250" dirty="0"/>
          </a:p>
        </p:txBody>
      </p:sp>
      <p:sp>
        <p:nvSpPr>
          <p:cNvPr id="8" name="Text 6"/>
          <p:cNvSpPr/>
          <p:nvPr/>
        </p:nvSpPr>
        <p:spPr>
          <a:xfrm>
            <a:off x="566928" y="2724912"/>
            <a:ext cx="3108960" cy="274320"/>
          </a:xfrm>
          <a:prstGeom prst="rect">
            <a:avLst/>
          </a:prstGeom>
          <a:noFill/>
          <a:ln/>
        </p:spPr>
        <p:txBody>
          <a:bodyPr wrap="square" lIns="0" tIns="0" rIns="0" bIns="0" rtlCol="0" anchor="t"/>
          <a:lstStyle/>
          <a:p>
            <a:pPr algn="l" indent="0" marL="0">
              <a:buNone/>
            </a:pPr>
            <a:r>
              <a:rPr lang="en-US" sz="1050" dirty="0">
                <a:solidFill>
                  <a:srgbClr val="6B6E8A"/>
                </a:solidFill>
                <a:latin typeface="Calibri" pitchFamily="34" charset="0"/>
                <a:ea typeface="Calibri" pitchFamily="34" charset="-122"/>
                <a:cs typeface="Calibri" pitchFamily="34" charset="-120"/>
              </a:rPr>
              <a:t>within 130 mi today</a:t>
            </a:r>
            <a:endParaRPr lang="en-US" sz="1050" dirty="0"/>
          </a:p>
        </p:txBody>
      </p:sp>
      <p:sp>
        <p:nvSpPr>
          <p:cNvPr id="9" name="Text 7"/>
          <p:cNvSpPr/>
          <p:nvPr/>
        </p:nvSpPr>
        <p:spPr>
          <a:xfrm>
            <a:off x="4133088" y="1737360"/>
            <a:ext cx="3108960" cy="749808"/>
          </a:xfrm>
          <a:prstGeom prst="rect">
            <a:avLst/>
          </a:prstGeom>
          <a:noFill/>
          <a:ln/>
        </p:spPr>
        <p:txBody>
          <a:bodyPr wrap="square" lIns="0" tIns="0" rIns="0" bIns="0" rtlCol="0" anchor="ctr"/>
          <a:lstStyle/>
          <a:p>
            <a:pPr algn="l" indent="0" marL="0">
              <a:buNone/>
            </a:pPr>
            <a:r>
              <a:rPr lang="en-US" sz="4000" b="1" dirty="0">
                <a:solidFill>
                  <a:srgbClr val="2F6F8F"/>
                </a:solidFill>
                <a:latin typeface="Cambria" pitchFamily="34" charset="0"/>
                <a:ea typeface="Cambria" pitchFamily="34" charset="-122"/>
                <a:cs typeface="Cambria" pitchFamily="34" charset="-120"/>
              </a:rPr>
              <a:t>96.2%</a:t>
            </a:r>
            <a:endParaRPr lang="en-US" sz="4000" dirty="0"/>
          </a:p>
        </p:txBody>
      </p:sp>
      <p:sp>
        <p:nvSpPr>
          <p:cNvPr id="10" name="Text 8"/>
          <p:cNvSpPr/>
          <p:nvPr/>
        </p:nvSpPr>
        <p:spPr>
          <a:xfrm>
            <a:off x="4133088" y="2468880"/>
            <a:ext cx="3108960" cy="274320"/>
          </a:xfrm>
          <a:prstGeom prst="rect">
            <a:avLst/>
          </a:prstGeom>
          <a:noFill/>
          <a:ln/>
        </p:spPr>
        <p:txBody>
          <a:bodyPr wrap="square" lIns="0" tIns="0" rIns="0" bIns="0" rtlCol="0" anchor="t"/>
          <a:lstStyle/>
          <a:p>
            <a:pPr algn="l" indent="0" marL="0">
              <a:buNone/>
            </a:pPr>
            <a:r>
              <a:rPr lang="en-US" sz="1250" b="1" dirty="0">
                <a:solidFill>
                  <a:srgbClr val="1A1B3A"/>
                </a:solidFill>
                <a:latin typeface="Calibri" pitchFamily="34" charset="0"/>
                <a:ea typeface="Calibri" pitchFamily="34" charset="-122"/>
                <a:cs typeface="Calibri" pitchFamily="34" charset="-120"/>
              </a:rPr>
              <a:t>MEDIUM INSTANCE</a:t>
            </a:r>
            <a:endParaRPr lang="en-US" sz="1250" dirty="0"/>
          </a:p>
        </p:txBody>
      </p:sp>
      <p:sp>
        <p:nvSpPr>
          <p:cNvPr id="11" name="Text 9"/>
          <p:cNvSpPr/>
          <p:nvPr/>
        </p:nvSpPr>
        <p:spPr>
          <a:xfrm>
            <a:off x="4133088" y="2724912"/>
            <a:ext cx="3108960" cy="274320"/>
          </a:xfrm>
          <a:prstGeom prst="rect">
            <a:avLst/>
          </a:prstGeom>
          <a:noFill/>
          <a:ln/>
        </p:spPr>
        <p:txBody>
          <a:bodyPr wrap="square" lIns="0" tIns="0" rIns="0" bIns="0" rtlCol="0" anchor="t"/>
          <a:lstStyle/>
          <a:p>
            <a:pPr algn="l" indent="0" marL="0">
              <a:buNone/>
            </a:pPr>
            <a:r>
              <a:rPr lang="en-US" sz="1050" dirty="0">
                <a:solidFill>
                  <a:srgbClr val="6B6E8A"/>
                </a:solidFill>
                <a:latin typeface="Calibri" pitchFamily="34" charset="0"/>
                <a:ea typeface="Calibri" pitchFamily="34" charset="-122"/>
                <a:cs typeface="Calibri" pitchFamily="34" charset="-120"/>
              </a:rPr>
              <a:t>within 130 mi today</a:t>
            </a:r>
            <a:endParaRPr lang="en-US" sz="1050" dirty="0"/>
          </a:p>
        </p:txBody>
      </p:sp>
      <p:sp>
        <p:nvSpPr>
          <p:cNvPr id="12" name="Text 10"/>
          <p:cNvSpPr/>
          <p:nvPr/>
        </p:nvSpPr>
        <p:spPr>
          <a:xfrm>
            <a:off x="7699248" y="1737360"/>
            <a:ext cx="3108960" cy="749808"/>
          </a:xfrm>
          <a:prstGeom prst="rect">
            <a:avLst/>
          </a:prstGeom>
          <a:noFill/>
          <a:ln/>
        </p:spPr>
        <p:txBody>
          <a:bodyPr wrap="square" lIns="0" tIns="0" rIns="0" bIns="0" rtlCol="0" anchor="ctr"/>
          <a:lstStyle/>
          <a:p>
            <a:pPr algn="l" indent="0" marL="0">
              <a:buNone/>
            </a:pPr>
            <a:r>
              <a:rPr lang="en-US" sz="4000" b="1" dirty="0">
                <a:solidFill>
                  <a:srgbClr val="3F9E7C"/>
                </a:solidFill>
                <a:latin typeface="Cambria" pitchFamily="34" charset="0"/>
                <a:ea typeface="Cambria" pitchFamily="34" charset="-122"/>
                <a:cs typeface="Cambria" pitchFamily="34" charset="-120"/>
              </a:rPr>
              <a:t>100%</a:t>
            </a:r>
            <a:endParaRPr lang="en-US" sz="4000" dirty="0"/>
          </a:p>
        </p:txBody>
      </p:sp>
      <p:sp>
        <p:nvSpPr>
          <p:cNvPr id="13" name="Text 11"/>
          <p:cNvSpPr/>
          <p:nvPr/>
        </p:nvSpPr>
        <p:spPr>
          <a:xfrm>
            <a:off x="7699248" y="2468880"/>
            <a:ext cx="3108960" cy="274320"/>
          </a:xfrm>
          <a:prstGeom prst="rect">
            <a:avLst/>
          </a:prstGeom>
          <a:noFill/>
          <a:ln/>
        </p:spPr>
        <p:txBody>
          <a:bodyPr wrap="square" lIns="0" tIns="0" rIns="0" bIns="0" rtlCol="0" anchor="t"/>
          <a:lstStyle/>
          <a:p>
            <a:pPr algn="l" indent="0" marL="0">
              <a:buNone/>
            </a:pPr>
            <a:r>
              <a:rPr lang="en-US" sz="1250" b="1" dirty="0">
                <a:solidFill>
                  <a:srgbClr val="1A1B3A"/>
                </a:solidFill>
                <a:latin typeface="Calibri" pitchFamily="34" charset="0"/>
                <a:ea typeface="Calibri" pitchFamily="34" charset="-122"/>
                <a:cs typeface="Calibri" pitchFamily="34" charset="-120"/>
              </a:rPr>
              <a:t>ALL INSTANCES</a:t>
            </a:r>
            <a:endParaRPr lang="en-US" sz="1250" dirty="0"/>
          </a:p>
        </p:txBody>
      </p:sp>
      <p:sp>
        <p:nvSpPr>
          <p:cNvPr id="14" name="Text 12"/>
          <p:cNvSpPr/>
          <p:nvPr/>
        </p:nvSpPr>
        <p:spPr>
          <a:xfrm>
            <a:off x="7699248" y="2724912"/>
            <a:ext cx="3108960" cy="274320"/>
          </a:xfrm>
          <a:prstGeom prst="rect">
            <a:avLst/>
          </a:prstGeom>
          <a:noFill/>
          <a:ln/>
        </p:spPr>
        <p:txBody>
          <a:bodyPr wrap="square" lIns="0" tIns="0" rIns="0" bIns="0" rtlCol="0" anchor="t"/>
          <a:lstStyle/>
          <a:p>
            <a:pPr algn="l" indent="0" marL="0">
              <a:buNone/>
            </a:pPr>
            <a:r>
              <a:rPr lang="en-US" sz="1050" dirty="0">
                <a:solidFill>
                  <a:srgbClr val="6B6E8A"/>
                </a:solidFill>
                <a:latin typeface="Calibri" pitchFamily="34" charset="0"/>
                <a:ea typeface="Calibri" pitchFamily="34" charset="-122"/>
                <a:cs typeface="Calibri" pitchFamily="34" charset="-120"/>
              </a:rPr>
              <a:t>within the 180 mi hard cap</a:t>
            </a:r>
            <a:endParaRPr lang="en-US" sz="1050" dirty="0"/>
          </a:p>
        </p:txBody>
      </p:sp>
      <p:sp>
        <p:nvSpPr>
          <p:cNvPr id="15" name="Shape 13"/>
          <p:cNvSpPr/>
          <p:nvPr/>
        </p:nvSpPr>
        <p:spPr>
          <a:xfrm>
            <a:off x="566928" y="3291840"/>
            <a:ext cx="11057839" cy="13716"/>
          </a:xfrm>
          <a:prstGeom prst="rect">
            <a:avLst/>
          </a:prstGeom>
          <a:solidFill>
            <a:srgbClr val="E2E4EF"/>
          </a:solidFill>
          <a:ln w="12700">
            <a:solidFill>
              <a:srgbClr val="333333"/>
            </a:solidFill>
            <a:prstDash val="solid"/>
          </a:ln>
        </p:spPr>
      </p:sp>
      <p:sp>
        <p:nvSpPr>
          <p:cNvPr id="16" name="Text 14"/>
          <p:cNvSpPr/>
          <p:nvPr/>
        </p:nvSpPr>
        <p:spPr>
          <a:xfrm>
            <a:off x="566928" y="3520440"/>
            <a:ext cx="11057839" cy="457200"/>
          </a:xfrm>
          <a:prstGeom prst="rect">
            <a:avLst/>
          </a:prstGeom>
          <a:noFill/>
          <a:ln/>
        </p:spPr>
        <p:txBody>
          <a:bodyPr wrap="square" lIns="0" tIns="0" rIns="0" bIns="0" rtlCol="0" anchor="t"/>
          <a:lstStyle/>
          <a:p>
            <a:pPr indent="0" marL="0">
              <a:buNone/>
            </a:pPr>
            <a:r>
              <a:rPr lang="en-US" sz="1700" dirty="0">
                <a:solidFill>
                  <a:srgbClr val="1A1B3A"/>
                </a:solidFill>
                <a:latin typeface="Cambria" pitchFamily="34" charset="0"/>
                <a:ea typeface="Cambria" pitchFamily="34" charset="-122"/>
                <a:cs typeface="Cambria" pitchFamily="34" charset="-120"/>
              </a:rPr>
              <a:t>So the λ₃ SLA-risk term operates on a thin, high-leverage slice — exactly the question Dell asked.</a:t>
            </a:r>
            <a:endParaRPr lang="en-US" sz="1700" dirty="0"/>
          </a:p>
        </p:txBody>
      </p:sp>
      <p:sp>
        <p:nvSpPr>
          <p:cNvPr id="17" name="Shape 15"/>
          <p:cNvSpPr/>
          <p:nvPr/>
        </p:nvSpPr>
        <p:spPr>
          <a:xfrm>
            <a:off x="566928" y="4133088"/>
            <a:ext cx="11057839" cy="1572768"/>
          </a:xfrm>
          <a:prstGeom prst="roundRect">
            <a:avLst>
              <a:gd name="adj" fmla="val 4651"/>
            </a:avLst>
          </a:prstGeom>
          <a:solidFill>
            <a:srgbClr val="F1F2F8"/>
          </a:solidFill>
          <a:ln w="12700">
            <a:solidFill>
              <a:srgbClr val="E2E4EF"/>
            </a:solidFill>
            <a:prstDash val="solid"/>
          </a:ln>
        </p:spPr>
      </p:sp>
      <p:sp>
        <p:nvSpPr>
          <p:cNvPr id="18" name="Text 16"/>
          <p:cNvSpPr/>
          <p:nvPr/>
        </p:nvSpPr>
        <p:spPr>
          <a:xfrm>
            <a:off x="932688" y="4315968"/>
            <a:ext cx="10051999" cy="1207008"/>
          </a:xfrm>
          <a:prstGeom prst="rect">
            <a:avLst/>
          </a:prstGeom>
          <a:noFill/>
          <a:ln/>
        </p:spPr>
        <p:txBody>
          <a:bodyPr wrap="square" lIns="0" tIns="0" rIns="0" bIns="0" rtlCol="0" anchor="ctr"/>
          <a:lstStyle/>
          <a:p>
            <a:pPr indent="0" marL="0">
              <a:lnSpc>
                <a:spcPts val="2200"/>
              </a:lnSpc>
              <a:buNone/>
            </a:pPr>
            <a:r>
              <a:rPr lang="en-US" sz="1450" i="1" dirty="0">
                <a:solidFill>
                  <a:srgbClr val="1A1B3A"/>
                </a:solidFill>
                <a:latin typeface="Cambria" pitchFamily="34" charset="0"/>
                <a:ea typeface="Cambria" pitchFamily="34" charset="-122"/>
                <a:cs typeface="Cambria" pitchFamily="34" charset="-120"/>
              </a:rPr>
              <a:t>“FSLs must meet customer demand SLAs within a 130-mile radius — so is it possible to increase this, and where? If the support radius changes, what is the impact to worldwide inventory, customer SLAs, costs, existing FSL capacity, and customer satisfaction, especially for high-value / high-demand parts?”</a:t>
            </a:r>
            <a:endParaRPr lang="en-US" sz="1450" dirty="0"/>
          </a:p>
        </p:txBody>
      </p:sp>
      <p:sp>
        <p:nvSpPr>
          <p:cNvPr id="19" name="Text 17"/>
          <p:cNvSpPr/>
          <p:nvPr/>
        </p:nvSpPr>
        <p:spPr>
          <a:xfrm>
            <a:off x="566928" y="6382512"/>
            <a:ext cx="11057839" cy="274320"/>
          </a:xfrm>
          <a:prstGeom prst="rect">
            <a:avLst/>
          </a:prstGeom>
          <a:noFill/>
          <a:ln/>
        </p:spPr>
        <p:txBody>
          <a:bodyPr wrap="square" lIns="0" tIns="0" rIns="0" bIns="0" rtlCol="0" anchor="ctr"/>
          <a:lstStyle/>
          <a:p>
            <a:pPr algn="l" indent="0" marL="0">
              <a:buNone/>
            </a:pPr>
            <a:r>
              <a:rPr lang="en-US" sz="950" dirty="0">
                <a:solidFill>
                  <a:srgbClr val="9A9DB5"/>
                </a:solidFill>
                <a:latin typeface="Calibri" pitchFamily="34" charset="0"/>
                <a:ea typeface="Calibri" pitchFamily="34" charset="-122"/>
                <a:cs typeface="Calibri" pitchFamily="34" charset="-120"/>
              </a:rPr>
              <a:t>Source: SCM capstone proposal, “Key Questions to address — Recommended”</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420624"/>
          </a:xfrm>
          <a:prstGeom prst="ellipse">
            <a:avLst/>
          </a:prstGeom>
          <a:solidFill>
            <a:srgbClr val="E8833A"/>
          </a:solidFill>
          <a:ln/>
        </p:spPr>
      </p:sp>
      <p:sp>
        <p:nvSpPr>
          <p:cNvPr id="3" name="Text 1"/>
          <p:cNvSpPr/>
          <p:nvPr/>
        </p:nvSpPr>
        <p:spPr>
          <a:xfrm>
            <a:off x="566928" y="4206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4" name="Text 2"/>
          <p:cNvSpPr/>
          <p:nvPr/>
        </p:nvSpPr>
        <p:spPr>
          <a:xfrm>
            <a:off x="1170432" y="365760"/>
            <a:ext cx="10454335" cy="548640"/>
          </a:xfrm>
          <a:prstGeom prst="rect">
            <a:avLst/>
          </a:prstGeom>
          <a:noFill/>
          <a:ln/>
        </p:spPr>
        <p:txBody>
          <a:bodyPr wrap="square" lIns="0" tIns="0" rIns="0" bIns="0" rtlCol="0" anchor="ctr"/>
          <a:lstStyle/>
          <a:p>
            <a:pPr algn="l" indent="0" marL="0">
              <a:buNone/>
            </a:pPr>
            <a:r>
              <a:rPr lang="en-US" sz="3000" b="1" dirty="0">
                <a:solidFill>
                  <a:srgbClr val="1A1B3A"/>
                </a:solidFill>
                <a:latin typeface="Cambria" pitchFamily="34" charset="0"/>
                <a:ea typeface="Cambria" pitchFamily="34" charset="-122"/>
                <a:cs typeface="Cambria" pitchFamily="34" charset="-120"/>
              </a:rPr>
              <a:t>The Gurobi baseline — medium instance</a:t>
            </a:r>
            <a:endParaRPr lang="en-US" sz="3000" dirty="0"/>
          </a:p>
        </p:txBody>
      </p:sp>
      <p:sp>
        <p:nvSpPr>
          <p:cNvPr id="5" name="Text 3"/>
          <p:cNvSpPr/>
          <p:nvPr/>
        </p:nvSpPr>
        <p:spPr>
          <a:xfrm>
            <a:off x="1170432" y="932688"/>
            <a:ext cx="10454335" cy="329184"/>
          </a:xfrm>
          <a:prstGeom prst="rect">
            <a:avLst/>
          </a:prstGeom>
          <a:noFill/>
          <a:ln/>
        </p:spPr>
        <p:txBody>
          <a:bodyPr wrap="square" lIns="0" tIns="0" rIns="0" bIns="0" rtlCol="0" anchor="t"/>
          <a:lstStyle/>
          <a:p>
            <a:pPr algn="l" indent="0" marL="0">
              <a:buNone/>
            </a:pPr>
            <a:r>
              <a:rPr lang="en-US" sz="1400" i="1" dirty="0">
                <a:solidFill>
                  <a:srgbClr val="6B6E8A"/>
                </a:solidFill>
                <a:latin typeface="Calibri" pitchFamily="34" charset="0"/>
                <a:ea typeface="Calibri" pitchFamily="34" charset="-122"/>
                <a:cs typeface="Calibri" pitchFamily="34" charset="-120"/>
              </a:rPr>
              <a:t>Solved cleanly. Use the real numbers, not a summary.</a:t>
            </a:r>
            <a:endParaRPr lang="en-US" sz="1400" dirty="0"/>
          </a:p>
        </p:txBody>
      </p:sp>
      <p:sp>
        <p:nvSpPr>
          <p:cNvPr id="6" name="Text 4"/>
          <p:cNvSpPr/>
          <p:nvPr/>
        </p:nvSpPr>
        <p:spPr>
          <a:xfrm>
            <a:off x="566928" y="1691640"/>
            <a:ext cx="3291840" cy="749808"/>
          </a:xfrm>
          <a:prstGeom prst="rect">
            <a:avLst/>
          </a:prstGeom>
          <a:noFill/>
          <a:ln/>
        </p:spPr>
        <p:txBody>
          <a:bodyPr wrap="square" lIns="0" tIns="0" rIns="0" bIns="0" rtlCol="0" anchor="ctr"/>
          <a:lstStyle/>
          <a:p>
            <a:pPr algn="l" indent="0" marL="0">
              <a:buNone/>
            </a:pPr>
            <a:r>
              <a:rPr lang="en-US" sz="4000" b="1" dirty="0">
                <a:solidFill>
                  <a:srgbClr val="1A1B3A"/>
                </a:solidFill>
                <a:latin typeface="Cambria" pitchFamily="34" charset="0"/>
                <a:ea typeface="Cambria" pitchFamily="34" charset="-122"/>
                <a:cs typeface="Cambria" pitchFamily="34" charset="-120"/>
              </a:rPr>
              <a:t>$118.99M</a:t>
            </a:r>
            <a:endParaRPr lang="en-US" sz="4000" dirty="0"/>
          </a:p>
        </p:txBody>
      </p:sp>
      <p:sp>
        <p:nvSpPr>
          <p:cNvPr id="7" name="Text 5"/>
          <p:cNvSpPr/>
          <p:nvPr/>
        </p:nvSpPr>
        <p:spPr>
          <a:xfrm>
            <a:off x="566928" y="2423160"/>
            <a:ext cx="3291840" cy="274320"/>
          </a:xfrm>
          <a:prstGeom prst="rect">
            <a:avLst/>
          </a:prstGeom>
          <a:noFill/>
          <a:ln/>
        </p:spPr>
        <p:txBody>
          <a:bodyPr wrap="square" lIns="0" tIns="0" rIns="0" bIns="0" rtlCol="0" anchor="t"/>
          <a:lstStyle/>
          <a:p>
            <a:pPr algn="l" indent="0" marL="0">
              <a:buNone/>
            </a:pPr>
            <a:r>
              <a:rPr lang="en-US" sz="1250" b="1" dirty="0">
                <a:solidFill>
                  <a:srgbClr val="1A1B3A"/>
                </a:solidFill>
                <a:latin typeface="Calibri" pitchFamily="34" charset="0"/>
                <a:ea typeface="Calibri" pitchFamily="34" charset="-122"/>
                <a:cs typeface="Calibri" pitchFamily="34" charset="-120"/>
              </a:rPr>
              <a:t>TOTAL COST</a:t>
            </a:r>
            <a:endParaRPr lang="en-US" sz="1250" dirty="0"/>
          </a:p>
        </p:txBody>
      </p:sp>
      <p:sp>
        <p:nvSpPr>
          <p:cNvPr id="8" name="Text 6"/>
          <p:cNvSpPr/>
          <p:nvPr/>
        </p:nvSpPr>
        <p:spPr>
          <a:xfrm>
            <a:off x="566928" y="2679192"/>
            <a:ext cx="3291840" cy="274320"/>
          </a:xfrm>
          <a:prstGeom prst="rect">
            <a:avLst/>
          </a:prstGeom>
          <a:noFill/>
          <a:ln/>
        </p:spPr>
        <p:txBody>
          <a:bodyPr wrap="square" lIns="0" tIns="0" rIns="0" bIns="0" rtlCol="0" anchor="t"/>
          <a:lstStyle/>
          <a:p>
            <a:pPr algn="l" indent="0" marL="0">
              <a:buNone/>
            </a:pPr>
            <a:r>
              <a:rPr lang="en-US" sz="1050" dirty="0">
                <a:solidFill>
                  <a:srgbClr val="6B6E8A"/>
                </a:solidFill>
                <a:latin typeface="Calibri" pitchFamily="34" charset="0"/>
                <a:ea typeface="Calibri" pitchFamily="34" charset="-122"/>
                <a:cs typeface="Calibri" pitchFamily="34" charset="-120"/>
              </a:rPr>
              <a:t>inventory $13.3M · fixed hubs $89.0M</a:t>
            </a:r>
            <a:endParaRPr lang="en-US" sz="1050" dirty="0"/>
          </a:p>
        </p:txBody>
      </p:sp>
      <p:sp>
        <p:nvSpPr>
          <p:cNvPr id="9" name="Text 7"/>
          <p:cNvSpPr/>
          <p:nvPr/>
        </p:nvSpPr>
        <p:spPr>
          <a:xfrm>
            <a:off x="4270248" y="1691640"/>
            <a:ext cx="2743200" cy="749808"/>
          </a:xfrm>
          <a:prstGeom prst="rect">
            <a:avLst/>
          </a:prstGeom>
          <a:noFill/>
          <a:ln/>
        </p:spPr>
        <p:txBody>
          <a:bodyPr wrap="square" lIns="0" tIns="0" rIns="0" bIns="0" rtlCol="0" anchor="ctr"/>
          <a:lstStyle/>
          <a:p>
            <a:pPr algn="l" indent="0" marL="0">
              <a:buNone/>
            </a:pPr>
            <a:r>
              <a:rPr lang="en-US" sz="4000" b="1" dirty="0">
                <a:solidFill>
                  <a:srgbClr val="2F6F8F"/>
                </a:solidFill>
                <a:latin typeface="Cambria" pitchFamily="34" charset="0"/>
                <a:ea typeface="Cambria" pitchFamily="34" charset="-122"/>
                <a:cs typeface="Cambria" pitchFamily="34" charset="-120"/>
              </a:rPr>
              <a:t>966.9s</a:t>
            </a:r>
            <a:endParaRPr lang="en-US" sz="4000" dirty="0"/>
          </a:p>
        </p:txBody>
      </p:sp>
      <p:sp>
        <p:nvSpPr>
          <p:cNvPr id="10" name="Text 8"/>
          <p:cNvSpPr/>
          <p:nvPr/>
        </p:nvSpPr>
        <p:spPr>
          <a:xfrm>
            <a:off x="4270248" y="2423160"/>
            <a:ext cx="2743200" cy="274320"/>
          </a:xfrm>
          <a:prstGeom prst="rect">
            <a:avLst/>
          </a:prstGeom>
          <a:noFill/>
          <a:ln/>
        </p:spPr>
        <p:txBody>
          <a:bodyPr wrap="square" lIns="0" tIns="0" rIns="0" bIns="0" rtlCol="0" anchor="t"/>
          <a:lstStyle/>
          <a:p>
            <a:pPr algn="l" indent="0" marL="0">
              <a:buNone/>
            </a:pPr>
            <a:r>
              <a:rPr lang="en-US" sz="1250" b="1" dirty="0">
                <a:solidFill>
                  <a:srgbClr val="1A1B3A"/>
                </a:solidFill>
                <a:latin typeface="Calibri" pitchFamily="34" charset="0"/>
                <a:ea typeface="Calibri" pitchFamily="34" charset="-122"/>
                <a:cs typeface="Calibri" pitchFamily="34" charset="-120"/>
              </a:rPr>
              <a:t>WALL TIME</a:t>
            </a:r>
            <a:endParaRPr lang="en-US" sz="1250" dirty="0"/>
          </a:p>
        </p:txBody>
      </p:sp>
      <p:sp>
        <p:nvSpPr>
          <p:cNvPr id="11" name="Text 9"/>
          <p:cNvSpPr/>
          <p:nvPr/>
        </p:nvSpPr>
        <p:spPr>
          <a:xfrm>
            <a:off x="4270248" y="2679192"/>
            <a:ext cx="2743200" cy="274320"/>
          </a:xfrm>
          <a:prstGeom prst="rect">
            <a:avLst/>
          </a:prstGeom>
          <a:noFill/>
          <a:ln/>
        </p:spPr>
        <p:txBody>
          <a:bodyPr wrap="square" lIns="0" tIns="0" rIns="0" bIns="0" rtlCol="0" anchor="t"/>
          <a:lstStyle/>
          <a:p>
            <a:pPr algn="l" indent="0" marL="0">
              <a:buNone/>
            </a:pPr>
            <a:r>
              <a:rPr lang="en-US" sz="1050" dirty="0">
                <a:solidFill>
                  <a:srgbClr val="6B6E8A"/>
                </a:solidFill>
                <a:latin typeface="Calibri" pitchFamily="34" charset="0"/>
                <a:ea typeface="Calibri" pitchFamily="34" charset="-122"/>
                <a:cs typeface="Calibri" pitchFamily="34" charset="-120"/>
              </a:rPr>
              <a:t>6.0 GB peak memory</a:t>
            </a:r>
            <a:endParaRPr lang="en-US" sz="1050" dirty="0"/>
          </a:p>
        </p:txBody>
      </p:sp>
      <p:sp>
        <p:nvSpPr>
          <p:cNvPr id="12" name="Text 10"/>
          <p:cNvSpPr/>
          <p:nvPr/>
        </p:nvSpPr>
        <p:spPr>
          <a:xfrm>
            <a:off x="7516368" y="1691640"/>
            <a:ext cx="3291840" cy="749808"/>
          </a:xfrm>
          <a:prstGeom prst="rect">
            <a:avLst/>
          </a:prstGeom>
          <a:noFill/>
          <a:ln/>
        </p:spPr>
        <p:txBody>
          <a:bodyPr wrap="square" lIns="0" tIns="0" rIns="0" bIns="0" rtlCol="0" anchor="ctr"/>
          <a:lstStyle/>
          <a:p>
            <a:pPr algn="l" indent="0" marL="0">
              <a:buNone/>
            </a:pPr>
            <a:r>
              <a:rPr lang="en-US" sz="4000" b="1" dirty="0">
                <a:solidFill>
                  <a:srgbClr val="2F6F8F"/>
                </a:solidFill>
                <a:latin typeface="Cambria" pitchFamily="34" charset="0"/>
                <a:ea typeface="Cambria" pitchFamily="34" charset="-122"/>
                <a:cs typeface="Cambria" pitchFamily="34" charset="-120"/>
              </a:rPr>
              <a:t>178 / 500</a:t>
            </a:r>
            <a:endParaRPr lang="en-US" sz="4000" dirty="0"/>
          </a:p>
        </p:txBody>
      </p:sp>
      <p:sp>
        <p:nvSpPr>
          <p:cNvPr id="13" name="Text 11"/>
          <p:cNvSpPr/>
          <p:nvPr/>
        </p:nvSpPr>
        <p:spPr>
          <a:xfrm>
            <a:off x="7516368" y="2423160"/>
            <a:ext cx="3291840" cy="274320"/>
          </a:xfrm>
          <a:prstGeom prst="rect">
            <a:avLst/>
          </a:prstGeom>
          <a:noFill/>
          <a:ln/>
        </p:spPr>
        <p:txBody>
          <a:bodyPr wrap="square" lIns="0" tIns="0" rIns="0" bIns="0" rtlCol="0" anchor="t"/>
          <a:lstStyle/>
          <a:p>
            <a:pPr algn="l" indent="0" marL="0">
              <a:buNone/>
            </a:pPr>
            <a:r>
              <a:rPr lang="en-US" sz="1250" b="1" dirty="0">
                <a:solidFill>
                  <a:srgbClr val="1A1B3A"/>
                </a:solidFill>
                <a:latin typeface="Calibri" pitchFamily="34" charset="0"/>
                <a:ea typeface="Calibri" pitchFamily="34" charset="-122"/>
                <a:cs typeface="Calibri" pitchFamily="34" charset="-120"/>
              </a:rPr>
              <a:t>HUBS OPEN</a:t>
            </a:r>
            <a:endParaRPr lang="en-US" sz="1250" dirty="0"/>
          </a:p>
        </p:txBody>
      </p:sp>
      <p:sp>
        <p:nvSpPr>
          <p:cNvPr id="14" name="Text 12"/>
          <p:cNvSpPr/>
          <p:nvPr/>
        </p:nvSpPr>
        <p:spPr>
          <a:xfrm>
            <a:off x="7516368" y="2679192"/>
            <a:ext cx="3291840" cy="274320"/>
          </a:xfrm>
          <a:prstGeom prst="rect">
            <a:avLst/>
          </a:prstGeom>
          <a:noFill/>
          <a:ln/>
        </p:spPr>
        <p:txBody>
          <a:bodyPr wrap="square" lIns="0" tIns="0" rIns="0" bIns="0" rtlCol="0" anchor="t"/>
          <a:lstStyle/>
          <a:p>
            <a:pPr algn="l" indent="0" marL="0">
              <a:buNone/>
            </a:pPr>
            <a:r>
              <a:rPr lang="en-US" sz="1050" dirty="0">
                <a:solidFill>
                  <a:srgbClr val="6B6E8A"/>
                </a:solidFill>
                <a:latin typeface="Calibri" pitchFamily="34" charset="0"/>
                <a:ea typeface="Calibri" pitchFamily="34" charset="-122"/>
                <a:cs typeface="Calibri" pitchFamily="34" charset="-120"/>
              </a:rPr>
              <a:t>322 closed</a:t>
            </a:r>
            <a:endParaRPr lang="en-US" sz="1050" dirty="0"/>
          </a:p>
        </p:txBody>
      </p:sp>
      <p:sp>
        <p:nvSpPr>
          <p:cNvPr id="15" name="Shape 13"/>
          <p:cNvSpPr/>
          <p:nvPr/>
        </p:nvSpPr>
        <p:spPr>
          <a:xfrm>
            <a:off x="566928" y="3218688"/>
            <a:ext cx="11057839" cy="13716"/>
          </a:xfrm>
          <a:prstGeom prst="rect">
            <a:avLst/>
          </a:prstGeom>
          <a:solidFill>
            <a:srgbClr val="E2E4EF"/>
          </a:solidFill>
          <a:ln w="12700">
            <a:solidFill>
              <a:srgbClr val="333333"/>
            </a:solidFill>
            <a:prstDash val="solid"/>
          </a:ln>
        </p:spPr>
      </p:sp>
      <p:sp>
        <p:nvSpPr>
          <p:cNvPr id="16" name="Shape 14"/>
          <p:cNvSpPr/>
          <p:nvPr/>
        </p:nvSpPr>
        <p:spPr>
          <a:xfrm>
            <a:off x="566928" y="3474720"/>
            <a:ext cx="2627300" cy="1188720"/>
          </a:xfrm>
          <a:prstGeom prst="roundRect">
            <a:avLst>
              <a:gd name="adj" fmla="val 6154"/>
            </a:avLst>
          </a:prstGeom>
          <a:solidFill>
            <a:srgbClr val="F1F2F8"/>
          </a:solidFill>
          <a:ln w="12700">
            <a:solidFill>
              <a:srgbClr val="E2E4EF"/>
            </a:solidFill>
            <a:prstDash val="solid"/>
          </a:ln>
        </p:spPr>
      </p:sp>
      <p:sp>
        <p:nvSpPr>
          <p:cNvPr id="17" name="Text 15"/>
          <p:cNvSpPr/>
          <p:nvPr/>
        </p:nvSpPr>
        <p:spPr>
          <a:xfrm>
            <a:off x="786384" y="3621024"/>
            <a:ext cx="2188388" cy="438912"/>
          </a:xfrm>
          <a:prstGeom prst="rect">
            <a:avLst/>
          </a:prstGeom>
          <a:noFill/>
          <a:ln/>
        </p:spPr>
        <p:txBody>
          <a:bodyPr wrap="square" lIns="0" tIns="0" rIns="0" bIns="0" rtlCol="0" anchor="ctr"/>
          <a:lstStyle/>
          <a:p>
            <a:pPr indent="0" marL="0">
              <a:buNone/>
            </a:pPr>
            <a:r>
              <a:rPr lang="en-US" sz="2400" b="1" dirty="0">
                <a:solidFill>
                  <a:srgbClr val="1A1B3A"/>
                </a:solidFill>
                <a:latin typeface="Cambria" pitchFamily="34" charset="0"/>
                <a:ea typeface="Cambria" pitchFamily="34" charset="-122"/>
                <a:cs typeface="Cambria" pitchFamily="34" charset="-120"/>
              </a:rPr>
              <a:t>65,703</a:t>
            </a:r>
            <a:endParaRPr lang="en-US" sz="2400" dirty="0"/>
          </a:p>
        </p:txBody>
      </p:sp>
      <p:sp>
        <p:nvSpPr>
          <p:cNvPr id="18" name="Text 16"/>
          <p:cNvSpPr/>
          <p:nvPr/>
        </p:nvSpPr>
        <p:spPr>
          <a:xfrm>
            <a:off x="786384" y="4059936"/>
            <a:ext cx="2188388" cy="512064"/>
          </a:xfrm>
          <a:prstGeom prst="rect">
            <a:avLst/>
          </a:prstGeom>
          <a:noFill/>
          <a:ln/>
        </p:spPr>
        <p:txBody>
          <a:bodyPr wrap="square" lIns="0" tIns="0" rIns="0" bIns="0" rtlCol="0" anchor="t"/>
          <a:lstStyle/>
          <a:p>
            <a:pPr indent="0" marL="0">
              <a:lnSpc>
                <a:spcPts val="1500"/>
              </a:lnSpc>
              <a:buNone/>
            </a:pPr>
            <a:r>
              <a:rPr lang="en-US" sz="1150" dirty="0">
                <a:solidFill>
                  <a:srgbClr val="6B6E8A"/>
                </a:solidFill>
                <a:latin typeface="Calibri" pitchFamily="34" charset="0"/>
                <a:ea typeface="Calibri" pitchFamily="34" charset="-122"/>
                <a:cs typeface="Calibri" pitchFamily="34" charset="-120"/>
              </a:rPr>
              <a:t>stocked hub–part pairs</a:t>
            </a:r>
            <a:endParaRPr lang="en-US" sz="1150" dirty="0"/>
          </a:p>
        </p:txBody>
      </p:sp>
      <p:sp>
        <p:nvSpPr>
          <p:cNvPr id="19" name="Shape 17"/>
          <p:cNvSpPr/>
          <p:nvPr/>
        </p:nvSpPr>
        <p:spPr>
          <a:xfrm>
            <a:off x="3377108" y="3474720"/>
            <a:ext cx="2627300" cy="1188720"/>
          </a:xfrm>
          <a:prstGeom prst="roundRect">
            <a:avLst>
              <a:gd name="adj" fmla="val 6154"/>
            </a:avLst>
          </a:prstGeom>
          <a:solidFill>
            <a:srgbClr val="F1F2F8"/>
          </a:solidFill>
          <a:ln w="12700">
            <a:solidFill>
              <a:srgbClr val="E2E4EF"/>
            </a:solidFill>
            <a:prstDash val="solid"/>
          </a:ln>
        </p:spPr>
      </p:sp>
      <p:sp>
        <p:nvSpPr>
          <p:cNvPr id="20" name="Text 18"/>
          <p:cNvSpPr/>
          <p:nvPr/>
        </p:nvSpPr>
        <p:spPr>
          <a:xfrm>
            <a:off x="3596564" y="3621024"/>
            <a:ext cx="2188388" cy="438912"/>
          </a:xfrm>
          <a:prstGeom prst="rect">
            <a:avLst/>
          </a:prstGeom>
          <a:noFill/>
          <a:ln/>
        </p:spPr>
        <p:txBody>
          <a:bodyPr wrap="square" lIns="0" tIns="0" rIns="0" bIns="0" rtlCol="0" anchor="ctr"/>
          <a:lstStyle/>
          <a:p>
            <a:pPr indent="0" marL="0">
              <a:buNone/>
            </a:pPr>
            <a:r>
              <a:rPr lang="en-US" sz="2400" b="1" dirty="0">
                <a:solidFill>
                  <a:srgbClr val="1A1B3A"/>
                </a:solidFill>
                <a:latin typeface="Cambria" pitchFamily="34" charset="0"/>
                <a:ea typeface="Cambria" pitchFamily="34" charset="-122"/>
                <a:cs typeface="Cambria" pitchFamily="34" charset="-120"/>
              </a:rPr>
              <a:t>147,293</a:t>
            </a:r>
            <a:endParaRPr lang="en-US" sz="2400" dirty="0"/>
          </a:p>
        </p:txBody>
      </p:sp>
      <p:sp>
        <p:nvSpPr>
          <p:cNvPr id="21" name="Text 19"/>
          <p:cNvSpPr/>
          <p:nvPr/>
        </p:nvSpPr>
        <p:spPr>
          <a:xfrm>
            <a:off x="3596564" y="4059936"/>
            <a:ext cx="2188388" cy="512064"/>
          </a:xfrm>
          <a:prstGeom prst="rect">
            <a:avLst/>
          </a:prstGeom>
          <a:noFill/>
          <a:ln/>
        </p:spPr>
        <p:txBody>
          <a:bodyPr wrap="square" lIns="0" tIns="0" rIns="0" bIns="0" rtlCol="0" anchor="t"/>
          <a:lstStyle/>
          <a:p>
            <a:pPr indent="0" marL="0">
              <a:lnSpc>
                <a:spcPts val="1500"/>
              </a:lnSpc>
              <a:buNone/>
            </a:pPr>
            <a:r>
              <a:rPr lang="en-US" sz="1150" dirty="0">
                <a:solidFill>
                  <a:srgbClr val="6B6E8A"/>
                </a:solidFill>
                <a:latin typeface="Calibri" pitchFamily="34" charset="0"/>
                <a:ea typeface="Calibri" pitchFamily="34" charset="-122"/>
                <a:cs typeface="Calibri" pitchFamily="34" charset="-120"/>
              </a:rPr>
              <a:t>hub–zip–part assignments</a:t>
            </a:r>
            <a:endParaRPr lang="en-US" sz="1150" dirty="0"/>
          </a:p>
        </p:txBody>
      </p:sp>
      <p:sp>
        <p:nvSpPr>
          <p:cNvPr id="22" name="Shape 20"/>
          <p:cNvSpPr/>
          <p:nvPr/>
        </p:nvSpPr>
        <p:spPr>
          <a:xfrm>
            <a:off x="6187288" y="3474720"/>
            <a:ext cx="2627300" cy="1188720"/>
          </a:xfrm>
          <a:prstGeom prst="roundRect">
            <a:avLst>
              <a:gd name="adj" fmla="val 6154"/>
            </a:avLst>
          </a:prstGeom>
          <a:solidFill>
            <a:srgbClr val="F1F2F8"/>
          </a:solidFill>
          <a:ln w="12700">
            <a:solidFill>
              <a:srgbClr val="E2E4EF"/>
            </a:solidFill>
            <a:prstDash val="solid"/>
          </a:ln>
        </p:spPr>
      </p:sp>
      <p:sp>
        <p:nvSpPr>
          <p:cNvPr id="23" name="Text 21"/>
          <p:cNvSpPr/>
          <p:nvPr/>
        </p:nvSpPr>
        <p:spPr>
          <a:xfrm>
            <a:off x="6406744" y="3621024"/>
            <a:ext cx="2188388" cy="438912"/>
          </a:xfrm>
          <a:prstGeom prst="rect">
            <a:avLst/>
          </a:prstGeom>
          <a:noFill/>
          <a:ln/>
        </p:spPr>
        <p:txBody>
          <a:bodyPr wrap="square" lIns="0" tIns="0" rIns="0" bIns="0" rtlCol="0" anchor="ctr"/>
          <a:lstStyle/>
          <a:p>
            <a:pPr indent="0" marL="0">
              <a:buNone/>
            </a:pPr>
            <a:r>
              <a:rPr lang="en-US" sz="2400" b="1" dirty="0">
                <a:solidFill>
                  <a:srgbClr val="3F9E7C"/>
                </a:solidFill>
                <a:latin typeface="Cambria" pitchFamily="34" charset="0"/>
                <a:ea typeface="Cambria" pitchFamily="34" charset="-122"/>
                <a:cs typeface="Cambria" pitchFamily="34" charset="-120"/>
              </a:rPr>
              <a:t>0</a:t>
            </a:r>
            <a:endParaRPr lang="en-US" sz="2400" dirty="0"/>
          </a:p>
        </p:txBody>
      </p:sp>
      <p:sp>
        <p:nvSpPr>
          <p:cNvPr id="24" name="Text 22"/>
          <p:cNvSpPr/>
          <p:nvPr/>
        </p:nvSpPr>
        <p:spPr>
          <a:xfrm>
            <a:off x="6406744" y="4059936"/>
            <a:ext cx="2188388" cy="512064"/>
          </a:xfrm>
          <a:prstGeom prst="rect">
            <a:avLst/>
          </a:prstGeom>
          <a:noFill/>
          <a:ln/>
        </p:spPr>
        <p:txBody>
          <a:bodyPr wrap="square" lIns="0" tIns="0" rIns="0" bIns="0" rtlCol="0" anchor="t"/>
          <a:lstStyle/>
          <a:p>
            <a:pPr indent="0" marL="0">
              <a:lnSpc>
                <a:spcPts val="1500"/>
              </a:lnSpc>
              <a:buNone/>
            </a:pPr>
            <a:r>
              <a:rPr lang="en-US" sz="1150" dirty="0">
                <a:solidFill>
                  <a:srgbClr val="6B6E8A"/>
                </a:solidFill>
                <a:latin typeface="Calibri" pitchFamily="34" charset="0"/>
                <a:ea typeface="Calibri" pitchFamily="34" charset="-122"/>
                <a:cs typeface="Calibri" pitchFamily="34" charset="-120"/>
              </a:rPr>
              <a:t>structural violations</a:t>
            </a:r>
            <a:endParaRPr lang="en-US" sz="1150" dirty="0"/>
          </a:p>
        </p:txBody>
      </p:sp>
      <p:sp>
        <p:nvSpPr>
          <p:cNvPr id="25" name="Shape 23"/>
          <p:cNvSpPr/>
          <p:nvPr/>
        </p:nvSpPr>
        <p:spPr>
          <a:xfrm>
            <a:off x="8997467" y="3474720"/>
            <a:ext cx="2627300" cy="1188720"/>
          </a:xfrm>
          <a:prstGeom prst="roundRect">
            <a:avLst>
              <a:gd name="adj" fmla="val 6154"/>
            </a:avLst>
          </a:prstGeom>
          <a:solidFill>
            <a:srgbClr val="F1F2F8"/>
          </a:solidFill>
          <a:ln w="12700">
            <a:solidFill>
              <a:srgbClr val="E2E4EF"/>
            </a:solidFill>
            <a:prstDash val="solid"/>
          </a:ln>
        </p:spPr>
      </p:sp>
      <p:sp>
        <p:nvSpPr>
          <p:cNvPr id="26" name="Text 24"/>
          <p:cNvSpPr/>
          <p:nvPr/>
        </p:nvSpPr>
        <p:spPr>
          <a:xfrm>
            <a:off x="9216923" y="3621024"/>
            <a:ext cx="2188388" cy="438912"/>
          </a:xfrm>
          <a:prstGeom prst="rect">
            <a:avLst/>
          </a:prstGeom>
          <a:noFill/>
          <a:ln/>
        </p:spPr>
        <p:txBody>
          <a:bodyPr wrap="square" lIns="0" tIns="0" rIns="0" bIns="0" rtlCol="0" anchor="ctr"/>
          <a:lstStyle/>
          <a:p>
            <a:pPr indent="0" marL="0">
              <a:buNone/>
            </a:pPr>
            <a:r>
              <a:rPr lang="en-US" sz="2400" b="1" dirty="0">
                <a:solidFill>
                  <a:srgbClr val="1A1B3A"/>
                </a:solidFill>
                <a:latin typeface="Cambria" pitchFamily="34" charset="0"/>
                <a:ea typeface="Cambria" pitchFamily="34" charset="-122"/>
                <a:cs typeface="Cambria" pitchFamily="34" charset="-120"/>
              </a:rPr>
              <a:t>32,971</a:t>
            </a:r>
            <a:endParaRPr lang="en-US" sz="2400" dirty="0"/>
          </a:p>
        </p:txBody>
      </p:sp>
      <p:sp>
        <p:nvSpPr>
          <p:cNvPr id="27" name="Text 25"/>
          <p:cNvSpPr/>
          <p:nvPr/>
        </p:nvSpPr>
        <p:spPr>
          <a:xfrm>
            <a:off x="9216923" y="4059936"/>
            <a:ext cx="2188388" cy="512064"/>
          </a:xfrm>
          <a:prstGeom prst="rect">
            <a:avLst/>
          </a:prstGeom>
          <a:noFill/>
          <a:ln/>
        </p:spPr>
        <p:txBody>
          <a:bodyPr wrap="square" lIns="0" tIns="0" rIns="0" bIns="0" rtlCol="0" anchor="t"/>
          <a:lstStyle/>
          <a:p>
            <a:pPr indent="0" marL="0">
              <a:lnSpc>
                <a:spcPts val="1500"/>
              </a:lnSpc>
              <a:buNone/>
            </a:pPr>
            <a:r>
              <a:rPr lang="en-US" sz="1150" dirty="0">
                <a:solidFill>
                  <a:srgbClr val="6B6E8A"/>
                </a:solidFill>
                <a:latin typeface="Calibri" pitchFamily="34" charset="0"/>
                <a:ea typeface="Calibri" pitchFamily="34" charset="-122"/>
                <a:cs typeface="Calibri" pitchFamily="34" charset="-120"/>
              </a:rPr>
              <a:t>SLA distance violations (priced, not forbidden)</a:t>
            </a:r>
            <a:endParaRPr lang="en-US" sz="1150" dirty="0"/>
          </a:p>
        </p:txBody>
      </p:sp>
      <p:sp>
        <p:nvSpPr>
          <p:cNvPr id="28" name="Shape 26"/>
          <p:cNvSpPr/>
          <p:nvPr/>
        </p:nvSpPr>
        <p:spPr>
          <a:xfrm>
            <a:off x="566928" y="4901184"/>
            <a:ext cx="11057839" cy="969264"/>
          </a:xfrm>
          <a:prstGeom prst="roundRect">
            <a:avLst>
              <a:gd name="adj" fmla="val 7547"/>
            </a:avLst>
          </a:prstGeom>
          <a:solidFill>
            <a:srgbClr val="1A1B3A"/>
          </a:solidFill>
          <a:ln w="12700">
            <a:solidFill>
              <a:srgbClr val="333333"/>
            </a:solidFill>
            <a:prstDash val="solid"/>
          </a:ln>
        </p:spPr>
      </p:sp>
      <p:sp>
        <p:nvSpPr>
          <p:cNvPr id="29" name="Text 27"/>
          <p:cNvSpPr/>
          <p:nvPr/>
        </p:nvSpPr>
        <p:spPr>
          <a:xfrm>
            <a:off x="877824" y="4901184"/>
            <a:ext cx="10436047" cy="969264"/>
          </a:xfrm>
          <a:prstGeom prst="rect">
            <a:avLst/>
          </a:prstGeom>
          <a:noFill/>
          <a:ln/>
        </p:spPr>
        <p:txBody>
          <a:bodyPr wrap="square" lIns="0" tIns="0" rIns="0" bIns="0" rtlCol="0" anchor="ctr"/>
          <a:lstStyle/>
          <a:p>
            <a:pPr indent="0" marL="0">
              <a:buNone/>
            </a:pPr>
            <a:r>
              <a:rPr lang="en-US" sz="1350" b="1" dirty="0">
                <a:solidFill>
                  <a:srgbClr val="E8833A"/>
                </a:solidFill>
                <a:latin typeface="Calibri" pitchFamily="34" charset="0"/>
                <a:ea typeface="Calibri" pitchFamily="34" charset="-122"/>
                <a:cs typeface="Calibri" pitchFamily="34" charset="-120"/>
              </a:rPr>
              <a:t>Do not build a strawman.  </a:t>
            </a:r>
            <a:pPr indent="0" marL="0">
              <a:buNone/>
            </a:pPr>
            <a:r>
              <a:rPr lang="en-US" sz="1350" dirty="0">
                <a:solidFill>
                  <a:srgbClr val="FFFFFF"/>
                </a:solidFill>
                <a:latin typeface="Calibri" pitchFamily="34" charset="0"/>
                <a:ea typeface="Calibri" pitchFamily="34" charset="-122"/>
                <a:cs typeface="Calibri" pitchFamily="34" charset="-120"/>
              </a:rPr>
              <a:t>Being honest that Gurobi is strong here is what makes everything else you say credible to him.</a:t>
            </a:r>
            <a:endParaRPr lang="en-US" sz="1350" dirty="0"/>
          </a:p>
        </p:txBody>
      </p:sp>
      <p:sp>
        <p:nvSpPr>
          <p:cNvPr id="30" name="Text 28"/>
          <p:cNvSpPr/>
          <p:nvPr/>
        </p:nvSpPr>
        <p:spPr>
          <a:xfrm>
            <a:off x="566928" y="6382512"/>
            <a:ext cx="11057839" cy="274320"/>
          </a:xfrm>
          <a:prstGeom prst="rect">
            <a:avLst/>
          </a:prstGeom>
          <a:noFill/>
          <a:ln/>
        </p:spPr>
        <p:txBody>
          <a:bodyPr wrap="square" lIns="0" tIns="0" rIns="0" bIns="0" rtlCol="0" anchor="ctr"/>
          <a:lstStyle/>
          <a:p>
            <a:pPr algn="l" indent="0" marL="0">
              <a:buNone/>
            </a:pPr>
            <a:r>
              <a:rPr lang="en-US" sz="950" dirty="0">
                <a:solidFill>
                  <a:srgbClr val="9A9DB5"/>
                </a:solidFill>
                <a:latin typeface="Calibri" pitchFamily="34" charset="0"/>
                <a:ea typeface="Calibri" pitchFamily="34" charset="-122"/>
                <a:cs typeface="Calibri" pitchFamily="34" charset="-120"/>
              </a:rPr>
              <a:t>results/medium_adaptive/aligned_fsl_20260611_142021/gurobi/summary.txt</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420624"/>
          </a:xfrm>
          <a:prstGeom prst="ellipse">
            <a:avLst/>
          </a:prstGeom>
          <a:solidFill>
            <a:srgbClr val="E8833A"/>
          </a:solidFill>
          <a:ln/>
        </p:spPr>
      </p:sp>
      <p:sp>
        <p:nvSpPr>
          <p:cNvPr id="3" name="Text 1"/>
          <p:cNvSpPr/>
          <p:nvPr/>
        </p:nvSpPr>
        <p:spPr>
          <a:xfrm>
            <a:off x="566928" y="4206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4" name="Text 2"/>
          <p:cNvSpPr/>
          <p:nvPr/>
        </p:nvSpPr>
        <p:spPr>
          <a:xfrm>
            <a:off x="1170432" y="365760"/>
            <a:ext cx="10454335" cy="548640"/>
          </a:xfrm>
          <a:prstGeom prst="rect">
            <a:avLst/>
          </a:prstGeom>
          <a:noFill/>
          <a:ln/>
        </p:spPr>
        <p:txBody>
          <a:bodyPr wrap="square" lIns="0" tIns="0" rIns="0" bIns="0" rtlCol="0" anchor="ctr"/>
          <a:lstStyle/>
          <a:p>
            <a:pPr algn="l" indent="0" marL="0">
              <a:buNone/>
            </a:pPr>
            <a:r>
              <a:rPr lang="en-US" sz="3000" b="1" dirty="0">
                <a:solidFill>
                  <a:srgbClr val="1A1B3A"/>
                </a:solidFill>
                <a:latin typeface="Cambria" pitchFamily="34" charset="0"/>
                <a:ea typeface="Cambria" pitchFamily="34" charset="-122"/>
                <a:cs typeface="Cambria" pitchFamily="34" charset="-120"/>
              </a:rPr>
              <a:t>…and where it grinds — high instance</a:t>
            </a:r>
            <a:endParaRPr lang="en-US" sz="3000" dirty="0"/>
          </a:p>
        </p:txBody>
      </p:sp>
      <p:sp>
        <p:nvSpPr>
          <p:cNvPr id="5" name="Text 3"/>
          <p:cNvSpPr/>
          <p:nvPr/>
        </p:nvSpPr>
        <p:spPr>
          <a:xfrm>
            <a:off x="1170432" y="932688"/>
            <a:ext cx="10454335" cy="329184"/>
          </a:xfrm>
          <a:prstGeom prst="rect">
            <a:avLst/>
          </a:prstGeom>
          <a:noFill/>
          <a:ln/>
        </p:spPr>
        <p:txBody>
          <a:bodyPr wrap="square" lIns="0" tIns="0" rIns="0" bIns="0" rtlCol="0" anchor="t"/>
          <a:lstStyle/>
          <a:p>
            <a:pPr algn="l" indent="0" marL="0">
              <a:buNone/>
            </a:pPr>
            <a:r>
              <a:rPr lang="en-US" sz="1400" i="1" dirty="0">
                <a:solidFill>
                  <a:srgbClr val="6B6E8A"/>
                </a:solidFill>
                <a:latin typeface="Calibri" pitchFamily="34" charset="0"/>
                <a:ea typeface="Calibri" pitchFamily="34" charset="-122"/>
                <a:cs typeface="Calibri" pitchFamily="34" charset="-120"/>
              </a:rPr>
              <a:t>Your best motivation slide. Show the log, not a claim.</a:t>
            </a:r>
            <a:endParaRPr lang="en-US" sz="1400" dirty="0"/>
          </a:p>
        </p:txBody>
      </p:sp>
      <p:graphicFrame>
        <p:nvGraphicFramePr>
          <p:cNvPr id="6" name="Chart 0" descr=""/>
          <p:cNvGraphicFramePr/>
          <p:nvPr/>
        </p:nvGraphicFramePr>
        <p:xfrm>
          <a:off x="566928" y="1645920"/>
          <a:ext cx="6675120" cy="3017520"/>
        </p:xfrm>
        <a:graphic xmlns:a="http://schemas.openxmlformats.org/drawingml/2006/main">
          <a:graphicData uri="http://schemas.openxmlformats.org/drawingml/2006/chart">
            <c:chart xmlns:c="http://schemas.openxmlformats.org/drawingml/2006/chart" r:id="rId1"/>
          </a:graphicData>
        </a:graphic>
      </p:graphicFrame>
      <p:sp>
        <p:nvSpPr>
          <p:cNvPr id="7" name="Text 4"/>
          <p:cNvSpPr/>
          <p:nvPr/>
        </p:nvSpPr>
        <p:spPr>
          <a:xfrm>
            <a:off x="7562088" y="1737360"/>
            <a:ext cx="4062679" cy="749808"/>
          </a:xfrm>
          <a:prstGeom prst="rect">
            <a:avLst/>
          </a:prstGeom>
          <a:noFill/>
          <a:ln/>
        </p:spPr>
        <p:txBody>
          <a:bodyPr wrap="square" lIns="0" tIns="0" rIns="0" bIns="0" rtlCol="0" anchor="ctr"/>
          <a:lstStyle/>
          <a:p>
            <a:pPr algn="l" indent="0" marL="0">
              <a:buNone/>
            </a:pPr>
            <a:r>
              <a:rPr lang="en-US" sz="4000" b="1" dirty="0">
                <a:solidFill>
                  <a:srgbClr val="E8833A"/>
                </a:solidFill>
                <a:latin typeface="Cambria" pitchFamily="34" charset="0"/>
                <a:ea typeface="Cambria" pitchFamily="34" charset="-122"/>
                <a:cs typeface="Cambria" pitchFamily="34" charset="-120"/>
              </a:rPr>
              <a:t>8h 48m</a:t>
            </a:r>
            <a:endParaRPr lang="en-US" sz="4000" dirty="0"/>
          </a:p>
        </p:txBody>
      </p:sp>
      <p:sp>
        <p:nvSpPr>
          <p:cNvPr id="8" name="Text 5"/>
          <p:cNvSpPr/>
          <p:nvPr/>
        </p:nvSpPr>
        <p:spPr>
          <a:xfrm>
            <a:off x="7562088" y="2468880"/>
            <a:ext cx="4062679" cy="274320"/>
          </a:xfrm>
          <a:prstGeom prst="rect">
            <a:avLst/>
          </a:prstGeom>
          <a:noFill/>
          <a:ln/>
        </p:spPr>
        <p:txBody>
          <a:bodyPr wrap="square" lIns="0" tIns="0" rIns="0" bIns="0" rtlCol="0" anchor="t"/>
          <a:lstStyle/>
          <a:p>
            <a:pPr algn="l" indent="0" marL="0">
              <a:buNone/>
            </a:pPr>
            <a:r>
              <a:rPr lang="en-US" sz="1250" b="1" dirty="0">
                <a:solidFill>
                  <a:srgbClr val="1A1B3A"/>
                </a:solidFill>
                <a:latin typeface="Calibri" pitchFamily="34" charset="0"/>
                <a:ea typeface="Calibri" pitchFamily="34" charset="-122"/>
                <a:cs typeface="Calibri" pitchFamily="34" charset="-120"/>
              </a:rPr>
              <a:t>STILL RUNNING</a:t>
            </a:r>
            <a:endParaRPr lang="en-US" sz="1250" dirty="0"/>
          </a:p>
        </p:txBody>
      </p:sp>
      <p:sp>
        <p:nvSpPr>
          <p:cNvPr id="9" name="Text 6"/>
          <p:cNvSpPr/>
          <p:nvPr/>
        </p:nvSpPr>
        <p:spPr>
          <a:xfrm>
            <a:off x="7562088" y="2724912"/>
            <a:ext cx="4062679" cy="274320"/>
          </a:xfrm>
          <a:prstGeom prst="rect">
            <a:avLst/>
          </a:prstGeom>
          <a:noFill/>
          <a:ln/>
        </p:spPr>
        <p:txBody>
          <a:bodyPr wrap="square" lIns="0" tIns="0" rIns="0" bIns="0" rtlCol="0" anchor="t"/>
          <a:lstStyle/>
          <a:p>
            <a:pPr algn="l" indent="0" marL="0">
              <a:buNone/>
            </a:pPr>
            <a:r>
              <a:rPr lang="en-US" sz="1050" dirty="0">
                <a:solidFill>
                  <a:srgbClr val="6B6E8A"/>
                </a:solidFill>
                <a:latin typeface="Calibri" pitchFamily="34" charset="0"/>
                <a:ea typeface="Calibri" pitchFamily="34" charset="-122"/>
                <a:cs typeface="Calibri" pitchFamily="34" charset="-120"/>
              </a:rPr>
              <a:t>and still not proven optimal</a:t>
            </a:r>
            <a:endParaRPr lang="en-US" sz="1050" dirty="0"/>
          </a:p>
        </p:txBody>
      </p:sp>
      <p:sp>
        <p:nvSpPr>
          <p:cNvPr id="10" name="Text 7"/>
          <p:cNvSpPr/>
          <p:nvPr/>
        </p:nvSpPr>
        <p:spPr>
          <a:xfrm>
            <a:off x="7562088" y="3063240"/>
            <a:ext cx="4062679" cy="749808"/>
          </a:xfrm>
          <a:prstGeom prst="rect">
            <a:avLst/>
          </a:prstGeom>
          <a:noFill/>
          <a:ln/>
        </p:spPr>
        <p:txBody>
          <a:bodyPr wrap="square" lIns="0" tIns="0" rIns="0" bIns="0" rtlCol="0" anchor="ctr"/>
          <a:lstStyle/>
          <a:p>
            <a:pPr algn="l" indent="0" marL="0">
              <a:buNone/>
            </a:pPr>
            <a:r>
              <a:rPr lang="en-US" sz="4000" b="1" dirty="0">
                <a:solidFill>
                  <a:srgbClr val="1A1B3A"/>
                </a:solidFill>
                <a:latin typeface="Cambria" pitchFamily="34" charset="0"/>
                <a:ea typeface="Cambria" pitchFamily="34" charset="-122"/>
                <a:cs typeface="Cambria" pitchFamily="34" charset="-120"/>
              </a:rPr>
              <a:t>415,972</a:t>
            </a:r>
            <a:endParaRPr lang="en-US" sz="4000" dirty="0"/>
          </a:p>
        </p:txBody>
      </p:sp>
      <p:sp>
        <p:nvSpPr>
          <p:cNvPr id="11" name="Text 8"/>
          <p:cNvSpPr/>
          <p:nvPr/>
        </p:nvSpPr>
        <p:spPr>
          <a:xfrm>
            <a:off x="7562088" y="3794760"/>
            <a:ext cx="4062679" cy="274320"/>
          </a:xfrm>
          <a:prstGeom prst="rect">
            <a:avLst/>
          </a:prstGeom>
          <a:noFill/>
          <a:ln/>
        </p:spPr>
        <p:txBody>
          <a:bodyPr wrap="square" lIns="0" tIns="0" rIns="0" bIns="0" rtlCol="0" anchor="t"/>
          <a:lstStyle/>
          <a:p>
            <a:pPr algn="l" indent="0" marL="0">
              <a:buNone/>
            </a:pPr>
            <a:r>
              <a:rPr lang="en-US" sz="1250" b="1" dirty="0">
                <a:solidFill>
                  <a:srgbClr val="1A1B3A"/>
                </a:solidFill>
                <a:latin typeface="Calibri" pitchFamily="34" charset="0"/>
                <a:ea typeface="Calibri" pitchFamily="34" charset="-122"/>
                <a:cs typeface="Calibri" pitchFamily="34" charset="-120"/>
              </a:rPr>
              <a:t>FRACTIONAL VARS</a:t>
            </a:r>
            <a:endParaRPr lang="en-US" sz="1250" dirty="0"/>
          </a:p>
        </p:txBody>
      </p:sp>
      <p:sp>
        <p:nvSpPr>
          <p:cNvPr id="12" name="Text 9"/>
          <p:cNvSpPr/>
          <p:nvPr/>
        </p:nvSpPr>
        <p:spPr>
          <a:xfrm>
            <a:off x="7562088" y="4050792"/>
            <a:ext cx="4062679" cy="274320"/>
          </a:xfrm>
          <a:prstGeom prst="rect">
            <a:avLst/>
          </a:prstGeom>
          <a:noFill/>
          <a:ln/>
        </p:spPr>
        <p:txBody>
          <a:bodyPr wrap="square" lIns="0" tIns="0" rIns="0" bIns="0" rtlCol="0" anchor="t"/>
          <a:lstStyle/>
          <a:p>
            <a:pPr algn="l" indent="0" marL="0">
              <a:buNone/>
            </a:pPr>
            <a:r>
              <a:rPr lang="en-US" sz="1050" dirty="0">
                <a:solidFill>
                  <a:srgbClr val="6B6E8A"/>
                </a:solidFill>
                <a:latin typeface="Calibri" pitchFamily="34" charset="0"/>
                <a:ea typeface="Calibri" pitchFamily="34" charset="-122"/>
                <a:cs typeface="Calibri" pitchFamily="34" charset="-120"/>
              </a:rPr>
              <a:t>at the root relaxation</a:t>
            </a:r>
            <a:endParaRPr lang="en-US" sz="1050" dirty="0"/>
          </a:p>
        </p:txBody>
      </p:sp>
      <p:sp>
        <p:nvSpPr>
          <p:cNvPr id="13" name="Text 10"/>
          <p:cNvSpPr/>
          <p:nvPr/>
        </p:nvSpPr>
        <p:spPr>
          <a:xfrm>
            <a:off x="7562088" y="4297680"/>
            <a:ext cx="4062679" cy="502920"/>
          </a:xfrm>
          <a:prstGeom prst="rect">
            <a:avLst/>
          </a:prstGeom>
          <a:noFill/>
          <a:ln/>
        </p:spPr>
        <p:txBody>
          <a:bodyPr wrap="square" lIns="0" tIns="0" rIns="0" bIns="0" rtlCol="0" anchor="t"/>
          <a:lstStyle/>
          <a:p>
            <a:pPr indent="0" marL="0">
              <a:lnSpc>
                <a:spcPts val="1800"/>
              </a:lnSpc>
              <a:buNone/>
            </a:pPr>
            <a:r>
              <a:rPr lang="en-US" sz="1250" dirty="0">
                <a:solidFill>
                  <a:srgbClr val="6B6E8A"/>
                </a:solidFill>
                <a:latin typeface="Calibri" pitchFamily="34" charset="0"/>
                <a:ea typeface="Calibri" pitchFamily="34" charset="-122"/>
                <a:cs typeface="Calibri" pitchFamily="34" charset="-120"/>
              </a:rPr>
              <a:t>Incumbent improvements arrived from heuristics (H lines), not from the branch-and-bound tree.</a:t>
            </a:r>
            <a:endParaRPr lang="en-US" sz="1250" dirty="0"/>
          </a:p>
        </p:txBody>
      </p:sp>
      <p:sp>
        <p:nvSpPr>
          <p:cNvPr id="14" name="Text 11"/>
          <p:cNvSpPr/>
          <p:nvPr/>
        </p:nvSpPr>
        <p:spPr>
          <a:xfrm>
            <a:off x="566928" y="5029200"/>
            <a:ext cx="11057839" cy="777240"/>
          </a:xfrm>
          <a:prstGeom prst="rect">
            <a:avLst/>
          </a:prstGeom>
          <a:noFill/>
          <a:ln/>
        </p:spPr>
        <p:txBody>
          <a:bodyPr wrap="square" lIns="0" tIns="0" rIns="0" bIns="0" rtlCol="0" anchor="t"/>
          <a:lstStyle/>
          <a:p>
            <a:pPr indent="0" marL="0">
              <a:lnSpc>
                <a:spcPts val="2200"/>
              </a:lnSpc>
              <a:buNone/>
            </a:pPr>
            <a:r>
              <a:rPr lang="en-US" sz="1550" dirty="0">
                <a:solidFill>
                  <a:srgbClr val="1A1B3A"/>
                </a:solidFill>
                <a:latin typeface="Cambria" pitchFamily="34" charset="0"/>
                <a:ea typeface="Cambria" pitchFamily="34" charset="-122"/>
                <a:cs typeface="Cambria" pitchFamily="34" charset="-120"/>
              </a:rPr>
              <a:t>Classical MIP is not falling over here — but it is grinding, and the relaxation is enormous. That is the opening for a different solver.</a:t>
            </a:r>
            <a:endParaRPr lang="en-US" sz="1550" dirty="0"/>
          </a:p>
        </p:txBody>
      </p:sp>
      <p:sp>
        <p:nvSpPr>
          <p:cNvPr id="15" name="Text 12"/>
          <p:cNvSpPr/>
          <p:nvPr/>
        </p:nvSpPr>
        <p:spPr>
          <a:xfrm>
            <a:off x="566928" y="6382512"/>
            <a:ext cx="11057839" cy="274320"/>
          </a:xfrm>
          <a:prstGeom prst="rect">
            <a:avLst/>
          </a:prstGeom>
          <a:noFill/>
          <a:ln/>
        </p:spPr>
        <p:txBody>
          <a:bodyPr wrap="square" lIns="0" tIns="0" rIns="0" bIns="0" rtlCol="0" anchor="ctr"/>
          <a:lstStyle/>
          <a:p>
            <a:pPr algn="l" indent="0" marL="0">
              <a:buNone/>
            </a:pPr>
            <a:r>
              <a:rPr lang="en-US" sz="950" dirty="0">
                <a:solidFill>
                  <a:srgbClr val="9A9DB5"/>
                </a:solidFill>
                <a:latin typeface="Calibri" pitchFamily="34" charset="0"/>
                <a:ea typeface="Calibri" pitchFamily="34" charset="-122"/>
                <a:cs typeface="Calibri" pitchFamily="34" charset="-120"/>
              </a:rPr>
              <a:t>results/high_gurobi/high_gurobi/gurobi/gurobi.log — final logged line: 0.23% gap at 31,650s</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B3A"/>
        </a:solidFill>
      </p:bgPr>
    </p:bg>
    <p:spTree>
      <p:nvGrpSpPr>
        <p:cNvPr id="1" name=""/>
        <p:cNvGrpSpPr/>
        <p:nvPr/>
      </p:nvGrpSpPr>
      <p:grpSpPr>
        <a:xfrm>
          <a:off x="0" y="0"/>
          <a:ext cx="0" cy="0"/>
          <a:chOff x="0" y="0"/>
          <a:chExt cx="0" cy="0"/>
        </a:xfrm>
      </p:grpSpPr>
      <p:sp>
        <p:nvSpPr>
          <p:cNvPr id="2" name="Shape 0"/>
          <p:cNvSpPr/>
          <p:nvPr/>
        </p:nvSpPr>
        <p:spPr>
          <a:xfrm>
            <a:off x="566928" y="420624"/>
            <a:ext cx="420624" cy="420624"/>
          </a:xfrm>
          <a:prstGeom prst="ellipse">
            <a:avLst/>
          </a:prstGeom>
          <a:solidFill>
            <a:srgbClr val="E8833A"/>
          </a:solidFill>
          <a:ln/>
        </p:spPr>
      </p:sp>
      <p:sp>
        <p:nvSpPr>
          <p:cNvPr id="3" name="Text 1"/>
          <p:cNvSpPr/>
          <p:nvPr/>
        </p:nvSpPr>
        <p:spPr>
          <a:xfrm>
            <a:off x="566928" y="4206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11</a:t>
            </a:r>
            <a:endParaRPr lang="en-US" sz="1500" dirty="0"/>
          </a:p>
        </p:txBody>
      </p:sp>
      <p:sp>
        <p:nvSpPr>
          <p:cNvPr id="4" name="Text 2"/>
          <p:cNvSpPr/>
          <p:nvPr/>
        </p:nvSpPr>
        <p:spPr>
          <a:xfrm>
            <a:off x="1170432" y="365760"/>
            <a:ext cx="10454335" cy="54864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The measurement contract</a:t>
            </a:r>
            <a:endParaRPr lang="en-US" sz="3000" dirty="0"/>
          </a:p>
        </p:txBody>
      </p:sp>
      <p:sp>
        <p:nvSpPr>
          <p:cNvPr id="5" name="Text 3"/>
          <p:cNvSpPr/>
          <p:nvPr/>
        </p:nvSpPr>
        <p:spPr>
          <a:xfrm>
            <a:off x="1170432" y="932688"/>
            <a:ext cx="10454335" cy="329184"/>
          </a:xfrm>
          <a:prstGeom prst="rect">
            <a:avLst/>
          </a:prstGeom>
          <a:noFill/>
          <a:ln/>
        </p:spPr>
        <p:txBody>
          <a:bodyPr wrap="square" lIns="0" tIns="0" rIns="0" bIns="0" rtlCol="0" anchor="t"/>
          <a:lstStyle/>
          <a:p>
            <a:pPr algn="l" indent="0" marL="0">
              <a:buNone/>
            </a:pPr>
            <a:r>
              <a:rPr lang="en-US" sz="1400" i="1" dirty="0">
                <a:solidFill>
                  <a:srgbClr val="A9ADCB"/>
                </a:solidFill>
                <a:latin typeface="Calibri" pitchFamily="34" charset="0"/>
                <a:ea typeface="Calibri" pitchFamily="34" charset="-122"/>
                <a:cs typeface="Calibri" pitchFamily="34" charset="-120"/>
              </a:rPr>
              <a:t>State this once, plainly, and hold everyone to it.</a:t>
            </a:r>
            <a:endParaRPr lang="en-US" sz="1400" dirty="0"/>
          </a:p>
        </p:txBody>
      </p:sp>
      <p:sp>
        <p:nvSpPr>
          <p:cNvPr id="6" name="Shape 4"/>
          <p:cNvSpPr/>
          <p:nvPr/>
        </p:nvSpPr>
        <p:spPr>
          <a:xfrm>
            <a:off x="566928" y="1783080"/>
            <a:ext cx="2627300" cy="2468880"/>
          </a:xfrm>
          <a:prstGeom prst="roundRect">
            <a:avLst>
              <a:gd name="adj" fmla="val 2963"/>
            </a:avLst>
          </a:prstGeom>
          <a:solidFill>
            <a:srgbClr val="26284C"/>
          </a:solidFill>
          <a:ln w="12700">
            <a:solidFill>
              <a:srgbClr val="26284C"/>
            </a:solidFill>
            <a:prstDash val="solid"/>
          </a:ln>
        </p:spPr>
      </p:sp>
      <p:sp>
        <p:nvSpPr>
          <p:cNvPr id="7" name="Shape 5"/>
          <p:cNvSpPr/>
          <p:nvPr/>
        </p:nvSpPr>
        <p:spPr>
          <a:xfrm>
            <a:off x="822960" y="2048256"/>
            <a:ext cx="457200" cy="457200"/>
          </a:xfrm>
          <a:prstGeom prst="ellipse">
            <a:avLst/>
          </a:prstGeom>
          <a:solidFill>
            <a:srgbClr val="E8833A"/>
          </a:solidFill>
          <a:ln/>
        </p:spPr>
      </p:sp>
      <p:sp>
        <p:nvSpPr>
          <p:cNvPr id="8" name="Text 6"/>
          <p:cNvSpPr/>
          <p:nvPr/>
        </p:nvSpPr>
        <p:spPr>
          <a:xfrm>
            <a:off x="822960" y="2048256"/>
            <a:ext cx="457200" cy="457200"/>
          </a:xfrm>
          <a:prstGeom prst="rect">
            <a:avLst/>
          </a:prstGeom>
          <a:noFill/>
          <a:ln/>
        </p:spPr>
        <p:txBody>
          <a:bodyPr wrap="square" lIns="0" tIns="0" rIns="0" bIns="0" rtlCol="0" anchor="ctr"/>
          <a:lstStyle/>
          <a:p>
            <a:pPr algn="ctr" indent="0" marL="0">
              <a:buNone/>
            </a:pPr>
            <a:r>
              <a:rPr lang="en-US" sz="1300" b="1" dirty="0">
                <a:solidFill>
                  <a:srgbClr val="1A1B3A"/>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822960" y="2670048"/>
            <a:ext cx="2115236" cy="384048"/>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Ground truth</a:t>
            </a:r>
            <a:endParaRPr lang="en-US" sz="1600" dirty="0"/>
          </a:p>
        </p:txBody>
      </p:sp>
      <p:sp>
        <p:nvSpPr>
          <p:cNvPr id="10" name="Text 8"/>
          <p:cNvSpPr/>
          <p:nvPr/>
        </p:nvSpPr>
        <p:spPr>
          <a:xfrm>
            <a:off x="822960" y="3090672"/>
            <a:ext cx="2115236" cy="1005840"/>
          </a:xfrm>
          <a:prstGeom prst="rect">
            <a:avLst/>
          </a:prstGeom>
          <a:noFill/>
          <a:ln/>
        </p:spPr>
        <p:txBody>
          <a:bodyPr wrap="square" lIns="0" tIns="0" rIns="0" bIns="0" rtlCol="0" anchor="t"/>
          <a:lstStyle/>
          <a:p>
            <a:pPr indent="0" marL="0">
              <a:lnSpc>
                <a:spcPts val="1600"/>
              </a:lnSpc>
              <a:buNone/>
            </a:pPr>
            <a:r>
              <a:rPr lang="en-US" sz="1150" dirty="0">
                <a:solidFill>
                  <a:srgbClr val="A9ADCB"/>
                </a:solidFill>
                <a:latin typeface="Calibri" pitchFamily="34" charset="0"/>
                <a:ea typeface="Calibri" pitchFamily="34" charset="-122"/>
                <a:cs typeface="Calibri" pitchFamily="34" charset="-120"/>
              </a:rPr>
              <a:t>Gurobi’s objective is the reference value. Every alternative solver reports a % gap to it.</a:t>
            </a:r>
            <a:endParaRPr lang="en-US" sz="1150" dirty="0"/>
          </a:p>
        </p:txBody>
      </p:sp>
      <p:sp>
        <p:nvSpPr>
          <p:cNvPr id="11" name="Shape 9"/>
          <p:cNvSpPr/>
          <p:nvPr/>
        </p:nvSpPr>
        <p:spPr>
          <a:xfrm>
            <a:off x="3377108" y="1783080"/>
            <a:ext cx="2627300" cy="2468880"/>
          </a:xfrm>
          <a:prstGeom prst="roundRect">
            <a:avLst>
              <a:gd name="adj" fmla="val 2963"/>
            </a:avLst>
          </a:prstGeom>
          <a:solidFill>
            <a:srgbClr val="26284C"/>
          </a:solidFill>
          <a:ln w="12700">
            <a:solidFill>
              <a:srgbClr val="26284C"/>
            </a:solidFill>
            <a:prstDash val="solid"/>
          </a:ln>
        </p:spPr>
      </p:sp>
      <p:sp>
        <p:nvSpPr>
          <p:cNvPr id="12" name="Shape 10"/>
          <p:cNvSpPr/>
          <p:nvPr/>
        </p:nvSpPr>
        <p:spPr>
          <a:xfrm>
            <a:off x="3633140" y="2048256"/>
            <a:ext cx="457200" cy="457200"/>
          </a:xfrm>
          <a:prstGeom prst="ellipse">
            <a:avLst/>
          </a:prstGeom>
          <a:solidFill>
            <a:srgbClr val="E8833A"/>
          </a:solidFill>
          <a:ln/>
        </p:spPr>
      </p:sp>
      <p:sp>
        <p:nvSpPr>
          <p:cNvPr id="13" name="Text 11"/>
          <p:cNvSpPr/>
          <p:nvPr/>
        </p:nvSpPr>
        <p:spPr>
          <a:xfrm>
            <a:off x="3633140" y="2048256"/>
            <a:ext cx="457200" cy="457200"/>
          </a:xfrm>
          <a:prstGeom prst="rect">
            <a:avLst/>
          </a:prstGeom>
          <a:noFill/>
          <a:ln/>
        </p:spPr>
        <p:txBody>
          <a:bodyPr wrap="square" lIns="0" tIns="0" rIns="0" bIns="0" rtlCol="0" anchor="ctr"/>
          <a:lstStyle/>
          <a:p>
            <a:pPr algn="ctr" indent="0" marL="0">
              <a:buNone/>
            </a:pPr>
            <a:r>
              <a:rPr lang="en-US" sz="1300" b="1" dirty="0">
                <a:solidFill>
                  <a:srgbClr val="1A1B3A"/>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3633140" y="2670048"/>
            <a:ext cx="2115236" cy="384048"/>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Equal budget</a:t>
            </a:r>
            <a:endParaRPr lang="en-US" sz="1600" dirty="0"/>
          </a:p>
        </p:txBody>
      </p:sp>
      <p:sp>
        <p:nvSpPr>
          <p:cNvPr id="15" name="Text 13"/>
          <p:cNvSpPr/>
          <p:nvPr/>
        </p:nvSpPr>
        <p:spPr>
          <a:xfrm>
            <a:off x="3633140" y="3090672"/>
            <a:ext cx="2115236" cy="1005840"/>
          </a:xfrm>
          <a:prstGeom prst="rect">
            <a:avLst/>
          </a:prstGeom>
          <a:noFill/>
          <a:ln/>
        </p:spPr>
        <p:txBody>
          <a:bodyPr wrap="square" lIns="0" tIns="0" rIns="0" bIns="0" rtlCol="0" anchor="t"/>
          <a:lstStyle/>
          <a:p>
            <a:pPr indent="0" marL="0">
              <a:lnSpc>
                <a:spcPts val="1600"/>
              </a:lnSpc>
              <a:buNone/>
            </a:pPr>
            <a:r>
              <a:rPr lang="en-US" sz="1150" dirty="0">
                <a:solidFill>
                  <a:srgbClr val="A9ADCB"/>
                </a:solidFill>
                <a:latin typeface="Calibri" pitchFamily="34" charset="0"/>
                <a:ea typeface="Calibri" pitchFamily="34" charset="-122"/>
                <a:cs typeface="Calibri" pitchFamily="34" charset="-120"/>
              </a:rPr>
              <a:t>Comparisons are made at matched wall-clock, not at matched iteration counts.</a:t>
            </a:r>
            <a:endParaRPr lang="en-US" sz="1150" dirty="0"/>
          </a:p>
        </p:txBody>
      </p:sp>
      <p:sp>
        <p:nvSpPr>
          <p:cNvPr id="16" name="Shape 14"/>
          <p:cNvSpPr/>
          <p:nvPr/>
        </p:nvSpPr>
        <p:spPr>
          <a:xfrm>
            <a:off x="6187288" y="1783080"/>
            <a:ext cx="2627300" cy="2468880"/>
          </a:xfrm>
          <a:prstGeom prst="roundRect">
            <a:avLst>
              <a:gd name="adj" fmla="val 2963"/>
            </a:avLst>
          </a:prstGeom>
          <a:solidFill>
            <a:srgbClr val="26284C"/>
          </a:solidFill>
          <a:ln w="12700">
            <a:solidFill>
              <a:srgbClr val="26284C"/>
            </a:solidFill>
            <a:prstDash val="solid"/>
          </a:ln>
        </p:spPr>
      </p:sp>
      <p:sp>
        <p:nvSpPr>
          <p:cNvPr id="17" name="Shape 15"/>
          <p:cNvSpPr/>
          <p:nvPr/>
        </p:nvSpPr>
        <p:spPr>
          <a:xfrm>
            <a:off x="6443320" y="2048256"/>
            <a:ext cx="457200" cy="457200"/>
          </a:xfrm>
          <a:prstGeom prst="ellipse">
            <a:avLst/>
          </a:prstGeom>
          <a:solidFill>
            <a:srgbClr val="E8833A"/>
          </a:solidFill>
          <a:ln/>
        </p:spPr>
      </p:sp>
      <p:sp>
        <p:nvSpPr>
          <p:cNvPr id="18" name="Text 16"/>
          <p:cNvSpPr/>
          <p:nvPr/>
        </p:nvSpPr>
        <p:spPr>
          <a:xfrm>
            <a:off x="6443320" y="2048256"/>
            <a:ext cx="457200" cy="457200"/>
          </a:xfrm>
          <a:prstGeom prst="rect">
            <a:avLst/>
          </a:prstGeom>
          <a:noFill/>
          <a:ln/>
        </p:spPr>
        <p:txBody>
          <a:bodyPr wrap="square" lIns="0" tIns="0" rIns="0" bIns="0" rtlCol="0" anchor="ctr"/>
          <a:lstStyle/>
          <a:p>
            <a:pPr algn="ctr" indent="0" marL="0">
              <a:buNone/>
            </a:pPr>
            <a:r>
              <a:rPr lang="en-US" sz="1300" b="1" dirty="0">
                <a:solidFill>
                  <a:srgbClr val="1A1B3A"/>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6443320" y="2670048"/>
            <a:ext cx="2115236" cy="384048"/>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Feasibility audit</a:t>
            </a:r>
            <a:endParaRPr lang="en-US" sz="1600" dirty="0"/>
          </a:p>
        </p:txBody>
      </p:sp>
      <p:sp>
        <p:nvSpPr>
          <p:cNvPr id="20" name="Text 18"/>
          <p:cNvSpPr/>
          <p:nvPr/>
        </p:nvSpPr>
        <p:spPr>
          <a:xfrm>
            <a:off x="6443320" y="3090672"/>
            <a:ext cx="2115236" cy="1005840"/>
          </a:xfrm>
          <a:prstGeom prst="rect">
            <a:avLst/>
          </a:prstGeom>
          <a:noFill/>
          <a:ln/>
        </p:spPr>
        <p:txBody>
          <a:bodyPr wrap="square" lIns="0" tIns="0" rIns="0" bIns="0" rtlCol="0" anchor="t"/>
          <a:lstStyle/>
          <a:p>
            <a:pPr indent="0" marL="0">
              <a:lnSpc>
                <a:spcPts val="1600"/>
              </a:lnSpc>
              <a:buNone/>
            </a:pPr>
            <a:r>
              <a:rPr lang="en-US" sz="1150" dirty="0">
                <a:solidFill>
                  <a:srgbClr val="A9ADCB"/>
                </a:solidFill>
                <a:latin typeface="Calibri" pitchFamily="34" charset="0"/>
                <a:ea typeface="Calibri" pitchFamily="34" charset="-122"/>
                <a:cs typeface="Calibri" pitchFamily="34" charset="-120"/>
              </a:rPr>
              <a:t>Every solution is re-scored from scratch against C1–C4. Structural violations must be zero.</a:t>
            </a:r>
            <a:endParaRPr lang="en-US" sz="1150" dirty="0"/>
          </a:p>
        </p:txBody>
      </p:sp>
      <p:sp>
        <p:nvSpPr>
          <p:cNvPr id="21" name="Shape 19"/>
          <p:cNvSpPr/>
          <p:nvPr/>
        </p:nvSpPr>
        <p:spPr>
          <a:xfrm>
            <a:off x="8997467" y="1783080"/>
            <a:ext cx="2627300" cy="2468880"/>
          </a:xfrm>
          <a:prstGeom prst="roundRect">
            <a:avLst>
              <a:gd name="adj" fmla="val 2963"/>
            </a:avLst>
          </a:prstGeom>
          <a:solidFill>
            <a:srgbClr val="26284C"/>
          </a:solidFill>
          <a:ln w="12700">
            <a:solidFill>
              <a:srgbClr val="26284C"/>
            </a:solidFill>
            <a:prstDash val="solid"/>
          </a:ln>
        </p:spPr>
      </p:sp>
      <p:sp>
        <p:nvSpPr>
          <p:cNvPr id="22" name="Shape 20"/>
          <p:cNvSpPr/>
          <p:nvPr/>
        </p:nvSpPr>
        <p:spPr>
          <a:xfrm>
            <a:off x="9253499" y="2048256"/>
            <a:ext cx="457200" cy="457200"/>
          </a:xfrm>
          <a:prstGeom prst="ellipse">
            <a:avLst/>
          </a:prstGeom>
          <a:solidFill>
            <a:srgbClr val="E8833A"/>
          </a:solidFill>
          <a:ln/>
        </p:spPr>
      </p:sp>
      <p:sp>
        <p:nvSpPr>
          <p:cNvPr id="23" name="Text 21"/>
          <p:cNvSpPr/>
          <p:nvPr/>
        </p:nvSpPr>
        <p:spPr>
          <a:xfrm>
            <a:off x="9253499" y="2048256"/>
            <a:ext cx="457200" cy="457200"/>
          </a:xfrm>
          <a:prstGeom prst="rect">
            <a:avLst/>
          </a:prstGeom>
          <a:noFill/>
          <a:ln/>
        </p:spPr>
        <p:txBody>
          <a:bodyPr wrap="square" lIns="0" tIns="0" rIns="0" bIns="0" rtlCol="0" anchor="ctr"/>
          <a:lstStyle/>
          <a:p>
            <a:pPr algn="ctr" indent="0" marL="0">
              <a:buNone/>
            </a:pPr>
            <a:r>
              <a:rPr lang="en-US" sz="1300" b="1" dirty="0">
                <a:solidFill>
                  <a:srgbClr val="1A1B3A"/>
                </a:solidFill>
                <a:latin typeface="Calibri" pitchFamily="34" charset="0"/>
                <a:ea typeface="Calibri" pitchFamily="34" charset="-122"/>
                <a:cs typeface="Calibri" pitchFamily="34" charset="-120"/>
              </a:rPr>
              <a:t>4</a:t>
            </a:r>
            <a:endParaRPr lang="en-US" sz="1300" dirty="0"/>
          </a:p>
        </p:txBody>
      </p:sp>
      <p:sp>
        <p:nvSpPr>
          <p:cNvPr id="24" name="Text 22"/>
          <p:cNvSpPr/>
          <p:nvPr/>
        </p:nvSpPr>
        <p:spPr>
          <a:xfrm>
            <a:off x="9253499" y="2670048"/>
            <a:ext cx="2115236" cy="384048"/>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Reproducibility</a:t>
            </a:r>
            <a:endParaRPr lang="en-US" sz="1600" dirty="0"/>
          </a:p>
        </p:txBody>
      </p:sp>
      <p:sp>
        <p:nvSpPr>
          <p:cNvPr id="25" name="Text 23"/>
          <p:cNvSpPr/>
          <p:nvPr/>
        </p:nvSpPr>
        <p:spPr>
          <a:xfrm>
            <a:off x="9253499" y="3090672"/>
            <a:ext cx="2115236" cy="1005840"/>
          </a:xfrm>
          <a:prstGeom prst="rect">
            <a:avLst/>
          </a:prstGeom>
          <a:noFill/>
          <a:ln/>
        </p:spPr>
        <p:txBody>
          <a:bodyPr wrap="square" lIns="0" tIns="0" rIns="0" bIns="0" rtlCol="0" anchor="t"/>
          <a:lstStyle/>
          <a:p>
            <a:pPr indent="0" marL="0">
              <a:lnSpc>
                <a:spcPts val="1600"/>
              </a:lnSpc>
              <a:buNone/>
            </a:pPr>
            <a:r>
              <a:rPr lang="en-US" sz="1150" dirty="0">
                <a:solidFill>
                  <a:srgbClr val="A9ADCB"/>
                </a:solidFill>
                <a:latin typeface="Calibri" pitchFamily="34" charset="0"/>
                <a:ea typeface="Calibri" pitchFamily="34" charset="-122"/>
                <a:cs typeface="Calibri" pitchFamily="34" charset="-120"/>
              </a:rPr>
              <a:t>PYTHONHASHSEED=0, fixed seeds, md5-checked solution CSVs. Numbers must be re-derivable.</a:t>
            </a:r>
            <a:endParaRPr lang="en-US" sz="1150" dirty="0"/>
          </a:p>
        </p:txBody>
      </p:sp>
      <p:sp>
        <p:nvSpPr>
          <p:cNvPr id="26" name="Text 24"/>
          <p:cNvSpPr/>
          <p:nvPr/>
        </p:nvSpPr>
        <p:spPr>
          <a:xfrm>
            <a:off x="566928" y="4663440"/>
            <a:ext cx="11057839" cy="1188720"/>
          </a:xfrm>
          <a:prstGeom prst="rect">
            <a:avLst/>
          </a:prstGeom>
          <a:noFill/>
          <a:ln/>
        </p:spPr>
        <p:txBody>
          <a:bodyPr wrap="square" lIns="0" tIns="0" rIns="0" bIns="0" rtlCol="0" anchor="t"/>
          <a:lstStyle/>
          <a:p>
            <a:pPr indent="0" marL="0">
              <a:lnSpc>
                <a:spcPts val="2100"/>
              </a:lnSpc>
              <a:buNone/>
            </a:pPr>
            <a:r>
              <a:rPr lang="en-US" sz="1350" b="1" dirty="0">
                <a:solidFill>
                  <a:srgbClr val="E8833A"/>
                </a:solidFill>
                <a:latin typeface="Calibri" pitchFamily="34" charset="0"/>
                <a:ea typeface="Calibri" pitchFamily="34" charset="-122"/>
                <a:cs typeface="Calibri" pitchFamily="34" charset="-120"/>
              </a:rPr>
              <a:t>Why this matters to him:  </a:t>
            </a:r>
            <a:pPr indent="0" marL="0">
              <a:lnSpc>
                <a:spcPts val="2100"/>
              </a:lnSpc>
              <a:buNone/>
            </a:pPr>
            <a:r>
              <a:rPr lang="en-US" sz="1350" dirty="0">
                <a:solidFill>
                  <a:srgbClr val="FFFFFF"/>
                </a:solidFill>
                <a:latin typeface="Calibri" pitchFamily="34" charset="0"/>
                <a:ea typeface="Calibri" pitchFamily="34" charset="-122"/>
                <a:cs typeface="Calibri" pitchFamily="34" charset="-120"/>
              </a:rPr>
              <a:t>someone from a corporate quantum team will read the reproducibility discipline as the signal that your benchmark numbers can be trusted — which is the entire basis of the collaboration. profiling_regression_record.md documents a bit-identical baseline comparison; show it in week one.</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420624"/>
          </a:xfrm>
          <a:prstGeom prst="ellipse">
            <a:avLst/>
          </a:prstGeom>
          <a:solidFill>
            <a:srgbClr val="E8833A"/>
          </a:solidFill>
          <a:ln/>
        </p:spPr>
      </p:sp>
      <p:sp>
        <p:nvSpPr>
          <p:cNvPr id="3" name="Text 1"/>
          <p:cNvSpPr/>
          <p:nvPr/>
        </p:nvSpPr>
        <p:spPr>
          <a:xfrm>
            <a:off x="566928" y="4206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12</a:t>
            </a:r>
            <a:endParaRPr lang="en-US" sz="1500" dirty="0"/>
          </a:p>
        </p:txBody>
      </p:sp>
      <p:sp>
        <p:nvSpPr>
          <p:cNvPr id="4" name="Text 2"/>
          <p:cNvSpPr/>
          <p:nvPr/>
        </p:nvSpPr>
        <p:spPr>
          <a:xfrm>
            <a:off x="1170432" y="365760"/>
            <a:ext cx="10454335" cy="548640"/>
          </a:xfrm>
          <a:prstGeom prst="rect">
            <a:avLst/>
          </a:prstGeom>
          <a:noFill/>
          <a:ln/>
        </p:spPr>
        <p:txBody>
          <a:bodyPr wrap="square" lIns="0" tIns="0" rIns="0" bIns="0" rtlCol="0" anchor="ctr"/>
          <a:lstStyle/>
          <a:p>
            <a:pPr algn="l" indent="0" marL="0">
              <a:buNone/>
            </a:pPr>
            <a:r>
              <a:rPr lang="en-US" sz="3000" b="1" dirty="0">
                <a:solidFill>
                  <a:srgbClr val="1A1B3A"/>
                </a:solidFill>
                <a:latin typeface="Cambria" pitchFamily="34" charset="0"/>
                <a:ea typeface="Cambria" pitchFamily="34" charset="-122"/>
                <a:cs typeface="Cambria" pitchFamily="34" charset="-120"/>
              </a:rPr>
              <a:t>The QUBO pipeline as it stands</a:t>
            </a:r>
            <a:endParaRPr lang="en-US" sz="3000" dirty="0"/>
          </a:p>
        </p:txBody>
      </p:sp>
      <p:sp>
        <p:nvSpPr>
          <p:cNvPr id="5" name="Text 3"/>
          <p:cNvSpPr/>
          <p:nvPr/>
        </p:nvSpPr>
        <p:spPr>
          <a:xfrm>
            <a:off x="1170432" y="932688"/>
            <a:ext cx="10454335" cy="329184"/>
          </a:xfrm>
          <a:prstGeom prst="rect">
            <a:avLst/>
          </a:prstGeom>
          <a:noFill/>
          <a:ln/>
        </p:spPr>
        <p:txBody>
          <a:bodyPr wrap="square" lIns="0" tIns="0" rIns="0" bIns="0" rtlCol="0" anchor="t"/>
          <a:lstStyle/>
          <a:p>
            <a:pPr algn="l" indent="0" marL="0">
              <a:buNone/>
            </a:pPr>
            <a:r>
              <a:rPr lang="en-US" sz="1400" i="1" dirty="0">
                <a:solidFill>
                  <a:srgbClr val="6B6E8A"/>
                </a:solidFill>
                <a:latin typeface="Calibri" pitchFamily="34" charset="0"/>
                <a:ea typeface="Calibri" pitchFamily="34" charset="-122"/>
                <a:cs typeface="Calibri" pitchFamily="34" charset="-120"/>
              </a:rPr>
              <a:t>Same variables. Constraints folded in as quadratic penalties.</a:t>
            </a:r>
            <a:endParaRPr lang="en-US" sz="1400" dirty="0"/>
          </a:p>
        </p:txBody>
      </p:sp>
      <p:sp>
        <p:nvSpPr>
          <p:cNvPr id="6" name="Shape 4"/>
          <p:cNvSpPr/>
          <p:nvPr/>
        </p:nvSpPr>
        <p:spPr>
          <a:xfrm>
            <a:off x="566928" y="1783080"/>
            <a:ext cx="2448992" cy="2331720"/>
          </a:xfrm>
          <a:prstGeom prst="roundRect">
            <a:avLst>
              <a:gd name="adj" fmla="val 3137"/>
            </a:avLst>
          </a:prstGeom>
          <a:solidFill>
            <a:srgbClr val="F1F2F8"/>
          </a:solidFill>
          <a:ln w="12700">
            <a:solidFill>
              <a:srgbClr val="E2E4EF"/>
            </a:solidFill>
            <a:prstDash val="solid"/>
          </a:ln>
        </p:spPr>
      </p:sp>
      <p:sp>
        <p:nvSpPr>
          <p:cNvPr id="7" name="Shape 5"/>
          <p:cNvSpPr/>
          <p:nvPr/>
        </p:nvSpPr>
        <p:spPr>
          <a:xfrm>
            <a:off x="1535392" y="2029968"/>
            <a:ext cx="512064" cy="512064"/>
          </a:xfrm>
          <a:prstGeom prst="ellipse">
            <a:avLst/>
          </a:prstGeom>
          <a:solidFill>
            <a:srgbClr val="E8833A"/>
          </a:solidFill>
          <a:ln/>
        </p:spPr>
      </p:sp>
      <p:sp>
        <p:nvSpPr>
          <p:cNvPr id="8" name="Text 6"/>
          <p:cNvSpPr/>
          <p:nvPr/>
        </p:nvSpPr>
        <p:spPr>
          <a:xfrm>
            <a:off x="1535392" y="2029968"/>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p:nvPr/>
        </p:nvSpPr>
        <p:spPr>
          <a:xfrm>
            <a:off x="768096" y="2670048"/>
            <a:ext cx="2046656" cy="365760"/>
          </a:xfrm>
          <a:prstGeom prst="rect">
            <a:avLst/>
          </a:prstGeom>
          <a:noFill/>
          <a:ln/>
        </p:spPr>
        <p:txBody>
          <a:bodyPr wrap="square" lIns="0" tIns="0" rIns="0" bIns="0" rtlCol="0" anchor="ctr"/>
          <a:lstStyle/>
          <a:p>
            <a:pPr algn="ctr" indent="0" marL="0">
              <a:buNone/>
            </a:pPr>
            <a:r>
              <a:rPr lang="en-US" sz="1800" b="1" dirty="0">
                <a:solidFill>
                  <a:srgbClr val="1A1B3A"/>
                </a:solidFill>
                <a:latin typeface="Cambria" pitchFamily="34" charset="0"/>
                <a:ea typeface="Cambria" pitchFamily="34" charset="-122"/>
                <a:cs typeface="Cambria" pitchFamily="34" charset="-120"/>
              </a:rPr>
              <a:t>Encode</a:t>
            </a:r>
            <a:endParaRPr lang="en-US" sz="1800" dirty="0"/>
          </a:p>
        </p:txBody>
      </p:sp>
      <p:sp>
        <p:nvSpPr>
          <p:cNvPr id="10" name="Text 8"/>
          <p:cNvSpPr/>
          <p:nvPr/>
        </p:nvSpPr>
        <p:spPr>
          <a:xfrm>
            <a:off x="768096" y="3072384"/>
            <a:ext cx="2046656" cy="749808"/>
          </a:xfrm>
          <a:prstGeom prst="rect">
            <a:avLst/>
          </a:prstGeom>
          <a:noFill/>
          <a:ln/>
        </p:spPr>
        <p:txBody>
          <a:bodyPr wrap="square" lIns="0" tIns="0" rIns="0" bIns="0" rtlCol="0" anchor="t"/>
          <a:lstStyle/>
          <a:p>
            <a:pPr algn="ctr" indent="0" marL="0">
              <a:lnSpc>
                <a:spcPts val="1600"/>
              </a:lnSpc>
              <a:buNone/>
            </a:pPr>
            <a:r>
              <a:rPr lang="en-US" sz="1150" dirty="0">
                <a:solidFill>
                  <a:srgbClr val="6B6E8A"/>
                </a:solidFill>
                <a:latin typeface="Calibri" pitchFamily="34" charset="0"/>
                <a:ea typeface="Calibri" pitchFamily="34" charset="-122"/>
                <a:cs typeface="Calibri" pitchFamily="34" charset="-120"/>
              </a:rPr>
              <a:t>X, Y, Z as binaries; C1–C4 become penalty terms</a:t>
            </a:r>
            <a:endParaRPr lang="en-US" sz="1150" dirty="0"/>
          </a:p>
        </p:txBody>
      </p:sp>
      <p:sp>
        <p:nvSpPr>
          <p:cNvPr id="11" name="Text 9"/>
          <p:cNvSpPr/>
          <p:nvPr/>
        </p:nvSpPr>
        <p:spPr>
          <a:xfrm>
            <a:off x="694944" y="3785616"/>
            <a:ext cx="2192960" cy="274320"/>
          </a:xfrm>
          <a:prstGeom prst="rect">
            <a:avLst/>
          </a:prstGeom>
          <a:noFill/>
          <a:ln/>
        </p:spPr>
        <p:txBody>
          <a:bodyPr wrap="square" lIns="0" tIns="0" rIns="0" bIns="0" rtlCol="0" anchor="ctr"/>
          <a:lstStyle/>
          <a:p>
            <a:pPr algn="ctr" indent="0" marL="0">
              <a:buNone/>
            </a:pPr>
            <a:r>
              <a:rPr lang="en-US" sz="900" dirty="0">
                <a:solidFill>
                  <a:srgbClr val="2F6F8F"/>
                </a:solidFill>
                <a:latin typeface="Courier New" pitchFamily="34" charset="0"/>
                <a:ea typeface="Courier New" pitchFamily="34" charset="-122"/>
                <a:cs typeface="Courier New" pitchFamily="34" charset="-120"/>
              </a:rPr>
              <a:t>build_qubo_for_batch</a:t>
            </a:r>
            <a:endParaRPr lang="en-US" sz="900" dirty="0"/>
          </a:p>
        </p:txBody>
      </p:sp>
      <p:sp>
        <p:nvSpPr>
          <p:cNvPr id="12" name="Shape 10"/>
          <p:cNvSpPr/>
          <p:nvPr/>
        </p:nvSpPr>
        <p:spPr>
          <a:xfrm>
            <a:off x="3089072" y="2834640"/>
            <a:ext cx="274320" cy="201168"/>
          </a:xfrm>
          <a:prstGeom prst="rightArrow">
            <a:avLst/>
          </a:prstGeom>
          <a:solidFill>
            <a:srgbClr val="C9CCE0"/>
          </a:solidFill>
          <a:ln w="12700">
            <a:solidFill>
              <a:srgbClr val="333333"/>
            </a:solidFill>
            <a:prstDash val="solid"/>
          </a:ln>
        </p:spPr>
      </p:sp>
      <p:sp>
        <p:nvSpPr>
          <p:cNvPr id="13" name="Shape 11"/>
          <p:cNvSpPr/>
          <p:nvPr/>
        </p:nvSpPr>
        <p:spPr>
          <a:xfrm>
            <a:off x="3436544" y="1783080"/>
            <a:ext cx="2448992" cy="2331720"/>
          </a:xfrm>
          <a:prstGeom prst="roundRect">
            <a:avLst>
              <a:gd name="adj" fmla="val 3137"/>
            </a:avLst>
          </a:prstGeom>
          <a:solidFill>
            <a:srgbClr val="F1F2F8"/>
          </a:solidFill>
          <a:ln w="12700">
            <a:solidFill>
              <a:srgbClr val="E2E4EF"/>
            </a:solidFill>
            <a:prstDash val="solid"/>
          </a:ln>
        </p:spPr>
      </p:sp>
      <p:sp>
        <p:nvSpPr>
          <p:cNvPr id="14" name="Shape 12"/>
          <p:cNvSpPr/>
          <p:nvPr/>
        </p:nvSpPr>
        <p:spPr>
          <a:xfrm>
            <a:off x="4405008" y="2029968"/>
            <a:ext cx="512064" cy="512064"/>
          </a:xfrm>
          <a:prstGeom prst="ellipse">
            <a:avLst/>
          </a:prstGeom>
          <a:solidFill>
            <a:srgbClr val="E8833A"/>
          </a:solidFill>
          <a:ln/>
        </p:spPr>
      </p:sp>
      <p:sp>
        <p:nvSpPr>
          <p:cNvPr id="15" name="Text 13"/>
          <p:cNvSpPr/>
          <p:nvPr/>
        </p:nvSpPr>
        <p:spPr>
          <a:xfrm>
            <a:off x="4405008" y="2029968"/>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Text 14"/>
          <p:cNvSpPr/>
          <p:nvPr/>
        </p:nvSpPr>
        <p:spPr>
          <a:xfrm>
            <a:off x="3637712" y="2670048"/>
            <a:ext cx="2046656" cy="365760"/>
          </a:xfrm>
          <a:prstGeom prst="rect">
            <a:avLst/>
          </a:prstGeom>
          <a:noFill/>
          <a:ln/>
        </p:spPr>
        <p:txBody>
          <a:bodyPr wrap="square" lIns="0" tIns="0" rIns="0" bIns="0" rtlCol="0" anchor="ctr"/>
          <a:lstStyle/>
          <a:p>
            <a:pPr algn="ctr" indent="0" marL="0">
              <a:buNone/>
            </a:pPr>
            <a:r>
              <a:rPr lang="en-US" sz="1800" b="1" dirty="0">
                <a:solidFill>
                  <a:srgbClr val="1A1B3A"/>
                </a:solidFill>
                <a:latin typeface="Cambria" pitchFamily="34" charset="0"/>
                <a:ea typeface="Cambria" pitchFamily="34" charset="-122"/>
                <a:cs typeface="Cambria" pitchFamily="34" charset="-120"/>
              </a:rPr>
              <a:t>Split</a:t>
            </a:r>
            <a:endParaRPr lang="en-US" sz="1800" dirty="0"/>
          </a:p>
        </p:txBody>
      </p:sp>
      <p:sp>
        <p:nvSpPr>
          <p:cNvPr id="17" name="Text 15"/>
          <p:cNvSpPr/>
          <p:nvPr/>
        </p:nvSpPr>
        <p:spPr>
          <a:xfrm>
            <a:off x="3637712" y="3072384"/>
            <a:ext cx="2046656" cy="749808"/>
          </a:xfrm>
          <a:prstGeom prst="rect">
            <a:avLst/>
          </a:prstGeom>
          <a:noFill/>
          <a:ln/>
        </p:spPr>
        <p:txBody>
          <a:bodyPr wrap="square" lIns="0" tIns="0" rIns="0" bIns="0" rtlCol="0" anchor="t"/>
          <a:lstStyle/>
          <a:p>
            <a:pPr algn="ctr" indent="0" marL="0">
              <a:lnSpc>
                <a:spcPts val="1600"/>
              </a:lnSpc>
              <a:buNone/>
            </a:pPr>
            <a:r>
              <a:rPr lang="en-US" sz="1150" dirty="0">
                <a:solidFill>
                  <a:srgbClr val="6B6E8A"/>
                </a:solidFill>
                <a:latin typeface="Calibri" pitchFamily="34" charset="0"/>
                <a:ea typeface="Calibri" pitchFamily="34" charset="-122"/>
                <a:cs typeface="Calibri" pitchFamily="34" charset="-120"/>
              </a:rPr>
              <a:t>Part-batches: 1,000 parts, cap 50,000 Z-vars per batch</a:t>
            </a:r>
            <a:endParaRPr lang="en-US" sz="1150" dirty="0"/>
          </a:p>
        </p:txBody>
      </p:sp>
      <p:sp>
        <p:nvSpPr>
          <p:cNvPr id="18" name="Text 16"/>
          <p:cNvSpPr/>
          <p:nvPr/>
        </p:nvSpPr>
        <p:spPr>
          <a:xfrm>
            <a:off x="3564560" y="3785616"/>
            <a:ext cx="2192960" cy="274320"/>
          </a:xfrm>
          <a:prstGeom prst="rect">
            <a:avLst/>
          </a:prstGeom>
          <a:noFill/>
          <a:ln/>
        </p:spPr>
        <p:txBody>
          <a:bodyPr wrap="square" lIns="0" tIns="0" rIns="0" bIns="0" rtlCol="0" anchor="ctr"/>
          <a:lstStyle/>
          <a:p>
            <a:pPr algn="ctr" indent="0" marL="0">
              <a:buNone/>
            </a:pPr>
            <a:r>
              <a:rPr lang="en-US" sz="900" dirty="0">
                <a:solidFill>
                  <a:srgbClr val="2F6F8F"/>
                </a:solidFill>
                <a:latin typeface="Courier New" pitchFamily="34" charset="0"/>
                <a:ea typeface="Courier New" pitchFamily="34" charset="-122"/>
                <a:cs typeface="Courier New" pitchFamily="34" charset="-120"/>
              </a:rPr>
              <a:t>build_batches</a:t>
            </a:r>
            <a:endParaRPr lang="en-US" sz="900" dirty="0"/>
          </a:p>
        </p:txBody>
      </p:sp>
      <p:sp>
        <p:nvSpPr>
          <p:cNvPr id="19" name="Shape 17"/>
          <p:cNvSpPr/>
          <p:nvPr/>
        </p:nvSpPr>
        <p:spPr>
          <a:xfrm>
            <a:off x="5958688" y="2834640"/>
            <a:ext cx="274320" cy="201168"/>
          </a:xfrm>
          <a:prstGeom prst="rightArrow">
            <a:avLst/>
          </a:prstGeom>
          <a:solidFill>
            <a:srgbClr val="C9CCE0"/>
          </a:solidFill>
          <a:ln w="12700">
            <a:solidFill>
              <a:srgbClr val="333333"/>
            </a:solidFill>
            <a:prstDash val="solid"/>
          </a:ln>
        </p:spPr>
      </p:sp>
      <p:sp>
        <p:nvSpPr>
          <p:cNvPr id="20" name="Shape 18"/>
          <p:cNvSpPr/>
          <p:nvPr/>
        </p:nvSpPr>
        <p:spPr>
          <a:xfrm>
            <a:off x="6306160" y="1783080"/>
            <a:ext cx="2448992" cy="2331720"/>
          </a:xfrm>
          <a:prstGeom prst="roundRect">
            <a:avLst>
              <a:gd name="adj" fmla="val 3137"/>
            </a:avLst>
          </a:prstGeom>
          <a:solidFill>
            <a:srgbClr val="F1F2F8"/>
          </a:solidFill>
          <a:ln w="12700">
            <a:solidFill>
              <a:srgbClr val="E2E4EF"/>
            </a:solidFill>
            <a:prstDash val="solid"/>
          </a:ln>
        </p:spPr>
      </p:sp>
      <p:sp>
        <p:nvSpPr>
          <p:cNvPr id="21" name="Shape 19"/>
          <p:cNvSpPr/>
          <p:nvPr/>
        </p:nvSpPr>
        <p:spPr>
          <a:xfrm>
            <a:off x="7274623" y="2029968"/>
            <a:ext cx="512064" cy="512064"/>
          </a:xfrm>
          <a:prstGeom prst="ellipse">
            <a:avLst/>
          </a:prstGeom>
          <a:solidFill>
            <a:srgbClr val="E8833A"/>
          </a:solidFill>
          <a:ln/>
        </p:spPr>
      </p:sp>
      <p:sp>
        <p:nvSpPr>
          <p:cNvPr id="22" name="Text 20"/>
          <p:cNvSpPr/>
          <p:nvPr/>
        </p:nvSpPr>
        <p:spPr>
          <a:xfrm>
            <a:off x="7274623" y="2029968"/>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3" name="Text 21"/>
          <p:cNvSpPr/>
          <p:nvPr/>
        </p:nvSpPr>
        <p:spPr>
          <a:xfrm>
            <a:off x="6507328" y="2670048"/>
            <a:ext cx="2046656" cy="365760"/>
          </a:xfrm>
          <a:prstGeom prst="rect">
            <a:avLst/>
          </a:prstGeom>
          <a:noFill/>
          <a:ln/>
        </p:spPr>
        <p:txBody>
          <a:bodyPr wrap="square" lIns="0" tIns="0" rIns="0" bIns="0" rtlCol="0" anchor="ctr"/>
          <a:lstStyle/>
          <a:p>
            <a:pPr algn="ctr" indent="0" marL="0">
              <a:buNone/>
            </a:pPr>
            <a:r>
              <a:rPr lang="en-US" sz="1800" b="1" dirty="0">
                <a:solidFill>
                  <a:srgbClr val="1A1B3A"/>
                </a:solidFill>
                <a:latin typeface="Cambria" pitchFamily="34" charset="0"/>
                <a:ea typeface="Cambria" pitchFamily="34" charset="-122"/>
                <a:cs typeface="Cambria" pitchFamily="34" charset="-120"/>
              </a:rPr>
              <a:t>Sample</a:t>
            </a:r>
            <a:endParaRPr lang="en-US" sz="1800" dirty="0"/>
          </a:p>
        </p:txBody>
      </p:sp>
      <p:sp>
        <p:nvSpPr>
          <p:cNvPr id="24" name="Text 22"/>
          <p:cNvSpPr/>
          <p:nvPr/>
        </p:nvSpPr>
        <p:spPr>
          <a:xfrm>
            <a:off x="6507328" y="3072384"/>
            <a:ext cx="2046656" cy="749808"/>
          </a:xfrm>
          <a:prstGeom prst="rect">
            <a:avLst/>
          </a:prstGeom>
          <a:noFill/>
          <a:ln/>
        </p:spPr>
        <p:txBody>
          <a:bodyPr wrap="square" lIns="0" tIns="0" rIns="0" bIns="0" rtlCol="0" anchor="t"/>
          <a:lstStyle/>
          <a:p>
            <a:pPr algn="ctr" indent="0" marL="0">
              <a:lnSpc>
                <a:spcPts val="1600"/>
              </a:lnSpc>
              <a:buNone/>
            </a:pPr>
            <a:r>
              <a:rPr lang="en-US" sz="1150" dirty="0">
                <a:solidFill>
                  <a:srgbClr val="6B6E8A"/>
                </a:solidFill>
                <a:latin typeface="Calibri" pitchFamily="34" charset="0"/>
                <a:ea typeface="Calibri" pitchFamily="34" charset="-122"/>
                <a:cs typeface="Calibri" pitchFamily="34" charset="-120"/>
              </a:rPr>
              <a:t>OpenJij SA / SQA, adaptive penalty loop per batch</a:t>
            </a:r>
            <a:endParaRPr lang="en-US" sz="1150" dirty="0"/>
          </a:p>
        </p:txBody>
      </p:sp>
      <p:sp>
        <p:nvSpPr>
          <p:cNvPr id="25" name="Text 23"/>
          <p:cNvSpPr/>
          <p:nvPr/>
        </p:nvSpPr>
        <p:spPr>
          <a:xfrm>
            <a:off x="6434176" y="3785616"/>
            <a:ext cx="2192960" cy="274320"/>
          </a:xfrm>
          <a:prstGeom prst="rect">
            <a:avLst/>
          </a:prstGeom>
          <a:noFill/>
          <a:ln/>
        </p:spPr>
        <p:txBody>
          <a:bodyPr wrap="square" lIns="0" tIns="0" rIns="0" bIns="0" rtlCol="0" anchor="ctr"/>
          <a:lstStyle/>
          <a:p>
            <a:pPr algn="ctr" indent="0" marL="0">
              <a:buNone/>
            </a:pPr>
            <a:r>
              <a:rPr lang="en-US" sz="900" dirty="0">
                <a:solidFill>
                  <a:srgbClr val="2F6F8F"/>
                </a:solidFill>
                <a:latin typeface="Courier New" pitchFamily="34" charset="0"/>
                <a:ea typeface="Courier New" pitchFamily="34" charset="-122"/>
                <a:cs typeface="Courier New" pitchFamily="34" charset="-120"/>
              </a:rPr>
              <a:t>run_adaptive_penalty_loop</a:t>
            </a:r>
            <a:endParaRPr lang="en-US" sz="900" dirty="0"/>
          </a:p>
        </p:txBody>
      </p:sp>
      <p:sp>
        <p:nvSpPr>
          <p:cNvPr id="26" name="Shape 24"/>
          <p:cNvSpPr/>
          <p:nvPr/>
        </p:nvSpPr>
        <p:spPr>
          <a:xfrm>
            <a:off x="8828303" y="2834640"/>
            <a:ext cx="274320" cy="201168"/>
          </a:xfrm>
          <a:prstGeom prst="rightArrow">
            <a:avLst/>
          </a:prstGeom>
          <a:solidFill>
            <a:srgbClr val="C9CCE0"/>
          </a:solidFill>
          <a:ln w="12700">
            <a:solidFill>
              <a:srgbClr val="333333"/>
            </a:solidFill>
            <a:prstDash val="solid"/>
          </a:ln>
        </p:spPr>
      </p:sp>
      <p:sp>
        <p:nvSpPr>
          <p:cNvPr id="27" name="Shape 25"/>
          <p:cNvSpPr/>
          <p:nvPr/>
        </p:nvSpPr>
        <p:spPr>
          <a:xfrm>
            <a:off x="9175775" y="1783080"/>
            <a:ext cx="2448992" cy="2331720"/>
          </a:xfrm>
          <a:prstGeom prst="roundRect">
            <a:avLst>
              <a:gd name="adj" fmla="val 3137"/>
            </a:avLst>
          </a:prstGeom>
          <a:solidFill>
            <a:srgbClr val="F1F2F8"/>
          </a:solidFill>
          <a:ln w="12700">
            <a:solidFill>
              <a:srgbClr val="E2E4EF"/>
            </a:solidFill>
            <a:prstDash val="solid"/>
          </a:ln>
        </p:spPr>
      </p:sp>
      <p:sp>
        <p:nvSpPr>
          <p:cNvPr id="28" name="Shape 26"/>
          <p:cNvSpPr/>
          <p:nvPr/>
        </p:nvSpPr>
        <p:spPr>
          <a:xfrm>
            <a:off x="10144239" y="2029968"/>
            <a:ext cx="512064" cy="512064"/>
          </a:xfrm>
          <a:prstGeom prst="ellipse">
            <a:avLst/>
          </a:prstGeom>
          <a:solidFill>
            <a:srgbClr val="E8833A"/>
          </a:solidFill>
          <a:ln/>
        </p:spPr>
      </p:sp>
      <p:sp>
        <p:nvSpPr>
          <p:cNvPr id="29" name="Text 27"/>
          <p:cNvSpPr/>
          <p:nvPr/>
        </p:nvSpPr>
        <p:spPr>
          <a:xfrm>
            <a:off x="10144239" y="2029968"/>
            <a:ext cx="512064" cy="51206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0" name="Text 28"/>
          <p:cNvSpPr/>
          <p:nvPr/>
        </p:nvSpPr>
        <p:spPr>
          <a:xfrm>
            <a:off x="9376943" y="2670048"/>
            <a:ext cx="2046656" cy="365760"/>
          </a:xfrm>
          <a:prstGeom prst="rect">
            <a:avLst/>
          </a:prstGeom>
          <a:noFill/>
          <a:ln/>
        </p:spPr>
        <p:txBody>
          <a:bodyPr wrap="square" lIns="0" tIns="0" rIns="0" bIns="0" rtlCol="0" anchor="ctr"/>
          <a:lstStyle/>
          <a:p>
            <a:pPr algn="ctr" indent="0" marL="0">
              <a:buNone/>
            </a:pPr>
            <a:r>
              <a:rPr lang="en-US" sz="1800" b="1" dirty="0">
                <a:solidFill>
                  <a:srgbClr val="1A1B3A"/>
                </a:solidFill>
                <a:latin typeface="Cambria" pitchFamily="34" charset="0"/>
                <a:ea typeface="Cambria" pitchFamily="34" charset="-122"/>
                <a:cs typeface="Cambria" pitchFamily="34" charset="-120"/>
              </a:rPr>
              <a:t>Merge</a:t>
            </a:r>
            <a:endParaRPr lang="en-US" sz="1800" dirty="0"/>
          </a:p>
        </p:txBody>
      </p:sp>
      <p:sp>
        <p:nvSpPr>
          <p:cNvPr id="31" name="Text 29"/>
          <p:cNvSpPr/>
          <p:nvPr/>
        </p:nvSpPr>
        <p:spPr>
          <a:xfrm>
            <a:off x="9376943" y="3072384"/>
            <a:ext cx="2046656" cy="749808"/>
          </a:xfrm>
          <a:prstGeom prst="rect">
            <a:avLst/>
          </a:prstGeom>
          <a:noFill/>
          <a:ln/>
        </p:spPr>
        <p:txBody>
          <a:bodyPr wrap="square" lIns="0" tIns="0" rIns="0" bIns="0" rtlCol="0" anchor="t"/>
          <a:lstStyle/>
          <a:p>
            <a:pPr algn="ctr" indent="0" marL="0">
              <a:lnSpc>
                <a:spcPts val="1600"/>
              </a:lnSpc>
              <a:buNone/>
            </a:pPr>
            <a:r>
              <a:rPr lang="en-US" sz="1150" dirty="0">
                <a:solidFill>
                  <a:srgbClr val="6B6E8A"/>
                </a:solidFill>
                <a:latin typeface="Calibri" pitchFamily="34" charset="0"/>
                <a:ea typeface="Calibri" pitchFamily="34" charset="-122"/>
                <a:cs typeface="Calibri" pitchFamily="34" charset="-120"/>
              </a:rPr>
              <a:t>Recombine batches, hub-prune pass, full C1–C4 re-audit</a:t>
            </a:r>
            <a:endParaRPr lang="en-US" sz="1150" dirty="0"/>
          </a:p>
        </p:txBody>
      </p:sp>
      <p:sp>
        <p:nvSpPr>
          <p:cNvPr id="32" name="Text 30"/>
          <p:cNvSpPr/>
          <p:nvPr/>
        </p:nvSpPr>
        <p:spPr>
          <a:xfrm>
            <a:off x="9303791" y="3785616"/>
            <a:ext cx="2192960" cy="274320"/>
          </a:xfrm>
          <a:prstGeom prst="rect">
            <a:avLst/>
          </a:prstGeom>
          <a:noFill/>
          <a:ln/>
        </p:spPr>
        <p:txBody>
          <a:bodyPr wrap="square" lIns="0" tIns="0" rIns="0" bIns="0" rtlCol="0" anchor="ctr"/>
          <a:lstStyle/>
          <a:p>
            <a:pPr algn="ctr" indent="0" marL="0">
              <a:buNone/>
            </a:pPr>
            <a:r>
              <a:rPr lang="en-US" sz="900" dirty="0">
                <a:solidFill>
                  <a:srgbClr val="2F6F8F"/>
                </a:solidFill>
                <a:latin typeface="Courier New" pitchFamily="34" charset="0"/>
                <a:ea typeface="Courier New" pitchFamily="34" charset="-122"/>
                <a:cs typeface="Courier New" pitchFamily="34" charset="-120"/>
              </a:rPr>
              <a:t>postprocess_qubo_solution</a:t>
            </a:r>
            <a:endParaRPr lang="en-US" sz="900" dirty="0"/>
          </a:p>
        </p:txBody>
      </p:sp>
      <p:sp>
        <p:nvSpPr>
          <p:cNvPr id="33" name="Shape 31"/>
          <p:cNvSpPr/>
          <p:nvPr/>
        </p:nvSpPr>
        <p:spPr>
          <a:xfrm>
            <a:off x="566928" y="4407408"/>
            <a:ext cx="11057839" cy="1417320"/>
          </a:xfrm>
          <a:prstGeom prst="roundRect">
            <a:avLst>
              <a:gd name="adj" fmla="val 5161"/>
            </a:avLst>
          </a:prstGeom>
          <a:solidFill>
            <a:srgbClr val="F1F2F8"/>
          </a:solidFill>
          <a:ln w="12700">
            <a:solidFill>
              <a:srgbClr val="E2E4EF"/>
            </a:solidFill>
            <a:prstDash val="solid"/>
          </a:ln>
        </p:spPr>
      </p:sp>
      <p:sp>
        <p:nvSpPr>
          <p:cNvPr id="34" name="Text 32"/>
          <p:cNvSpPr/>
          <p:nvPr/>
        </p:nvSpPr>
        <p:spPr>
          <a:xfrm>
            <a:off x="896112" y="4553712"/>
            <a:ext cx="10399471" cy="1133856"/>
          </a:xfrm>
          <a:prstGeom prst="rect">
            <a:avLst/>
          </a:prstGeom>
          <a:noFill/>
          <a:ln/>
        </p:spPr>
        <p:txBody>
          <a:bodyPr wrap="square" lIns="0" tIns="0" rIns="0" bIns="0" rtlCol="0" anchor="ctr"/>
          <a:lstStyle/>
          <a:p>
            <a:pPr indent="0" marL="0">
              <a:lnSpc>
                <a:spcPts val="2000"/>
              </a:lnSpc>
              <a:buNone/>
            </a:pPr>
            <a:r>
              <a:rPr lang="en-US" sz="1300" b="1" dirty="0">
                <a:solidFill>
                  <a:srgbClr val="E8833A"/>
                </a:solidFill>
                <a:latin typeface="Calibri" pitchFamily="34" charset="0"/>
                <a:ea typeface="Calibri" pitchFamily="34" charset="-122"/>
                <a:cs typeface="Calibri" pitchFamily="34" charset="-120"/>
              </a:rPr>
              <a:t>Adaptive penalty weights.  </a:t>
            </a:r>
            <a:pPr indent="0" marL="0">
              <a:lnSpc>
                <a:spcPts val="2000"/>
              </a:lnSpc>
              <a:buNone/>
            </a:pPr>
            <a:r>
              <a:rPr lang="en-US" sz="1300" dirty="0">
                <a:solidFill>
                  <a:srgbClr val="1A1B3A"/>
                </a:solidFill>
                <a:latin typeface="Calibri" pitchFamily="34" charset="0"/>
                <a:ea typeface="Calibri" pitchFamily="34" charset="-122"/>
                <a:cs typeface="Calibri" pitchFamily="34" charset="-120"/>
              </a:rPr>
              <a:t>Penalties are scaled off an estimated objective magnitude with a floor, then grown 1.5× over up to 3 within-batch iterations until the batch is feasible. Logged finding: the scaled term (~2.5M) dominates the 50k floor in every recorded iteration — </a:t>
            </a:r>
            <a:pPr indent="0" marL="0">
              <a:lnSpc>
                <a:spcPts val="2000"/>
              </a:lnSpc>
              <a:buNone/>
            </a:pPr>
            <a:r>
              <a:rPr lang="en-US" sz="1300" b="1" dirty="0">
                <a:solidFill>
                  <a:srgbClr val="1A1B3A"/>
                </a:solidFill>
                <a:latin typeface="Calibri" pitchFamily="34" charset="0"/>
                <a:ea typeface="Calibri" pitchFamily="34" charset="-122"/>
                <a:cs typeface="Calibri" pitchFamily="34" charset="-120"/>
              </a:rPr>
              <a:t>the floor never binds at this scale.</a:t>
            </a:r>
            <a:pPr indent="0" marL="0">
              <a:lnSpc>
                <a:spcPts val="2000"/>
              </a:lnSpc>
              <a:buNone/>
            </a:pPr>
            <a:r>
              <a:rPr lang="en-US" sz="1300" dirty="0">
                <a:solidFill>
                  <a:srgbClr val="1A1B3A"/>
                </a:solidFill>
                <a:latin typeface="Calibri" pitchFamily="34" charset="0"/>
                <a:ea typeface="Calibri" pitchFamily="34" charset="-122"/>
                <a:cs typeface="Calibri" pitchFamily="34" charset="-120"/>
              </a:rPr>
              <a:t> That is a concrete, checkable observation about how much headroom penalty tuning still has.</a:t>
            </a:r>
            <a:endParaRPr lang="en-US" sz="1300" dirty="0"/>
          </a:p>
        </p:txBody>
      </p:sp>
      <p:sp>
        <p:nvSpPr>
          <p:cNvPr id="35" name="Text 33"/>
          <p:cNvSpPr/>
          <p:nvPr/>
        </p:nvSpPr>
        <p:spPr>
          <a:xfrm>
            <a:off x="566928" y="6382512"/>
            <a:ext cx="11057839" cy="274320"/>
          </a:xfrm>
          <a:prstGeom prst="rect">
            <a:avLst/>
          </a:prstGeom>
          <a:noFill/>
          <a:ln/>
        </p:spPr>
        <p:txBody>
          <a:bodyPr wrap="square" lIns="0" tIns="0" rIns="0" bIns="0" rtlCol="0" anchor="ctr"/>
          <a:lstStyle/>
          <a:p>
            <a:pPr algn="l" indent="0" marL="0">
              <a:buNone/>
            </a:pPr>
            <a:r>
              <a:rPr lang="en-US" sz="950" dirty="0">
                <a:solidFill>
                  <a:srgbClr val="9A9DB5"/>
                </a:solidFill>
                <a:latin typeface="Calibri" pitchFamily="34" charset="0"/>
                <a:ea typeface="Calibri" pitchFamily="34" charset="-122"/>
                <a:cs typeface="Calibri" pitchFamily="34" charset="-120"/>
              </a:rPr>
              <a:t>run_aligned_fsl_comparison.py · parallel split → solve ×N → merge on SLURM (sbatch_scripts/)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420624"/>
          </a:xfrm>
          <a:prstGeom prst="ellipse">
            <a:avLst/>
          </a:prstGeom>
          <a:solidFill>
            <a:srgbClr val="E8833A"/>
          </a:solidFill>
          <a:ln/>
        </p:spPr>
      </p:sp>
      <p:sp>
        <p:nvSpPr>
          <p:cNvPr id="3" name="Text 1"/>
          <p:cNvSpPr/>
          <p:nvPr/>
        </p:nvSpPr>
        <p:spPr>
          <a:xfrm>
            <a:off x="566928" y="4206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13</a:t>
            </a:r>
            <a:endParaRPr lang="en-US" sz="1500" dirty="0"/>
          </a:p>
        </p:txBody>
      </p:sp>
      <p:sp>
        <p:nvSpPr>
          <p:cNvPr id="4" name="Text 2"/>
          <p:cNvSpPr/>
          <p:nvPr/>
        </p:nvSpPr>
        <p:spPr>
          <a:xfrm>
            <a:off x="1170432" y="365760"/>
            <a:ext cx="10454335" cy="548640"/>
          </a:xfrm>
          <a:prstGeom prst="rect">
            <a:avLst/>
          </a:prstGeom>
          <a:noFill/>
          <a:ln/>
        </p:spPr>
        <p:txBody>
          <a:bodyPr wrap="square" lIns="0" tIns="0" rIns="0" bIns="0" rtlCol="0" anchor="ctr"/>
          <a:lstStyle/>
          <a:p>
            <a:pPr algn="l" indent="0" marL="0">
              <a:buNone/>
            </a:pPr>
            <a:r>
              <a:rPr lang="en-US" sz="3000" b="1" dirty="0">
                <a:solidFill>
                  <a:srgbClr val="1A1B3A"/>
                </a:solidFill>
                <a:latin typeface="Cambria" pitchFamily="34" charset="0"/>
                <a:ea typeface="Cambria" pitchFamily="34" charset="-122"/>
                <a:cs typeface="Cambria" pitchFamily="34" charset="-120"/>
              </a:rPr>
              <a:t>The load-bearing compromise: part-batching</a:t>
            </a:r>
            <a:endParaRPr lang="en-US" sz="3000" dirty="0"/>
          </a:p>
        </p:txBody>
      </p:sp>
      <p:sp>
        <p:nvSpPr>
          <p:cNvPr id="5" name="Text 3"/>
          <p:cNvSpPr/>
          <p:nvPr/>
        </p:nvSpPr>
        <p:spPr>
          <a:xfrm>
            <a:off x="1170432" y="932688"/>
            <a:ext cx="10454335" cy="329184"/>
          </a:xfrm>
          <a:prstGeom prst="rect">
            <a:avLst/>
          </a:prstGeom>
          <a:noFill/>
          <a:ln/>
        </p:spPr>
        <p:txBody>
          <a:bodyPr wrap="square" lIns="0" tIns="0" rIns="0" bIns="0" rtlCol="0" anchor="t"/>
          <a:lstStyle/>
          <a:p>
            <a:pPr algn="l" indent="0" marL="0">
              <a:buNone/>
            </a:pPr>
            <a:r>
              <a:rPr lang="en-US" sz="1400" i="1" dirty="0">
                <a:solidFill>
                  <a:srgbClr val="6B6E8A"/>
                </a:solidFill>
                <a:latin typeface="Calibri" pitchFamily="34" charset="0"/>
                <a:ea typeface="Calibri" pitchFamily="34" charset="-122"/>
                <a:cs typeface="Calibri" pitchFamily="34" charset="-120"/>
              </a:rPr>
              <a:t>Be upfront about this. It is the highest-value problem you can hand him on day one.</a:t>
            </a:r>
            <a:endParaRPr lang="en-US" sz="1400" dirty="0"/>
          </a:p>
        </p:txBody>
      </p:sp>
      <p:sp>
        <p:nvSpPr>
          <p:cNvPr id="6" name="Text 4"/>
          <p:cNvSpPr/>
          <p:nvPr/>
        </p:nvSpPr>
        <p:spPr>
          <a:xfrm>
            <a:off x="566928" y="1691640"/>
            <a:ext cx="5897880" cy="2377440"/>
          </a:xfrm>
          <a:prstGeom prst="rect">
            <a:avLst/>
          </a:prstGeom>
          <a:noFill/>
          <a:ln/>
        </p:spPr>
        <p:txBody>
          <a:bodyPr wrap="square" lIns="0" tIns="0" rIns="0" bIns="0" rtlCol="0" anchor="t"/>
          <a:lstStyle/>
          <a:p>
            <a:pPr marL="342900" indent="-342900">
              <a:lnSpc>
                <a:spcPts val="2000"/>
              </a:lnSpc>
              <a:spcAft>
                <a:spcPts val="1000"/>
              </a:spcAft>
              <a:buSzPct val="100000"/>
              <a:buChar char="•"/>
            </a:pPr>
            <a:r>
              <a:rPr lang="en-US" sz="1450" dirty="0">
                <a:solidFill>
                  <a:srgbClr val="1A1B3A"/>
                </a:solidFill>
                <a:latin typeface="Calibri" pitchFamily="34" charset="0"/>
                <a:ea typeface="Calibri" pitchFamily="34" charset="-122"/>
                <a:cs typeface="Calibri" pitchFamily="34" charset="-120"/>
              </a:rPr>
              <a:t>The full problem does not fit in one QUBO, so it is split into independent part-batches.</a:t>
            </a:r>
            <a:endParaRPr lang="en-US" sz="1450" dirty="0"/>
          </a:p>
          <a:p>
            <a:pPr marL="342900" indent="-342900">
              <a:lnSpc>
                <a:spcPts val="2000"/>
              </a:lnSpc>
              <a:spcAft>
                <a:spcPts val="1000"/>
              </a:spcAft>
              <a:buSzPct val="100000"/>
              <a:buChar char="•"/>
            </a:pPr>
            <a:r>
              <a:rPr lang="en-US" sz="1450" dirty="0">
                <a:solidFill>
                  <a:srgbClr val="1A1B3A"/>
                </a:solidFill>
                <a:latin typeface="Calibri" pitchFamily="34" charset="0"/>
                <a:ea typeface="Calibri" pitchFamily="34" charset="-122"/>
                <a:cs typeface="Calibri" pitchFamily="34" charset="-120"/>
              </a:rPr>
              <a:t>Parts do not interact in the objective — so the split looks clean.</a:t>
            </a:r>
            <a:endParaRPr lang="en-US" sz="1450" dirty="0"/>
          </a:p>
          <a:p>
            <a:pPr marL="342900" indent="-342900">
              <a:lnSpc>
                <a:spcPts val="2000"/>
              </a:lnSpc>
              <a:spcAft>
                <a:spcPts val="1000"/>
              </a:spcAft>
              <a:buSzPct val="100000"/>
              <a:buChar char="•"/>
            </a:pPr>
            <a:r>
              <a:rPr lang="en-US" sz="1450" dirty="0">
                <a:solidFill>
                  <a:srgbClr val="1A1B3A"/>
                </a:solidFill>
                <a:latin typeface="Calibri" pitchFamily="34" charset="0"/>
                <a:ea typeface="Calibri" pitchFamily="34" charset="-122"/>
                <a:cs typeface="Calibri" pitchFamily="34" charset="-120"/>
              </a:rPr>
              <a:t>But they do couple through Xⱼ (hub open) and Wⱼ (storage overflow).</a:t>
            </a:r>
            <a:endParaRPr lang="en-US" sz="1450" dirty="0"/>
          </a:p>
          <a:p>
            <a:pPr marL="342900" indent="-342900">
              <a:lnSpc>
                <a:spcPts val="2000"/>
              </a:lnSpc>
              <a:spcAft>
                <a:spcPts val="1000"/>
              </a:spcAft>
              <a:buSzPct val="100000"/>
              <a:buChar char="•"/>
            </a:pPr>
            <a:r>
              <a:rPr lang="en-US" sz="1450" dirty="0">
                <a:solidFill>
                  <a:srgbClr val="1A1B3A"/>
                </a:solidFill>
                <a:latin typeface="Calibri" pitchFamily="34" charset="0"/>
                <a:ea typeface="Calibri" pitchFamily="34" charset="-122"/>
                <a:cs typeface="Calibri" pitchFamily="34" charset="-120"/>
              </a:rPr>
              <a:t>So the decomposition is approximate at exactly the hub-opening decision.</a:t>
            </a:r>
            <a:endParaRPr lang="en-US" sz="1450" dirty="0"/>
          </a:p>
        </p:txBody>
      </p:sp>
      <p:sp>
        <p:nvSpPr>
          <p:cNvPr id="7" name="Shape 5"/>
          <p:cNvSpPr/>
          <p:nvPr/>
        </p:nvSpPr>
        <p:spPr>
          <a:xfrm>
            <a:off x="566928" y="4224528"/>
            <a:ext cx="5897880" cy="1600200"/>
          </a:xfrm>
          <a:prstGeom prst="roundRect">
            <a:avLst>
              <a:gd name="adj" fmla="val 4571"/>
            </a:avLst>
          </a:prstGeom>
          <a:solidFill>
            <a:srgbClr val="1A1B3A"/>
          </a:solidFill>
          <a:ln w="12700">
            <a:solidFill>
              <a:srgbClr val="333333"/>
            </a:solidFill>
            <a:prstDash val="solid"/>
          </a:ln>
        </p:spPr>
      </p:sp>
      <p:sp>
        <p:nvSpPr>
          <p:cNvPr id="8" name="Text 6"/>
          <p:cNvSpPr/>
          <p:nvPr/>
        </p:nvSpPr>
        <p:spPr>
          <a:xfrm>
            <a:off x="877824" y="4407408"/>
            <a:ext cx="5303520" cy="1280160"/>
          </a:xfrm>
          <a:prstGeom prst="rect">
            <a:avLst/>
          </a:prstGeom>
          <a:noFill/>
          <a:ln/>
        </p:spPr>
        <p:txBody>
          <a:bodyPr wrap="square" lIns="0" tIns="0" rIns="0" bIns="0" rtlCol="0" anchor="t"/>
          <a:lstStyle/>
          <a:p>
            <a:pPr indent="0" marL="0">
              <a:lnSpc>
                <a:spcPts val="2100"/>
              </a:lnSpc>
              <a:buNone/>
            </a:pPr>
            <a:r>
              <a:rPr lang="en-US" sz="1500" b="1" dirty="0">
                <a:solidFill>
                  <a:srgbClr val="E8833A"/>
                </a:solidFill>
                <a:latin typeface="Calibri" pitchFamily="34" charset="0"/>
                <a:ea typeface="Calibri" pitchFamily="34" charset="-122"/>
                <a:cs typeface="Calibri" pitchFamily="34" charset="-120"/>
              </a:rPr>
              <a:t>Ask him to attack this first.
</a:t>
            </a:r>
            <a:pPr indent="0" marL="0">
              <a:lnSpc>
                <a:spcPts val="2100"/>
              </a:lnSpc>
              <a:buNone/>
            </a:pPr>
            <a:r>
              <a:rPr lang="en-US" sz="1250" dirty="0">
                <a:solidFill>
                  <a:srgbClr val="FFFFFF"/>
                </a:solidFill>
                <a:latin typeface="Calibri" pitchFamily="34" charset="0"/>
                <a:ea typeface="Calibri" pitchFamily="34" charset="-122"/>
                <a:cs typeface="Calibri" pitchFamily="34" charset="-120"/>
              </a:rPr>
              <a:t>Cross-batch hub coupling is the single change most likely to move the cost gap — more than any sampler tuning.</a:t>
            </a:r>
            <a:endParaRPr lang="en-US" sz="1500" dirty="0"/>
          </a:p>
        </p:txBody>
      </p:sp>
      <p:sp>
        <p:nvSpPr>
          <p:cNvPr id="9" name="Text 7"/>
          <p:cNvSpPr/>
          <p:nvPr/>
        </p:nvSpPr>
        <p:spPr>
          <a:xfrm>
            <a:off x="6876288" y="1664208"/>
            <a:ext cx="4748479" cy="274320"/>
          </a:xfrm>
          <a:prstGeom prst="rect">
            <a:avLst/>
          </a:prstGeom>
          <a:noFill/>
          <a:ln/>
        </p:spPr>
        <p:txBody>
          <a:bodyPr wrap="square" lIns="0" tIns="0" rIns="0" bIns="0" rtlCol="0" anchor="ctr"/>
          <a:lstStyle/>
          <a:p>
            <a:pPr indent="0" marL="0">
              <a:buNone/>
            </a:pPr>
            <a:r>
              <a:rPr lang="en-US" sz="1050" b="1" spc="120" kern="0" dirty="0">
                <a:solidFill>
                  <a:srgbClr val="6B6E8A"/>
                </a:solidFill>
                <a:latin typeface="Calibri" pitchFamily="34" charset="0"/>
                <a:ea typeface="Calibri" pitchFamily="34" charset="-122"/>
                <a:cs typeface="Calibri" pitchFamily="34" charset="-120"/>
              </a:rPr>
              <a:t>WHY IT MATTERS — LOW INSTANCE COST SPLIT</a:t>
            </a:r>
            <a:endParaRPr lang="en-US" sz="1050" dirty="0"/>
          </a:p>
        </p:txBody>
      </p:sp>
      <p:sp>
        <p:nvSpPr>
          <p:cNvPr id="10" name="Text 8"/>
          <p:cNvSpPr/>
          <p:nvPr/>
        </p:nvSpPr>
        <p:spPr>
          <a:xfrm>
            <a:off x="6876288" y="2048256"/>
            <a:ext cx="2944057" cy="256032"/>
          </a:xfrm>
          <a:prstGeom prst="rect">
            <a:avLst/>
          </a:prstGeom>
          <a:noFill/>
          <a:ln/>
        </p:spPr>
        <p:txBody>
          <a:bodyPr wrap="square" lIns="0" tIns="0" rIns="0" bIns="0" rtlCol="0" anchor="ctr"/>
          <a:lstStyle/>
          <a:p>
            <a:pPr indent="0" marL="0">
              <a:buNone/>
            </a:pPr>
            <a:r>
              <a:rPr lang="en-US" sz="1200" dirty="0">
                <a:solidFill>
                  <a:srgbClr val="1A1B3A"/>
                </a:solidFill>
                <a:latin typeface="Calibri" pitchFamily="34" charset="0"/>
                <a:ea typeface="Calibri" pitchFamily="34" charset="-122"/>
                <a:cs typeface="Calibri" pitchFamily="34" charset="-120"/>
              </a:rPr>
              <a:t>Fixed open-hub cost</a:t>
            </a:r>
            <a:endParaRPr lang="en-US" sz="1200" dirty="0"/>
          </a:p>
        </p:txBody>
      </p:sp>
      <p:sp>
        <p:nvSpPr>
          <p:cNvPr id="11" name="Text 9"/>
          <p:cNvSpPr/>
          <p:nvPr/>
        </p:nvSpPr>
        <p:spPr>
          <a:xfrm>
            <a:off x="9820345" y="2048256"/>
            <a:ext cx="1804422" cy="256032"/>
          </a:xfrm>
          <a:prstGeom prst="rect">
            <a:avLst/>
          </a:prstGeom>
          <a:noFill/>
          <a:ln/>
        </p:spPr>
        <p:txBody>
          <a:bodyPr wrap="square" lIns="0" tIns="0" rIns="0" bIns="0" rtlCol="0" anchor="ctr"/>
          <a:lstStyle/>
          <a:p>
            <a:pPr algn="r" indent="0" marL="0">
              <a:buNone/>
            </a:pPr>
            <a:r>
              <a:rPr lang="en-US" sz="1200" b="1" dirty="0">
                <a:solidFill>
                  <a:srgbClr val="1A1B3A"/>
                </a:solidFill>
                <a:latin typeface="Calibri" pitchFamily="34" charset="0"/>
                <a:ea typeface="Calibri" pitchFamily="34" charset="-122"/>
                <a:cs typeface="Calibri" pitchFamily="34" charset="-120"/>
              </a:rPr>
              <a:t>$56.00M</a:t>
            </a:r>
            <a:endParaRPr lang="en-US" sz="1200" dirty="0"/>
          </a:p>
        </p:txBody>
      </p:sp>
      <p:sp>
        <p:nvSpPr>
          <p:cNvPr id="12" name="Shape 10"/>
          <p:cNvSpPr/>
          <p:nvPr/>
        </p:nvSpPr>
        <p:spPr>
          <a:xfrm>
            <a:off x="6876288" y="2340864"/>
            <a:ext cx="4657039" cy="146304"/>
          </a:xfrm>
          <a:prstGeom prst="rect">
            <a:avLst/>
          </a:prstGeom>
          <a:solidFill>
            <a:srgbClr val="E8833A"/>
          </a:solidFill>
          <a:ln w="12700">
            <a:solidFill>
              <a:srgbClr val="333333"/>
            </a:solidFill>
            <a:prstDash val="solid"/>
          </a:ln>
        </p:spPr>
      </p:sp>
      <p:sp>
        <p:nvSpPr>
          <p:cNvPr id="13" name="Text 11"/>
          <p:cNvSpPr/>
          <p:nvPr/>
        </p:nvSpPr>
        <p:spPr>
          <a:xfrm>
            <a:off x="6876288" y="2706624"/>
            <a:ext cx="2944057" cy="256032"/>
          </a:xfrm>
          <a:prstGeom prst="rect">
            <a:avLst/>
          </a:prstGeom>
          <a:noFill/>
          <a:ln/>
        </p:spPr>
        <p:txBody>
          <a:bodyPr wrap="square" lIns="0" tIns="0" rIns="0" bIns="0" rtlCol="0" anchor="ctr"/>
          <a:lstStyle/>
          <a:p>
            <a:pPr indent="0" marL="0">
              <a:buNone/>
            </a:pPr>
            <a:r>
              <a:rPr lang="en-US" sz="1200" dirty="0">
                <a:solidFill>
                  <a:srgbClr val="1A1B3A"/>
                </a:solidFill>
                <a:latin typeface="Calibri" pitchFamily="34" charset="0"/>
                <a:ea typeface="Calibri" pitchFamily="34" charset="-122"/>
                <a:cs typeface="Calibri" pitchFamily="34" charset="-120"/>
              </a:rPr>
              <a:t>Assignment transport</a:t>
            </a:r>
            <a:endParaRPr lang="en-US" sz="1200" dirty="0"/>
          </a:p>
        </p:txBody>
      </p:sp>
      <p:sp>
        <p:nvSpPr>
          <p:cNvPr id="14" name="Text 12"/>
          <p:cNvSpPr/>
          <p:nvPr/>
        </p:nvSpPr>
        <p:spPr>
          <a:xfrm>
            <a:off x="9820345" y="2706624"/>
            <a:ext cx="1804422" cy="256032"/>
          </a:xfrm>
          <a:prstGeom prst="rect">
            <a:avLst/>
          </a:prstGeom>
          <a:noFill/>
          <a:ln/>
        </p:spPr>
        <p:txBody>
          <a:bodyPr wrap="square" lIns="0" tIns="0" rIns="0" bIns="0" rtlCol="0" anchor="ctr"/>
          <a:lstStyle/>
          <a:p>
            <a:pPr algn="r" indent="0" marL="0">
              <a:buNone/>
            </a:pPr>
            <a:r>
              <a:rPr lang="en-US" sz="1200" b="1" dirty="0">
                <a:solidFill>
                  <a:srgbClr val="1A1B3A"/>
                </a:solidFill>
                <a:latin typeface="Calibri" pitchFamily="34" charset="0"/>
                <a:ea typeface="Calibri" pitchFamily="34" charset="-122"/>
                <a:cs typeface="Calibri" pitchFamily="34" charset="-120"/>
              </a:rPr>
              <a:t>$13.05M</a:t>
            </a:r>
            <a:endParaRPr lang="en-US" sz="1200" dirty="0"/>
          </a:p>
        </p:txBody>
      </p:sp>
      <p:sp>
        <p:nvSpPr>
          <p:cNvPr id="15" name="Shape 13"/>
          <p:cNvSpPr/>
          <p:nvPr/>
        </p:nvSpPr>
        <p:spPr>
          <a:xfrm>
            <a:off x="6876288" y="2999232"/>
            <a:ext cx="1085256" cy="146304"/>
          </a:xfrm>
          <a:prstGeom prst="rect">
            <a:avLst/>
          </a:prstGeom>
          <a:solidFill>
            <a:srgbClr val="2F6F8F"/>
          </a:solidFill>
          <a:ln w="12700">
            <a:solidFill>
              <a:srgbClr val="333333"/>
            </a:solidFill>
            <a:prstDash val="solid"/>
          </a:ln>
        </p:spPr>
      </p:sp>
      <p:sp>
        <p:nvSpPr>
          <p:cNvPr id="16" name="Text 14"/>
          <p:cNvSpPr/>
          <p:nvPr/>
        </p:nvSpPr>
        <p:spPr>
          <a:xfrm>
            <a:off x="6876288" y="3364992"/>
            <a:ext cx="2944057" cy="256032"/>
          </a:xfrm>
          <a:prstGeom prst="rect">
            <a:avLst/>
          </a:prstGeom>
          <a:noFill/>
          <a:ln/>
        </p:spPr>
        <p:txBody>
          <a:bodyPr wrap="square" lIns="0" tIns="0" rIns="0" bIns="0" rtlCol="0" anchor="ctr"/>
          <a:lstStyle/>
          <a:p>
            <a:pPr indent="0" marL="0">
              <a:buNone/>
            </a:pPr>
            <a:r>
              <a:rPr lang="en-US" sz="1200" dirty="0">
                <a:solidFill>
                  <a:srgbClr val="1A1B3A"/>
                </a:solidFill>
                <a:latin typeface="Calibri" pitchFamily="34" charset="0"/>
                <a:ea typeface="Calibri" pitchFamily="34" charset="-122"/>
                <a:cs typeface="Calibri" pitchFamily="34" charset="-120"/>
              </a:rPr>
              <a:t>Inventory</a:t>
            </a:r>
            <a:endParaRPr lang="en-US" sz="1200" dirty="0"/>
          </a:p>
        </p:txBody>
      </p:sp>
      <p:sp>
        <p:nvSpPr>
          <p:cNvPr id="17" name="Text 15"/>
          <p:cNvSpPr/>
          <p:nvPr/>
        </p:nvSpPr>
        <p:spPr>
          <a:xfrm>
            <a:off x="9820345" y="3364992"/>
            <a:ext cx="1804422" cy="256032"/>
          </a:xfrm>
          <a:prstGeom prst="rect">
            <a:avLst/>
          </a:prstGeom>
          <a:noFill/>
          <a:ln/>
        </p:spPr>
        <p:txBody>
          <a:bodyPr wrap="square" lIns="0" tIns="0" rIns="0" bIns="0" rtlCol="0" anchor="ctr"/>
          <a:lstStyle/>
          <a:p>
            <a:pPr algn="r" indent="0" marL="0">
              <a:buNone/>
            </a:pPr>
            <a:r>
              <a:rPr lang="en-US" sz="1200" b="1" dirty="0">
                <a:solidFill>
                  <a:srgbClr val="1A1B3A"/>
                </a:solidFill>
                <a:latin typeface="Calibri" pitchFamily="34" charset="0"/>
                <a:ea typeface="Calibri" pitchFamily="34" charset="-122"/>
                <a:cs typeface="Calibri" pitchFamily="34" charset="-120"/>
              </a:rPr>
              <a:t>$8.76M</a:t>
            </a:r>
            <a:endParaRPr lang="en-US" sz="1200" dirty="0"/>
          </a:p>
        </p:txBody>
      </p:sp>
      <p:sp>
        <p:nvSpPr>
          <p:cNvPr id="18" name="Shape 16"/>
          <p:cNvSpPr/>
          <p:nvPr/>
        </p:nvSpPr>
        <p:spPr>
          <a:xfrm>
            <a:off x="6876288" y="3657600"/>
            <a:ext cx="728494" cy="146304"/>
          </a:xfrm>
          <a:prstGeom prst="rect">
            <a:avLst/>
          </a:prstGeom>
          <a:solidFill>
            <a:srgbClr val="2F6F8F"/>
          </a:solidFill>
          <a:ln w="12700">
            <a:solidFill>
              <a:srgbClr val="333333"/>
            </a:solidFill>
            <a:prstDash val="solid"/>
          </a:ln>
        </p:spPr>
      </p:sp>
      <p:sp>
        <p:nvSpPr>
          <p:cNvPr id="19" name="Text 17"/>
          <p:cNvSpPr/>
          <p:nvPr/>
        </p:nvSpPr>
        <p:spPr>
          <a:xfrm>
            <a:off x="6876288" y="4023360"/>
            <a:ext cx="2944057" cy="256032"/>
          </a:xfrm>
          <a:prstGeom prst="rect">
            <a:avLst/>
          </a:prstGeom>
          <a:noFill/>
          <a:ln/>
        </p:spPr>
        <p:txBody>
          <a:bodyPr wrap="square" lIns="0" tIns="0" rIns="0" bIns="0" rtlCol="0" anchor="ctr"/>
          <a:lstStyle/>
          <a:p>
            <a:pPr indent="0" marL="0">
              <a:buNone/>
            </a:pPr>
            <a:r>
              <a:rPr lang="en-US" sz="1200" dirty="0">
                <a:solidFill>
                  <a:srgbClr val="1A1B3A"/>
                </a:solidFill>
                <a:latin typeface="Calibri" pitchFamily="34" charset="0"/>
                <a:ea typeface="Calibri" pitchFamily="34" charset="-122"/>
                <a:cs typeface="Calibri" pitchFamily="34" charset="-120"/>
              </a:rPr>
              <a:t>New-hub transfer</a:t>
            </a:r>
            <a:endParaRPr lang="en-US" sz="1200" dirty="0"/>
          </a:p>
        </p:txBody>
      </p:sp>
      <p:sp>
        <p:nvSpPr>
          <p:cNvPr id="20" name="Text 18"/>
          <p:cNvSpPr/>
          <p:nvPr/>
        </p:nvSpPr>
        <p:spPr>
          <a:xfrm>
            <a:off x="9820345" y="4023360"/>
            <a:ext cx="1804422" cy="256032"/>
          </a:xfrm>
          <a:prstGeom prst="rect">
            <a:avLst/>
          </a:prstGeom>
          <a:noFill/>
          <a:ln/>
        </p:spPr>
        <p:txBody>
          <a:bodyPr wrap="square" lIns="0" tIns="0" rIns="0" bIns="0" rtlCol="0" anchor="ctr"/>
          <a:lstStyle/>
          <a:p>
            <a:pPr algn="r" indent="0" marL="0">
              <a:buNone/>
            </a:pPr>
            <a:r>
              <a:rPr lang="en-US" sz="1200" b="1" dirty="0">
                <a:solidFill>
                  <a:srgbClr val="1A1B3A"/>
                </a:solidFill>
                <a:latin typeface="Calibri" pitchFamily="34" charset="0"/>
                <a:ea typeface="Calibri" pitchFamily="34" charset="-122"/>
                <a:cs typeface="Calibri" pitchFamily="34" charset="-120"/>
              </a:rPr>
              <a:t>$0.56M</a:t>
            </a:r>
            <a:endParaRPr lang="en-US" sz="1200" dirty="0"/>
          </a:p>
        </p:txBody>
      </p:sp>
      <p:sp>
        <p:nvSpPr>
          <p:cNvPr id="21" name="Shape 19"/>
          <p:cNvSpPr/>
          <p:nvPr/>
        </p:nvSpPr>
        <p:spPr>
          <a:xfrm>
            <a:off x="6876288" y="4315968"/>
            <a:ext cx="54864" cy="146304"/>
          </a:xfrm>
          <a:prstGeom prst="rect">
            <a:avLst/>
          </a:prstGeom>
          <a:solidFill>
            <a:srgbClr val="2F6F8F"/>
          </a:solidFill>
          <a:ln w="12700">
            <a:solidFill>
              <a:srgbClr val="333333"/>
            </a:solidFill>
            <a:prstDash val="solid"/>
          </a:ln>
        </p:spPr>
      </p:sp>
      <p:sp>
        <p:nvSpPr>
          <p:cNvPr id="22" name="Text 20"/>
          <p:cNvSpPr/>
          <p:nvPr/>
        </p:nvSpPr>
        <p:spPr>
          <a:xfrm>
            <a:off x="6876288" y="4828032"/>
            <a:ext cx="4748479" cy="960120"/>
          </a:xfrm>
          <a:prstGeom prst="rect">
            <a:avLst/>
          </a:prstGeom>
          <a:noFill/>
          <a:ln/>
        </p:spPr>
        <p:txBody>
          <a:bodyPr wrap="square" lIns="0" tIns="0" rIns="0" bIns="0" rtlCol="0" anchor="t"/>
          <a:lstStyle/>
          <a:p>
            <a:pPr indent="0" marL="0">
              <a:lnSpc>
                <a:spcPts val="1800"/>
              </a:lnSpc>
              <a:buNone/>
            </a:pPr>
            <a:r>
              <a:rPr lang="en-US" sz="1250" i="1" dirty="0">
                <a:solidFill>
                  <a:srgbClr val="1A1B3A"/>
                </a:solidFill>
                <a:latin typeface="Calibri" pitchFamily="34" charset="0"/>
                <a:ea typeface="Calibri" pitchFamily="34" charset="-122"/>
                <a:cs typeface="Calibri" pitchFamily="34" charset="-120"/>
              </a:rPr>
              <a:t>$56M of the $78.4M total is fixed open-hub cost — and that is precisely the term the batching approximates.</a:t>
            </a:r>
            <a:endParaRPr lang="en-US" sz="1250" dirty="0"/>
          </a:p>
        </p:txBody>
      </p:sp>
      <p:sp>
        <p:nvSpPr>
          <p:cNvPr id="23" name="Text 21"/>
          <p:cNvSpPr/>
          <p:nvPr/>
        </p:nvSpPr>
        <p:spPr>
          <a:xfrm>
            <a:off x="566928" y="6382512"/>
            <a:ext cx="11057839" cy="274320"/>
          </a:xfrm>
          <a:prstGeom prst="rect">
            <a:avLst/>
          </a:prstGeom>
          <a:noFill/>
          <a:ln/>
        </p:spPr>
        <p:txBody>
          <a:bodyPr wrap="square" lIns="0" tIns="0" rIns="0" bIns="0" rtlCol="0" anchor="ctr"/>
          <a:lstStyle/>
          <a:p>
            <a:pPr algn="l" indent="0" marL="0">
              <a:buNone/>
            </a:pPr>
            <a:r>
              <a:rPr lang="en-US" sz="950" dirty="0">
                <a:solidFill>
                  <a:srgbClr val="9A9DB5"/>
                </a:solidFill>
                <a:latin typeface="Calibri" pitchFamily="34" charset="0"/>
                <a:ea typeface="Calibri" pitchFamily="34" charset="-122"/>
                <a:cs typeface="Calibri" pitchFamily="34" charset="-120"/>
              </a:rPr>
              <a:t>results/low_std_comparison/low_par_std_sa/qubo/summary.txt</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420624"/>
          </a:xfrm>
          <a:prstGeom prst="ellipse">
            <a:avLst/>
          </a:prstGeom>
          <a:solidFill>
            <a:srgbClr val="E8833A"/>
          </a:solidFill>
          <a:ln/>
        </p:spPr>
      </p:sp>
      <p:sp>
        <p:nvSpPr>
          <p:cNvPr id="3" name="Text 1"/>
          <p:cNvSpPr/>
          <p:nvPr/>
        </p:nvSpPr>
        <p:spPr>
          <a:xfrm>
            <a:off x="566928" y="4206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14</a:t>
            </a:r>
            <a:endParaRPr lang="en-US" sz="1500" dirty="0"/>
          </a:p>
        </p:txBody>
      </p:sp>
      <p:sp>
        <p:nvSpPr>
          <p:cNvPr id="4" name="Text 2"/>
          <p:cNvSpPr/>
          <p:nvPr/>
        </p:nvSpPr>
        <p:spPr>
          <a:xfrm>
            <a:off x="1170432" y="365760"/>
            <a:ext cx="10454335" cy="548640"/>
          </a:xfrm>
          <a:prstGeom prst="rect">
            <a:avLst/>
          </a:prstGeom>
          <a:noFill/>
          <a:ln/>
        </p:spPr>
        <p:txBody>
          <a:bodyPr wrap="square" lIns="0" tIns="0" rIns="0" bIns="0" rtlCol="0" anchor="ctr"/>
          <a:lstStyle/>
          <a:p>
            <a:pPr algn="l" indent="0" marL="0">
              <a:buNone/>
            </a:pPr>
            <a:r>
              <a:rPr lang="en-US" sz="3000" b="1" dirty="0">
                <a:solidFill>
                  <a:srgbClr val="1A1B3A"/>
                </a:solidFill>
                <a:latin typeface="Cambria" pitchFamily="34" charset="0"/>
                <a:ea typeface="Cambria" pitchFamily="34" charset="-122"/>
                <a:cs typeface="Cambria" pitchFamily="34" charset="-120"/>
              </a:rPr>
              <a:t>Head to head — medium instance</a:t>
            </a:r>
            <a:endParaRPr lang="en-US" sz="3000" dirty="0"/>
          </a:p>
        </p:txBody>
      </p:sp>
      <p:sp>
        <p:nvSpPr>
          <p:cNvPr id="5" name="Text 3"/>
          <p:cNvSpPr/>
          <p:nvPr/>
        </p:nvSpPr>
        <p:spPr>
          <a:xfrm>
            <a:off x="1170432" y="932688"/>
            <a:ext cx="10454335" cy="329184"/>
          </a:xfrm>
          <a:prstGeom prst="rect">
            <a:avLst/>
          </a:prstGeom>
          <a:noFill/>
          <a:ln/>
        </p:spPr>
        <p:txBody>
          <a:bodyPr wrap="square" lIns="0" tIns="0" rIns="0" bIns="0" rtlCol="0" anchor="t"/>
          <a:lstStyle/>
          <a:p>
            <a:pPr algn="l" indent="0" marL="0">
              <a:buNone/>
            </a:pPr>
            <a:r>
              <a:rPr lang="en-US" sz="1400" i="1" dirty="0">
                <a:solidFill>
                  <a:srgbClr val="6B6E8A"/>
                </a:solidFill>
                <a:latin typeface="Calibri" pitchFamily="34" charset="0"/>
                <a:ea typeface="Calibri" pitchFamily="34" charset="-122"/>
                <a:cs typeface="Calibri" pitchFamily="34" charset="-120"/>
              </a:rPr>
              <a:t>Stated without spin. Both solvers: zero structural violations.</a:t>
            </a:r>
            <a:endParaRPr lang="en-US" sz="1400" dirty="0"/>
          </a:p>
        </p:txBody>
      </p:sp>
      <p:graphicFrame>
        <p:nvGraphicFramePr>
          <p:cNvPr id="6" name="Chart 0" descr=""/>
          <p:cNvGraphicFramePr/>
          <p:nvPr/>
        </p:nvGraphicFramePr>
        <p:xfrm>
          <a:off x="566928" y="1719072"/>
          <a:ext cx="5760720" cy="2697480"/>
        </p:xfrm>
        <a:graphic xmlns:a="http://schemas.openxmlformats.org/drawingml/2006/main">
          <a:graphicData uri="http://schemas.openxmlformats.org/drawingml/2006/chart">
            <c:chart xmlns:c="http://schemas.openxmlformats.org/drawingml/2006/chart" r:id="rId1"/>
          </a:graphicData>
        </a:graphic>
      </p:graphicFrame>
      <p:sp>
        <p:nvSpPr>
          <p:cNvPr id="7" name="Shape 4"/>
          <p:cNvSpPr/>
          <p:nvPr/>
        </p:nvSpPr>
        <p:spPr>
          <a:xfrm>
            <a:off x="6693408" y="1783080"/>
            <a:ext cx="4931359" cy="1207008"/>
          </a:xfrm>
          <a:prstGeom prst="roundRect">
            <a:avLst>
              <a:gd name="adj" fmla="val 6061"/>
            </a:avLst>
          </a:prstGeom>
          <a:solidFill>
            <a:srgbClr val="F1F2F8"/>
          </a:solidFill>
          <a:ln w="12700">
            <a:solidFill>
              <a:srgbClr val="E2E4EF"/>
            </a:solidFill>
            <a:prstDash val="solid"/>
          </a:ln>
        </p:spPr>
      </p:sp>
      <p:sp>
        <p:nvSpPr>
          <p:cNvPr id="8" name="Text 5"/>
          <p:cNvSpPr/>
          <p:nvPr/>
        </p:nvSpPr>
        <p:spPr>
          <a:xfrm>
            <a:off x="6949440" y="1911096"/>
            <a:ext cx="4419295" cy="457200"/>
          </a:xfrm>
          <a:prstGeom prst="rect">
            <a:avLst/>
          </a:prstGeom>
          <a:noFill/>
          <a:ln/>
        </p:spPr>
        <p:txBody>
          <a:bodyPr wrap="square" lIns="0" tIns="0" rIns="0" bIns="0" rtlCol="0" anchor="ctr"/>
          <a:lstStyle/>
          <a:p>
            <a:pPr indent="0" marL="0">
              <a:buNone/>
            </a:pPr>
            <a:r>
              <a:rPr lang="en-US" sz="2600" b="1" dirty="0">
                <a:solidFill>
                  <a:srgbClr val="E8833A"/>
                </a:solidFill>
                <a:latin typeface="Cambria" pitchFamily="34" charset="0"/>
                <a:ea typeface="Cambria" pitchFamily="34" charset="-122"/>
                <a:cs typeface="Cambria" pitchFamily="34" charset="-120"/>
              </a:rPr>
              <a:t>+7.66%</a:t>
            </a:r>
            <a:endParaRPr lang="en-US" sz="2600" dirty="0"/>
          </a:p>
        </p:txBody>
      </p:sp>
      <p:sp>
        <p:nvSpPr>
          <p:cNvPr id="9" name="Text 6"/>
          <p:cNvSpPr/>
          <p:nvPr/>
        </p:nvSpPr>
        <p:spPr>
          <a:xfrm>
            <a:off x="6949440" y="2404872"/>
            <a:ext cx="4419295" cy="402336"/>
          </a:xfrm>
          <a:prstGeom prst="rect">
            <a:avLst/>
          </a:prstGeom>
          <a:noFill/>
          <a:ln/>
        </p:spPr>
        <p:txBody>
          <a:bodyPr wrap="square" lIns="0" tIns="0" rIns="0" bIns="0" rtlCol="0" anchor="ctr"/>
          <a:lstStyle/>
          <a:p>
            <a:pPr indent="0" marL="0">
              <a:buNone/>
            </a:pPr>
            <a:r>
              <a:rPr lang="en-US" sz="1150" b="1" dirty="0">
                <a:solidFill>
                  <a:srgbClr val="1A1B3A"/>
                </a:solidFill>
                <a:latin typeface="Calibri" pitchFamily="34" charset="0"/>
                <a:ea typeface="Calibri" pitchFamily="34" charset="-122"/>
                <a:cs typeface="Calibri" pitchFamily="34" charset="-120"/>
              </a:rPr>
              <a:t>cost gap vs Gurobi  </a:t>
            </a:r>
            <a:pPr indent="0" marL="0">
              <a:buNone/>
            </a:pPr>
            <a:r>
              <a:rPr lang="en-US" sz="1150" dirty="0">
                <a:solidFill>
                  <a:srgbClr val="6B6E8A"/>
                </a:solidFill>
                <a:latin typeface="Calibri" pitchFamily="34" charset="0"/>
                <a:ea typeface="Calibri" pitchFamily="34" charset="-122"/>
                <a:cs typeface="Calibri" pitchFamily="34" charset="-120"/>
              </a:rPr>
              <a:t>—  $9,118,327 absolute</a:t>
            </a:r>
            <a:endParaRPr lang="en-US" sz="1150" dirty="0"/>
          </a:p>
        </p:txBody>
      </p:sp>
      <p:sp>
        <p:nvSpPr>
          <p:cNvPr id="10" name="Shape 7"/>
          <p:cNvSpPr/>
          <p:nvPr/>
        </p:nvSpPr>
        <p:spPr>
          <a:xfrm>
            <a:off x="6693408" y="3118104"/>
            <a:ext cx="4931359" cy="1207008"/>
          </a:xfrm>
          <a:prstGeom prst="roundRect">
            <a:avLst>
              <a:gd name="adj" fmla="val 6061"/>
            </a:avLst>
          </a:prstGeom>
          <a:solidFill>
            <a:srgbClr val="F1F2F8"/>
          </a:solidFill>
          <a:ln w="12700">
            <a:solidFill>
              <a:srgbClr val="E2E4EF"/>
            </a:solidFill>
            <a:prstDash val="solid"/>
          </a:ln>
        </p:spPr>
      </p:sp>
      <p:sp>
        <p:nvSpPr>
          <p:cNvPr id="11" name="Text 8"/>
          <p:cNvSpPr/>
          <p:nvPr/>
        </p:nvSpPr>
        <p:spPr>
          <a:xfrm>
            <a:off x="6949440" y="3246120"/>
            <a:ext cx="4419295" cy="457200"/>
          </a:xfrm>
          <a:prstGeom prst="rect">
            <a:avLst/>
          </a:prstGeom>
          <a:noFill/>
          <a:ln/>
        </p:spPr>
        <p:txBody>
          <a:bodyPr wrap="square" lIns="0" tIns="0" rIns="0" bIns="0" rtlCol="0" anchor="ctr"/>
          <a:lstStyle/>
          <a:p>
            <a:pPr indent="0" marL="0">
              <a:buNone/>
            </a:pPr>
            <a:r>
              <a:rPr lang="en-US" sz="2600" b="1" dirty="0">
                <a:solidFill>
                  <a:srgbClr val="1A1B3A"/>
                </a:solidFill>
                <a:latin typeface="Cambria" pitchFamily="34" charset="0"/>
                <a:ea typeface="Cambria" pitchFamily="34" charset="-122"/>
                <a:cs typeface="Cambria" pitchFamily="34" charset="-120"/>
              </a:rPr>
              <a:t>6,603s</a:t>
            </a:r>
            <a:endParaRPr lang="en-US" sz="2600" dirty="0"/>
          </a:p>
        </p:txBody>
      </p:sp>
      <p:sp>
        <p:nvSpPr>
          <p:cNvPr id="12" name="Text 9"/>
          <p:cNvSpPr/>
          <p:nvPr/>
        </p:nvSpPr>
        <p:spPr>
          <a:xfrm>
            <a:off x="6949440" y="3739896"/>
            <a:ext cx="4419295" cy="402336"/>
          </a:xfrm>
          <a:prstGeom prst="rect">
            <a:avLst/>
          </a:prstGeom>
          <a:noFill/>
          <a:ln/>
        </p:spPr>
        <p:txBody>
          <a:bodyPr wrap="square" lIns="0" tIns="0" rIns="0" bIns="0" rtlCol="0" anchor="ctr"/>
          <a:lstStyle/>
          <a:p>
            <a:pPr indent="0" marL="0">
              <a:buNone/>
            </a:pPr>
            <a:r>
              <a:rPr lang="en-US" sz="1150" b="1" dirty="0">
                <a:solidFill>
                  <a:srgbClr val="1A1B3A"/>
                </a:solidFill>
                <a:latin typeface="Calibri" pitchFamily="34" charset="0"/>
                <a:ea typeface="Calibri" pitchFamily="34" charset="-122"/>
                <a:cs typeface="Calibri" pitchFamily="34" charset="-120"/>
              </a:rPr>
              <a:t>wall time  </a:t>
            </a:r>
            <a:pPr indent="0" marL="0">
              <a:buNone/>
            </a:pPr>
            <a:r>
              <a:rPr lang="en-US" sz="1150" dirty="0">
                <a:solidFill>
                  <a:srgbClr val="6B6E8A"/>
                </a:solidFill>
                <a:latin typeface="Calibri" pitchFamily="34" charset="0"/>
                <a:ea typeface="Calibri" pitchFamily="34" charset="-122"/>
                <a:cs typeface="Calibri" pitchFamily="34" charset="-120"/>
              </a:rPr>
              <a:t>—  vs 966.9s for Gurobi — 6.8×</a:t>
            </a:r>
            <a:endParaRPr lang="en-US" sz="1150" dirty="0"/>
          </a:p>
        </p:txBody>
      </p:sp>
      <p:sp>
        <p:nvSpPr>
          <p:cNvPr id="13" name="Shape 10"/>
          <p:cNvSpPr/>
          <p:nvPr/>
        </p:nvSpPr>
        <p:spPr>
          <a:xfrm>
            <a:off x="6693408" y="4453128"/>
            <a:ext cx="4931359" cy="1207008"/>
          </a:xfrm>
          <a:prstGeom prst="roundRect">
            <a:avLst>
              <a:gd name="adj" fmla="val 6061"/>
            </a:avLst>
          </a:prstGeom>
          <a:solidFill>
            <a:srgbClr val="F1F2F8"/>
          </a:solidFill>
          <a:ln w="12700">
            <a:solidFill>
              <a:srgbClr val="E2E4EF"/>
            </a:solidFill>
            <a:prstDash val="solid"/>
          </a:ln>
        </p:spPr>
      </p:sp>
      <p:sp>
        <p:nvSpPr>
          <p:cNvPr id="14" name="Text 11"/>
          <p:cNvSpPr/>
          <p:nvPr/>
        </p:nvSpPr>
        <p:spPr>
          <a:xfrm>
            <a:off x="6949440" y="4581144"/>
            <a:ext cx="4419295" cy="457200"/>
          </a:xfrm>
          <a:prstGeom prst="rect">
            <a:avLst/>
          </a:prstGeom>
          <a:noFill/>
          <a:ln/>
        </p:spPr>
        <p:txBody>
          <a:bodyPr wrap="square" lIns="0" tIns="0" rIns="0" bIns="0" rtlCol="0" anchor="ctr"/>
          <a:lstStyle/>
          <a:p>
            <a:pPr indent="0" marL="0">
              <a:buNone/>
            </a:pPr>
            <a:r>
              <a:rPr lang="en-US" sz="2600" b="1" dirty="0">
                <a:solidFill>
                  <a:srgbClr val="1A1B3A"/>
                </a:solidFill>
                <a:latin typeface="Cambria" pitchFamily="34" charset="0"/>
                <a:ea typeface="Cambria" pitchFamily="34" charset="-122"/>
                <a:cs typeface="Cambria" pitchFamily="34" charset="-120"/>
              </a:rPr>
              <a:t>30.8 GB</a:t>
            </a:r>
            <a:endParaRPr lang="en-US" sz="2600" dirty="0"/>
          </a:p>
        </p:txBody>
      </p:sp>
      <p:sp>
        <p:nvSpPr>
          <p:cNvPr id="15" name="Text 12"/>
          <p:cNvSpPr/>
          <p:nvPr/>
        </p:nvSpPr>
        <p:spPr>
          <a:xfrm>
            <a:off x="6949440" y="5074920"/>
            <a:ext cx="4419295" cy="402336"/>
          </a:xfrm>
          <a:prstGeom prst="rect">
            <a:avLst/>
          </a:prstGeom>
          <a:noFill/>
          <a:ln/>
        </p:spPr>
        <p:txBody>
          <a:bodyPr wrap="square" lIns="0" tIns="0" rIns="0" bIns="0" rtlCol="0" anchor="ctr"/>
          <a:lstStyle/>
          <a:p>
            <a:pPr indent="0" marL="0">
              <a:buNone/>
            </a:pPr>
            <a:r>
              <a:rPr lang="en-US" sz="1150" b="1" dirty="0">
                <a:solidFill>
                  <a:srgbClr val="1A1B3A"/>
                </a:solidFill>
                <a:latin typeface="Calibri" pitchFamily="34" charset="0"/>
                <a:ea typeface="Calibri" pitchFamily="34" charset="-122"/>
                <a:cs typeface="Calibri" pitchFamily="34" charset="-120"/>
              </a:rPr>
              <a:t>peak memory  </a:t>
            </a:r>
            <a:pPr indent="0" marL="0">
              <a:buNone/>
            </a:pPr>
            <a:r>
              <a:rPr lang="en-US" sz="1150" dirty="0">
                <a:solidFill>
                  <a:srgbClr val="6B6E8A"/>
                </a:solidFill>
                <a:latin typeface="Calibri" pitchFamily="34" charset="0"/>
                <a:ea typeface="Calibri" pitchFamily="34" charset="-122"/>
                <a:cs typeface="Calibri" pitchFamily="34" charset="-120"/>
              </a:rPr>
              <a:t>—  vs 6.0 GB for Gurobi — 5.1×</a:t>
            </a:r>
            <a:endParaRPr lang="en-US" sz="1150" dirty="0"/>
          </a:p>
        </p:txBody>
      </p:sp>
      <p:sp>
        <p:nvSpPr>
          <p:cNvPr id="16" name="Text 13"/>
          <p:cNvSpPr/>
          <p:nvPr/>
        </p:nvSpPr>
        <p:spPr>
          <a:xfrm>
            <a:off x="566928" y="4617720"/>
            <a:ext cx="5760720" cy="822960"/>
          </a:xfrm>
          <a:prstGeom prst="rect">
            <a:avLst/>
          </a:prstGeom>
          <a:noFill/>
          <a:ln/>
        </p:spPr>
        <p:txBody>
          <a:bodyPr wrap="square" lIns="0" tIns="0" rIns="0" bIns="0" rtlCol="0" anchor="t"/>
          <a:lstStyle/>
          <a:p>
            <a:pPr indent="0" marL="0">
              <a:lnSpc>
                <a:spcPts val="1800"/>
              </a:lnSpc>
              <a:buNone/>
            </a:pPr>
            <a:r>
              <a:rPr lang="en-US" sz="1250" dirty="0">
                <a:solidFill>
                  <a:srgbClr val="6B6E8A"/>
                </a:solidFill>
                <a:latin typeface="Calibri" pitchFamily="34" charset="0"/>
                <a:ea typeface="Calibri" pitchFamily="34" charset="-122"/>
                <a:cs typeface="Calibri" pitchFamily="34" charset="-120"/>
              </a:rPr>
              <a:t>Open hubs: 193 (QUBO) vs 178 (Gurobi). Stocked pairs: 71,262 vs 65,703. Assignments identical at 147,293.</a:t>
            </a:r>
            <a:endParaRPr lang="en-US" sz="1250" dirty="0"/>
          </a:p>
        </p:txBody>
      </p:sp>
      <p:sp>
        <p:nvSpPr>
          <p:cNvPr id="17" name="Text 14"/>
          <p:cNvSpPr/>
          <p:nvPr/>
        </p:nvSpPr>
        <p:spPr>
          <a:xfrm>
            <a:off x="566928" y="6382512"/>
            <a:ext cx="11057839" cy="274320"/>
          </a:xfrm>
          <a:prstGeom prst="rect">
            <a:avLst/>
          </a:prstGeom>
          <a:noFill/>
          <a:ln/>
        </p:spPr>
        <p:txBody>
          <a:bodyPr wrap="square" lIns="0" tIns="0" rIns="0" bIns="0" rtlCol="0" anchor="ctr"/>
          <a:lstStyle/>
          <a:p>
            <a:pPr algn="l" indent="0" marL="0">
              <a:buNone/>
            </a:pPr>
            <a:r>
              <a:rPr lang="en-US" sz="950" dirty="0">
                <a:solidFill>
                  <a:srgbClr val="9A9DB5"/>
                </a:solidFill>
                <a:latin typeface="Calibri" pitchFamily="34" charset="0"/>
                <a:ea typeface="Calibri" pitchFamily="34" charset="-122"/>
                <a:cs typeface="Calibri" pitchFamily="34" charset="-120"/>
              </a:rPr>
              <a:t>results/medium_adaptive/aligned_fsl_20260611_142021/combined_summary.txt</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420624"/>
          </a:xfrm>
          <a:prstGeom prst="ellipse">
            <a:avLst/>
          </a:prstGeom>
          <a:solidFill>
            <a:srgbClr val="E8833A"/>
          </a:solidFill>
          <a:ln/>
        </p:spPr>
      </p:sp>
      <p:sp>
        <p:nvSpPr>
          <p:cNvPr id="3" name="Text 1"/>
          <p:cNvSpPr/>
          <p:nvPr/>
        </p:nvSpPr>
        <p:spPr>
          <a:xfrm>
            <a:off x="566928" y="4206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15</a:t>
            </a:r>
            <a:endParaRPr lang="en-US" sz="1500" dirty="0"/>
          </a:p>
        </p:txBody>
      </p:sp>
      <p:sp>
        <p:nvSpPr>
          <p:cNvPr id="4" name="Text 2"/>
          <p:cNvSpPr/>
          <p:nvPr/>
        </p:nvSpPr>
        <p:spPr>
          <a:xfrm>
            <a:off x="1170432" y="365760"/>
            <a:ext cx="10454335" cy="548640"/>
          </a:xfrm>
          <a:prstGeom prst="rect">
            <a:avLst/>
          </a:prstGeom>
          <a:noFill/>
          <a:ln/>
        </p:spPr>
        <p:txBody>
          <a:bodyPr wrap="square" lIns="0" tIns="0" rIns="0" bIns="0" rtlCol="0" anchor="ctr"/>
          <a:lstStyle/>
          <a:p>
            <a:pPr algn="l" indent="0" marL="0">
              <a:buNone/>
            </a:pPr>
            <a:r>
              <a:rPr lang="en-US" sz="3000" b="1" dirty="0">
                <a:solidFill>
                  <a:srgbClr val="1A1B3A"/>
                </a:solidFill>
                <a:latin typeface="Cambria" pitchFamily="34" charset="0"/>
                <a:ea typeface="Cambria" pitchFamily="34" charset="-122"/>
                <a:cs typeface="Cambria" pitchFamily="34" charset="-120"/>
              </a:rPr>
              <a:t>More compute is not the answer</a:t>
            </a:r>
            <a:endParaRPr lang="en-US" sz="3000" dirty="0"/>
          </a:p>
        </p:txBody>
      </p:sp>
      <p:sp>
        <p:nvSpPr>
          <p:cNvPr id="5" name="Text 3"/>
          <p:cNvSpPr/>
          <p:nvPr/>
        </p:nvSpPr>
        <p:spPr>
          <a:xfrm>
            <a:off x="1170432" y="932688"/>
            <a:ext cx="10454335" cy="329184"/>
          </a:xfrm>
          <a:prstGeom prst="rect">
            <a:avLst/>
          </a:prstGeom>
          <a:noFill/>
          <a:ln/>
        </p:spPr>
        <p:txBody>
          <a:bodyPr wrap="square" lIns="0" tIns="0" rIns="0" bIns="0" rtlCol="0" anchor="t"/>
          <a:lstStyle/>
          <a:p>
            <a:pPr algn="l" indent="0" marL="0">
              <a:buNone/>
            </a:pPr>
            <a:r>
              <a:rPr lang="en-US" sz="1400" i="1" dirty="0">
                <a:solidFill>
                  <a:srgbClr val="6B6E8A"/>
                </a:solidFill>
                <a:latin typeface="Calibri" pitchFamily="34" charset="0"/>
                <a:ea typeface="Calibri" pitchFamily="34" charset="-122"/>
                <a:cs typeface="Calibri" pitchFamily="34" charset="-120"/>
              </a:rPr>
              <a:t>Low instance, same solver, same encoding — only the budget changed.</a:t>
            </a:r>
            <a:endParaRPr lang="en-US" sz="1400" dirty="0"/>
          </a:p>
        </p:txBody>
      </p:sp>
      <p:sp>
        <p:nvSpPr>
          <p:cNvPr id="6" name="Shape 4"/>
          <p:cNvSpPr/>
          <p:nvPr/>
        </p:nvSpPr>
        <p:spPr>
          <a:xfrm>
            <a:off x="566928" y="1719072"/>
            <a:ext cx="5346040" cy="2331720"/>
          </a:xfrm>
          <a:prstGeom prst="roundRect">
            <a:avLst>
              <a:gd name="adj" fmla="val 3137"/>
            </a:avLst>
          </a:prstGeom>
          <a:solidFill>
            <a:srgbClr val="F1F2F8"/>
          </a:solidFill>
          <a:ln w="12700">
            <a:solidFill>
              <a:srgbClr val="E2E4EF"/>
            </a:solidFill>
            <a:prstDash val="solid"/>
          </a:ln>
        </p:spPr>
      </p:sp>
      <p:sp>
        <p:nvSpPr>
          <p:cNvPr id="7" name="Text 5"/>
          <p:cNvSpPr/>
          <p:nvPr/>
        </p:nvSpPr>
        <p:spPr>
          <a:xfrm>
            <a:off x="877824" y="1883664"/>
            <a:ext cx="4724248" cy="310896"/>
          </a:xfrm>
          <a:prstGeom prst="rect">
            <a:avLst/>
          </a:prstGeom>
          <a:noFill/>
          <a:ln/>
        </p:spPr>
        <p:txBody>
          <a:bodyPr wrap="square" lIns="0" tIns="0" rIns="0" bIns="0" rtlCol="0" anchor="ctr"/>
          <a:lstStyle/>
          <a:p>
            <a:pPr indent="0" marL="0">
              <a:buNone/>
            </a:pPr>
            <a:r>
              <a:rPr lang="en-US" sz="1200" b="1" spc="140" kern="0" dirty="0">
                <a:solidFill>
                  <a:srgbClr val="6B6E8A"/>
                </a:solidFill>
                <a:latin typeface="Calibri" pitchFamily="34" charset="0"/>
                <a:ea typeface="Calibri" pitchFamily="34" charset="-122"/>
                <a:cs typeface="Calibri" pitchFamily="34" charset="-120"/>
              </a:rPr>
              <a:t>Matched budget</a:t>
            </a:r>
            <a:endParaRPr lang="en-US" sz="1200" dirty="0"/>
          </a:p>
        </p:txBody>
      </p:sp>
      <p:sp>
        <p:nvSpPr>
          <p:cNvPr id="8" name="Text 6"/>
          <p:cNvSpPr/>
          <p:nvPr/>
        </p:nvSpPr>
        <p:spPr>
          <a:xfrm>
            <a:off x="877824" y="2212848"/>
            <a:ext cx="4724248" cy="640080"/>
          </a:xfrm>
          <a:prstGeom prst="rect">
            <a:avLst/>
          </a:prstGeom>
          <a:noFill/>
          <a:ln/>
        </p:spPr>
        <p:txBody>
          <a:bodyPr wrap="square" lIns="0" tIns="0" rIns="0" bIns="0" rtlCol="0" anchor="ctr"/>
          <a:lstStyle/>
          <a:p>
            <a:pPr indent="0" marL="0">
              <a:buNone/>
            </a:pPr>
            <a:r>
              <a:rPr lang="en-US" sz="3400" b="1" dirty="0">
                <a:solidFill>
                  <a:srgbClr val="2F6F8F"/>
                </a:solidFill>
                <a:latin typeface="Cambria" pitchFamily="34" charset="0"/>
                <a:ea typeface="Cambria" pitchFamily="34" charset="-122"/>
                <a:cs typeface="Cambria" pitchFamily="34" charset="-120"/>
              </a:rPr>
              <a:t>1,200s</a:t>
            </a:r>
            <a:endParaRPr lang="en-US" sz="3400" dirty="0"/>
          </a:p>
        </p:txBody>
      </p:sp>
      <p:sp>
        <p:nvSpPr>
          <p:cNvPr id="9" name="Text 7"/>
          <p:cNvSpPr/>
          <p:nvPr/>
        </p:nvSpPr>
        <p:spPr>
          <a:xfrm>
            <a:off x="877824" y="2871216"/>
            <a:ext cx="4724248" cy="420624"/>
          </a:xfrm>
          <a:prstGeom prst="rect">
            <a:avLst/>
          </a:prstGeom>
          <a:noFill/>
          <a:ln/>
        </p:spPr>
        <p:txBody>
          <a:bodyPr wrap="square" lIns="0" tIns="0" rIns="0" bIns="0" rtlCol="0" anchor="ctr"/>
          <a:lstStyle/>
          <a:p>
            <a:pPr indent="0" marL="0">
              <a:buNone/>
            </a:pPr>
            <a:r>
              <a:rPr lang="en-US" sz="2100" b="1" dirty="0">
                <a:solidFill>
                  <a:srgbClr val="1A1B3A"/>
                </a:solidFill>
                <a:latin typeface="Cambria" pitchFamily="34" charset="0"/>
                <a:ea typeface="Cambria" pitchFamily="34" charset="-122"/>
                <a:cs typeface="Cambria" pitchFamily="34" charset="-120"/>
              </a:rPr>
              <a:t>$78,374,004</a:t>
            </a:r>
            <a:endParaRPr lang="en-US" sz="2100" dirty="0"/>
          </a:p>
        </p:txBody>
      </p:sp>
      <p:sp>
        <p:nvSpPr>
          <p:cNvPr id="10" name="Text 8"/>
          <p:cNvSpPr/>
          <p:nvPr/>
        </p:nvSpPr>
        <p:spPr>
          <a:xfrm>
            <a:off x="877824" y="3346704"/>
            <a:ext cx="4724248" cy="566928"/>
          </a:xfrm>
          <a:prstGeom prst="rect">
            <a:avLst/>
          </a:prstGeom>
          <a:noFill/>
          <a:ln/>
        </p:spPr>
        <p:txBody>
          <a:bodyPr wrap="square" lIns="0" tIns="0" rIns="0" bIns="0" rtlCol="0" anchor="t"/>
          <a:lstStyle/>
          <a:p>
            <a:pPr indent="0" marL="0">
              <a:lnSpc>
                <a:spcPts val="1600"/>
              </a:lnSpc>
              <a:buNone/>
            </a:pPr>
            <a:r>
              <a:rPr lang="en-US" sz="1150" dirty="0">
                <a:solidFill>
                  <a:srgbClr val="6B6E8A"/>
                </a:solidFill>
                <a:latin typeface="Calibri" pitchFamily="34" charset="0"/>
                <a:ea typeface="Calibri" pitchFamily="34" charset="-122"/>
                <a:cs typeface="Calibri" pitchFamily="34" charset="-120"/>
              </a:rPr>
              <a:t>112 hubs open · 29,203 SLA violations · 1.8 GB peak</a:t>
            </a:r>
            <a:endParaRPr lang="en-US" sz="1150" dirty="0"/>
          </a:p>
        </p:txBody>
      </p:sp>
      <p:sp>
        <p:nvSpPr>
          <p:cNvPr id="11" name="Shape 9"/>
          <p:cNvSpPr/>
          <p:nvPr/>
        </p:nvSpPr>
        <p:spPr>
          <a:xfrm>
            <a:off x="6278728" y="1719072"/>
            <a:ext cx="5346040" cy="2331720"/>
          </a:xfrm>
          <a:prstGeom prst="roundRect">
            <a:avLst>
              <a:gd name="adj" fmla="val 3137"/>
            </a:avLst>
          </a:prstGeom>
          <a:solidFill>
            <a:srgbClr val="F1F2F8"/>
          </a:solidFill>
          <a:ln w="12700">
            <a:solidFill>
              <a:srgbClr val="E2E4EF"/>
            </a:solidFill>
            <a:prstDash val="solid"/>
          </a:ln>
        </p:spPr>
      </p:sp>
      <p:sp>
        <p:nvSpPr>
          <p:cNvPr id="12" name="Text 10"/>
          <p:cNvSpPr/>
          <p:nvPr/>
        </p:nvSpPr>
        <p:spPr>
          <a:xfrm>
            <a:off x="6589624" y="1883664"/>
            <a:ext cx="4724248" cy="310896"/>
          </a:xfrm>
          <a:prstGeom prst="rect">
            <a:avLst/>
          </a:prstGeom>
          <a:noFill/>
          <a:ln/>
        </p:spPr>
        <p:txBody>
          <a:bodyPr wrap="square" lIns="0" tIns="0" rIns="0" bIns="0" rtlCol="0" anchor="ctr"/>
          <a:lstStyle/>
          <a:p>
            <a:pPr indent="0" marL="0">
              <a:buNone/>
            </a:pPr>
            <a:r>
              <a:rPr lang="en-US" sz="1200" b="1" spc="140" kern="0" dirty="0">
                <a:solidFill>
                  <a:srgbClr val="6B6E8A"/>
                </a:solidFill>
                <a:latin typeface="Calibri" pitchFamily="34" charset="0"/>
                <a:ea typeface="Calibri" pitchFamily="34" charset="-122"/>
                <a:cs typeface="Calibri" pitchFamily="34" charset="-120"/>
              </a:rPr>
              <a:t>Max budget</a:t>
            </a:r>
            <a:endParaRPr lang="en-US" sz="1200" dirty="0"/>
          </a:p>
        </p:txBody>
      </p:sp>
      <p:sp>
        <p:nvSpPr>
          <p:cNvPr id="13" name="Text 11"/>
          <p:cNvSpPr/>
          <p:nvPr/>
        </p:nvSpPr>
        <p:spPr>
          <a:xfrm>
            <a:off x="6589624" y="2212848"/>
            <a:ext cx="4724248" cy="640080"/>
          </a:xfrm>
          <a:prstGeom prst="rect">
            <a:avLst/>
          </a:prstGeom>
          <a:noFill/>
          <a:ln/>
        </p:spPr>
        <p:txBody>
          <a:bodyPr wrap="square" lIns="0" tIns="0" rIns="0" bIns="0" rtlCol="0" anchor="ctr"/>
          <a:lstStyle/>
          <a:p>
            <a:pPr indent="0" marL="0">
              <a:buNone/>
            </a:pPr>
            <a:r>
              <a:rPr lang="en-US" sz="3400" b="1" dirty="0">
                <a:solidFill>
                  <a:srgbClr val="E8833A"/>
                </a:solidFill>
                <a:latin typeface="Cambria" pitchFamily="34" charset="0"/>
                <a:ea typeface="Cambria" pitchFamily="34" charset="-122"/>
                <a:cs typeface="Cambria" pitchFamily="34" charset="-120"/>
              </a:rPr>
              <a:t>19,860s</a:t>
            </a:r>
            <a:endParaRPr lang="en-US" sz="3400" dirty="0"/>
          </a:p>
        </p:txBody>
      </p:sp>
      <p:sp>
        <p:nvSpPr>
          <p:cNvPr id="14" name="Text 12"/>
          <p:cNvSpPr/>
          <p:nvPr/>
        </p:nvSpPr>
        <p:spPr>
          <a:xfrm>
            <a:off x="6589624" y="2871216"/>
            <a:ext cx="4724248" cy="420624"/>
          </a:xfrm>
          <a:prstGeom prst="rect">
            <a:avLst/>
          </a:prstGeom>
          <a:noFill/>
          <a:ln/>
        </p:spPr>
        <p:txBody>
          <a:bodyPr wrap="square" lIns="0" tIns="0" rIns="0" bIns="0" rtlCol="0" anchor="ctr"/>
          <a:lstStyle/>
          <a:p>
            <a:pPr indent="0" marL="0">
              <a:buNone/>
            </a:pPr>
            <a:r>
              <a:rPr lang="en-US" sz="2100" b="1" dirty="0">
                <a:solidFill>
                  <a:srgbClr val="1A1B3A"/>
                </a:solidFill>
                <a:latin typeface="Cambria" pitchFamily="34" charset="0"/>
                <a:ea typeface="Cambria" pitchFamily="34" charset="-122"/>
                <a:cs typeface="Cambria" pitchFamily="34" charset="-120"/>
              </a:rPr>
              <a:t>$78,272,803</a:t>
            </a:r>
            <a:endParaRPr lang="en-US" sz="2100" dirty="0"/>
          </a:p>
        </p:txBody>
      </p:sp>
      <p:sp>
        <p:nvSpPr>
          <p:cNvPr id="15" name="Text 13"/>
          <p:cNvSpPr/>
          <p:nvPr/>
        </p:nvSpPr>
        <p:spPr>
          <a:xfrm>
            <a:off x="6589624" y="3346704"/>
            <a:ext cx="4724248" cy="566928"/>
          </a:xfrm>
          <a:prstGeom prst="rect">
            <a:avLst/>
          </a:prstGeom>
          <a:noFill/>
          <a:ln/>
        </p:spPr>
        <p:txBody>
          <a:bodyPr wrap="square" lIns="0" tIns="0" rIns="0" bIns="0" rtlCol="0" anchor="t"/>
          <a:lstStyle/>
          <a:p>
            <a:pPr indent="0" marL="0">
              <a:lnSpc>
                <a:spcPts val="1600"/>
              </a:lnSpc>
              <a:buNone/>
            </a:pPr>
            <a:r>
              <a:rPr lang="en-US" sz="1150" dirty="0">
                <a:solidFill>
                  <a:srgbClr val="6B6E8A"/>
                </a:solidFill>
                <a:latin typeface="Calibri" pitchFamily="34" charset="0"/>
                <a:ea typeface="Calibri" pitchFamily="34" charset="-122"/>
                <a:cs typeface="Calibri" pitchFamily="34" charset="-120"/>
              </a:rPr>
              <a:t>112 hubs open · 28,362 SLA violations · 8.7 GB peak</a:t>
            </a:r>
            <a:endParaRPr lang="en-US" sz="1150" dirty="0"/>
          </a:p>
        </p:txBody>
      </p:sp>
      <p:sp>
        <p:nvSpPr>
          <p:cNvPr id="16" name="Shape 14"/>
          <p:cNvSpPr/>
          <p:nvPr/>
        </p:nvSpPr>
        <p:spPr>
          <a:xfrm>
            <a:off x="566928" y="4261104"/>
            <a:ext cx="11057839" cy="1572768"/>
          </a:xfrm>
          <a:prstGeom prst="roundRect">
            <a:avLst>
              <a:gd name="adj" fmla="val 4651"/>
            </a:avLst>
          </a:prstGeom>
          <a:solidFill>
            <a:srgbClr val="1A1B3A"/>
          </a:solidFill>
          <a:ln w="12700">
            <a:solidFill>
              <a:srgbClr val="333333"/>
            </a:solidFill>
            <a:prstDash val="solid"/>
          </a:ln>
        </p:spPr>
      </p:sp>
      <p:sp>
        <p:nvSpPr>
          <p:cNvPr id="17" name="Text 15"/>
          <p:cNvSpPr/>
          <p:nvPr/>
        </p:nvSpPr>
        <p:spPr>
          <a:xfrm>
            <a:off x="932688" y="4443984"/>
            <a:ext cx="10326319" cy="1243584"/>
          </a:xfrm>
          <a:prstGeom prst="rect">
            <a:avLst/>
          </a:prstGeom>
          <a:noFill/>
          <a:ln/>
        </p:spPr>
        <p:txBody>
          <a:bodyPr wrap="square" lIns="0" tIns="0" rIns="0" bIns="0" rtlCol="0" anchor="t"/>
          <a:lstStyle/>
          <a:p>
            <a:pPr indent="0" marL="0">
              <a:lnSpc>
                <a:spcPts val="2300"/>
              </a:lnSpc>
              <a:buNone/>
            </a:pPr>
            <a:r>
              <a:rPr lang="en-US" sz="1800" b="1" dirty="0">
                <a:solidFill>
                  <a:srgbClr val="E8833A"/>
                </a:solidFill>
                <a:latin typeface="Calibri" pitchFamily="34" charset="0"/>
                <a:ea typeface="Calibri" pitchFamily="34" charset="-122"/>
                <a:cs typeface="Calibri" pitchFamily="34" charset="-120"/>
              </a:rPr>
              <a:t>16.5× the compute bought a 0.13% improvement.
</a:t>
            </a:r>
            <a:pPr indent="0" marL="0">
              <a:lnSpc>
                <a:spcPts val="2300"/>
              </a:lnSpc>
              <a:buNone/>
            </a:pPr>
            <a:r>
              <a:rPr lang="en-US" sz="1350" dirty="0">
                <a:solidFill>
                  <a:srgbClr val="FFFFFF"/>
                </a:solidFill>
                <a:latin typeface="Calibri" pitchFamily="34" charset="0"/>
                <a:ea typeface="Calibri" pitchFamily="34" charset="-122"/>
                <a:cs typeface="Calibri" pitchFamily="34" charset="-120"/>
              </a:rPr>
              <a:t>The returns are flat, which says the bottleneck is the formulation and the decomposition — not the sampler’s budget. That reframes his job from “tune the annealer” to “fix the encoding,” and probably saves him a month.</a:t>
            </a:r>
            <a:endParaRPr lang="en-US" sz="1800" dirty="0"/>
          </a:p>
        </p:txBody>
      </p:sp>
      <p:sp>
        <p:nvSpPr>
          <p:cNvPr id="18" name="Text 16"/>
          <p:cNvSpPr/>
          <p:nvPr/>
        </p:nvSpPr>
        <p:spPr>
          <a:xfrm>
            <a:off x="566928" y="6382512"/>
            <a:ext cx="11057839" cy="274320"/>
          </a:xfrm>
          <a:prstGeom prst="rect">
            <a:avLst/>
          </a:prstGeom>
          <a:noFill/>
          <a:ln/>
        </p:spPr>
        <p:txBody>
          <a:bodyPr wrap="square" lIns="0" tIns="0" rIns="0" bIns="0" rtlCol="0" anchor="ctr"/>
          <a:lstStyle/>
          <a:p>
            <a:pPr algn="l" indent="0" marL="0">
              <a:buNone/>
            </a:pPr>
            <a:r>
              <a:rPr lang="en-US" sz="950" dirty="0">
                <a:solidFill>
                  <a:srgbClr val="9A9DB5"/>
                </a:solidFill>
                <a:latin typeface="Calibri" pitchFamily="34" charset="0"/>
                <a:ea typeface="Calibri" pitchFamily="34" charset="-122"/>
                <a:cs typeface="Calibri" pitchFamily="34" charset="-120"/>
              </a:rPr>
              <a:t>low_par_std_sa (1,200s) vs low_par_max (19,860s) — identical encoding, identical instance</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A1B3A"/>
        </a:solidFill>
      </p:bgPr>
    </p:bg>
    <p:spTree>
      <p:nvGrpSpPr>
        <p:cNvPr id="1" name=""/>
        <p:cNvGrpSpPr/>
        <p:nvPr/>
      </p:nvGrpSpPr>
      <p:grpSpPr>
        <a:xfrm>
          <a:off x="0" y="0"/>
          <a:ext cx="0" cy="0"/>
          <a:chOff x="0" y="0"/>
          <a:chExt cx="0" cy="0"/>
        </a:xfrm>
      </p:grpSpPr>
      <p:sp>
        <p:nvSpPr>
          <p:cNvPr id="2" name="Shape 0"/>
          <p:cNvSpPr/>
          <p:nvPr/>
        </p:nvSpPr>
        <p:spPr>
          <a:xfrm>
            <a:off x="566928" y="420624"/>
            <a:ext cx="420624" cy="420624"/>
          </a:xfrm>
          <a:prstGeom prst="ellipse">
            <a:avLst/>
          </a:prstGeom>
          <a:solidFill>
            <a:srgbClr val="E8833A"/>
          </a:solidFill>
          <a:ln/>
        </p:spPr>
      </p:sp>
      <p:sp>
        <p:nvSpPr>
          <p:cNvPr id="3" name="Text 1"/>
          <p:cNvSpPr/>
          <p:nvPr/>
        </p:nvSpPr>
        <p:spPr>
          <a:xfrm>
            <a:off x="566928" y="4206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16</a:t>
            </a:r>
            <a:endParaRPr lang="en-US" sz="1500" dirty="0"/>
          </a:p>
        </p:txBody>
      </p:sp>
      <p:sp>
        <p:nvSpPr>
          <p:cNvPr id="4" name="Text 2"/>
          <p:cNvSpPr/>
          <p:nvPr/>
        </p:nvSpPr>
        <p:spPr>
          <a:xfrm>
            <a:off x="1170432" y="365760"/>
            <a:ext cx="10454335" cy="54864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The finding worth leading with</a:t>
            </a:r>
            <a:endParaRPr lang="en-US" sz="3000" dirty="0"/>
          </a:p>
        </p:txBody>
      </p:sp>
      <p:sp>
        <p:nvSpPr>
          <p:cNvPr id="5" name="Text 3"/>
          <p:cNvSpPr/>
          <p:nvPr/>
        </p:nvSpPr>
        <p:spPr>
          <a:xfrm>
            <a:off x="1170432" y="932688"/>
            <a:ext cx="10454335" cy="329184"/>
          </a:xfrm>
          <a:prstGeom prst="rect">
            <a:avLst/>
          </a:prstGeom>
          <a:noFill/>
          <a:ln/>
        </p:spPr>
        <p:txBody>
          <a:bodyPr wrap="square" lIns="0" tIns="0" rIns="0" bIns="0" rtlCol="0" anchor="t"/>
          <a:lstStyle/>
          <a:p>
            <a:pPr algn="l" indent="0" marL="0">
              <a:buNone/>
            </a:pPr>
            <a:r>
              <a:rPr lang="en-US" sz="1400" i="1" dirty="0">
                <a:solidFill>
                  <a:srgbClr val="A9ADCB"/>
                </a:solidFill>
                <a:latin typeface="Calibri" pitchFamily="34" charset="0"/>
                <a:ea typeface="Calibri" pitchFamily="34" charset="-122"/>
                <a:cs typeface="Calibri" pitchFamily="34" charset="-120"/>
              </a:rPr>
              <a:t>Save this for last. It is your best hook.</a:t>
            </a:r>
            <a:endParaRPr lang="en-US" sz="1400" dirty="0"/>
          </a:p>
        </p:txBody>
      </p:sp>
      <p:sp>
        <p:nvSpPr>
          <p:cNvPr id="6" name="Text 4"/>
          <p:cNvSpPr/>
          <p:nvPr/>
        </p:nvSpPr>
        <p:spPr>
          <a:xfrm>
            <a:off x="566928" y="1572768"/>
            <a:ext cx="11057839" cy="566928"/>
          </a:xfrm>
          <a:prstGeom prst="rect">
            <a:avLst/>
          </a:prstGeom>
          <a:noFill/>
          <a:ln/>
        </p:spPr>
        <p:txBody>
          <a:bodyPr wrap="square" lIns="0" tIns="0" rIns="0" bIns="0" rtlCol="0" anchor="ctr"/>
          <a:lstStyle/>
          <a:p>
            <a:pPr indent="0" marL="0">
              <a:buNone/>
            </a:pPr>
            <a:r>
              <a:rPr lang="en-US" sz="1900" dirty="0">
                <a:solidFill>
                  <a:srgbClr val="FFFFFF"/>
                </a:solidFill>
                <a:latin typeface="Cambria" pitchFamily="34" charset="0"/>
                <a:ea typeface="Cambria" pitchFamily="34" charset="-122"/>
                <a:cs typeface="Cambria" pitchFamily="34" charset="-120"/>
              </a:rPr>
              <a:t>QUBO and Gurobi land within 7.66% on cost — but agree on only </a:t>
            </a:r>
            <a:pPr indent="0" marL="0">
              <a:buNone/>
            </a:pPr>
            <a:r>
              <a:rPr lang="en-US" sz="1900" b="1" dirty="0">
                <a:solidFill>
                  <a:srgbClr val="E8833A"/>
                </a:solidFill>
                <a:latin typeface="Cambria" pitchFamily="34" charset="0"/>
                <a:ea typeface="Cambria" pitchFamily="34" charset="-122"/>
                <a:cs typeface="Cambria" pitchFamily="34" charset="-120"/>
              </a:rPr>
              <a:t>44.7%</a:t>
            </a:r>
            <a:pPr indent="0" marL="0">
              <a:buNone/>
            </a:pPr>
            <a:r>
              <a:rPr lang="en-US" sz="1900" dirty="0">
                <a:solidFill>
                  <a:srgbClr val="FFFFFF"/>
                </a:solidFill>
                <a:latin typeface="Cambria" pitchFamily="34" charset="0"/>
                <a:ea typeface="Cambria" pitchFamily="34" charset="-122"/>
                <a:cs typeface="Cambria" pitchFamily="34" charset="-120"/>
              </a:rPr>
              <a:t> of assignments.</a:t>
            </a:r>
            <a:endParaRPr lang="en-US" sz="1900" dirty="0"/>
          </a:p>
        </p:txBody>
      </p:sp>
      <p:sp>
        <p:nvSpPr>
          <p:cNvPr id="7" name="Shape 5"/>
          <p:cNvSpPr/>
          <p:nvPr/>
        </p:nvSpPr>
        <p:spPr>
          <a:xfrm>
            <a:off x="566928" y="2286000"/>
            <a:ext cx="2627300" cy="1417320"/>
          </a:xfrm>
          <a:prstGeom prst="roundRect">
            <a:avLst>
              <a:gd name="adj" fmla="val 5161"/>
            </a:avLst>
          </a:prstGeom>
          <a:solidFill>
            <a:srgbClr val="26284C"/>
          </a:solidFill>
          <a:ln w="12700">
            <a:solidFill>
              <a:srgbClr val="26284C"/>
            </a:solidFill>
            <a:prstDash val="solid"/>
          </a:ln>
        </p:spPr>
      </p:sp>
      <p:sp>
        <p:nvSpPr>
          <p:cNvPr id="8" name="Text 6"/>
          <p:cNvSpPr/>
          <p:nvPr/>
        </p:nvSpPr>
        <p:spPr>
          <a:xfrm>
            <a:off x="804672" y="2395728"/>
            <a:ext cx="2151812" cy="566928"/>
          </a:xfrm>
          <a:prstGeom prst="rect">
            <a:avLst/>
          </a:prstGeom>
          <a:noFill/>
          <a:ln/>
        </p:spPr>
        <p:txBody>
          <a:bodyPr wrap="square" lIns="0" tIns="0" rIns="0" bIns="0" rtlCol="0" anchor="ctr"/>
          <a:lstStyle/>
          <a:p>
            <a:pPr indent="0" marL="0">
              <a:buNone/>
            </a:pPr>
            <a:r>
              <a:rPr lang="en-US" sz="3000" b="1" dirty="0">
                <a:solidFill>
                  <a:srgbClr val="E8833A"/>
                </a:solidFill>
                <a:latin typeface="Cambria" pitchFamily="34" charset="0"/>
                <a:ea typeface="Cambria" pitchFamily="34" charset="-122"/>
                <a:cs typeface="Cambria" pitchFamily="34" charset="-120"/>
              </a:rPr>
              <a:t>0.61</a:t>
            </a:r>
            <a:endParaRPr lang="en-US" sz="3000" dirty="0"/>
          </a:p>
        </p:txBody>
      </p:sp>
      <p:sp>
        <p:nvSpPr>
          <p:cNvPr id="9" name="Text 7"/>
          <p:cNvSpPr/>
          <p:nvPr/>
        </p:nvSpPr>
        <p:spPr>
          <a:xfrm>
            <a:off x="804672" y="2980944"/>
            <a:ext cx="2151812" cy="603504"/>
          </a:xfrm>
          <a:prstGeom prst="rect">
            <a:avLst/>
          </a:prstGeom>
          <a:noFill/>
          <a:ln/>
        </p:spPr>
        <p:txBody>
          <a:bodyPr wrap="square" lIns="0" tIns="0" rIns="0" bIns="0" rtlCol="0" anchor="t"/>
          <a:lstStyle/>
          <a:p>
            <a:pPr indent="0" marL="0">
              <a:lnSpc>
                <a:spcPts val="1400"/>
              </a:lnSpc>
              <a:buNone/>
            </a:pPr>
            <a:r>
              <a:rPr lang="en-US" sz="1050" b="1" spc="100" kern="0" dirty="0">
                <a:solidFill>
                  <a:srgbClr val="A9ADCB"/>
                </a:solidFill>
                <a:latin typeface="Calibri" pitchFamily="34" charset="0"/>
                <a:ea typeface="Calibri" pitchFamily="34" charset="-122"/>
                <a:cs typeface="Calibri" pitchFamily="34" charset="-120"/>
              </a:rPr>
              <a:t>OPEN-HUB</a:t>
            </a:r>
            <a:endParaRPr lang="en-US" sz="1050" dirty="0"/>
          </a:p>
          <a:p>
            <a:pPr indent="0" marL="0">
              <a:lnSpc>
                <a:spcPts val="1400"/>
              </a:lnSpc>
              <a:buNone/>
            </a:pPr>
            <a:r>
              <a:rPr lang="en-US" sz="1050" b="1" spc="100" kern="0" dirty="0">
                <a:solidFill>
                  <a:srgbClr val="A9ADCB"/>
                </a:solidFill>
                <a:latin typeface="Calibri" pitchFamily="34" charset="0"/>
                <a:ea typeface="Calibri" pitchFamily="34" charset="-122"/>
                <a:cs typeface="Calibri" pitchFamily="34" charset="-120"/>
              </a:rPr>
              <a:t>JACCARD</a:t>
            </a:r>
            <a:endParaRPr lang="en-US" sz="1050" dirty="0"/>
          </a:p>
        </p:txBody>
      </p:sp>
      <p:sp>
        <p:nvSpPr>
          <p:cNvPr id="10" name="Shape 8"/>
          <p:cNvSpPr/>
          <p:nvPr/>
        </p:nvSpPr>
        <p:spPr>
          <a:xfrm>
            <a:off x="3377108" y="2286000"/>
            <a:ext cx="2627300" cy="1417320"/>
          </a:xfrm>
          <a:prstGeom prst="roundRect">
            <a:avLst>
              <a:gd name="adj" fmla="val 5161"/>
            </a:avLst>
          </a:prstGeom>
          <a:solidFill>
            <a:srgbClr val="26284C"/>
          </a:solidFill>
          <a:ln w="12700">
            <a:solidFill>
              <a:srgbClr val="26284C"/>
            </a:solidFill>
            <a:prstDash val="solid"/>
          </a:ln>
        </p:spPr>
      </p:sp>
      <p:sp>
        <p:nvSpPr>
          <p:cNvPr id="11" name="Text 9"/>
          <p:cNvSpPr/>
          <p:nvPr/>
        </p:nvSpPr>
        <p:spPr>
          <a:xfrm>
            <a:off x="3614852" y="2395728"/>
            <a:ext cx="2151812" cy="566928"/>
          </a:xfrm>
          <a:prstGeom prst="rect">
            <a:avLst/>
          </a:prstGeom>
          <a:noFill/>
          <a:ln/>
        </p:spPr>
        <p:txBody>
          <a:bodyPr wrap="square" lIns="0" tIns="0" rIns="0" bIns="0" rtlCol="0" anchor="ctr"/>
          <a:lstStyle/>
          <a:p>
            <a:pPr indent="0" marL="0">
              <a:buNone/>
            </a:pPr>
            <a:r>
              <a:rPr lang="en-US" sz="3000" b="1" dirty="0">
                <a:solidFill>
                  <a:srgbClr val="E8833A"/>
                </a:solidFill>
                <a:latin typeface="Cambria" pitchFamily="34" charset="0"/>
                <a:ea typeface="Cambria" pitchFamily="34" charset="-122"/>
                <a:cs typeface="Cambria" pitchFamily="34" charset="-120"/>
              </a:rPr>
              <a:t>0.44</a:t>
            </a:r>
            <a:endParaRPr lang="en-US" sz="3000" dirty="0"/>
          </a:p>
        </p:txBody>
      </p:sp>
      <p:sp>
        <p:nvSpPr>
          <p:cNvPr id="12" name="Text 10"/>
          <p:cNvSpPr/>
          <p:nvPr/>
        </p:nvSpPr>
        <p:spPr>
          <a:xfrm>
            <a:off x="3614852" y="2980944"/>
            <a:ext cx="2151812" cy="603504"/>
          </a:xfrm>
          <a:prstGeom prst="rect">
            <a:avLst/>
          </a:prstGeom>
          <a:noFill/>
          <a:ln/>
        </p:spPr>
        <p:txBody>
          <a:bodyPr wrap="square" lIns="0" tIns="0" rIns="0" bIns="0" rtlCol="0" anchor="t"/>
          <a:lstStyle/>
          <a:p>
            <a:pPr indent="0" marL="0">
              <a:lnSpc>
                <a:spcPts val="1400"/>
              </a:lnSpc>
              <a:buNone/>
            </a:pPr>
            <a:r>
              <a:rPr lang="en-US" sz="1050" b="1" spc="100" kern="0" dirty="0">
                <a:solidFill>
                  <a:srgbClr val="A9ADCB"/>
                </a:solidFill>
                <a:latin typeface="Calibri" pitchFamily="34" charset="0"/>
                <a:ea typeface="Calibri" pitchFamily="34" charset="-122"/>
                <a:cs typeface="Calibri" pitchFamily="34" charset="-120"/>
              </a:rPr>
              <a:t>STOCKED-PAIR</a:t>
            </a:r>
            <a:endParaRPr lang="en-US" sz="1050" dirty="0"/>
          </a:p>
          <a:p>
            <a:pPr indent="0" marL="0">
              <a:lnSpc>
                <a:spcPts val="1400"/>
              </a:lnSpc>
              <a:buNone/>
            </a:pPr>
            <a:r>
              <a:rPr lang="en-US" sz="1050" b="1" spc="100" kern="0" dirty="0">
                <a:solidFill>
                  <a:srgbClr val="A9ADCB"/>
                </a:solidFill>
                <a:latin typeface="Calibri" pitchFamily="34" charset="0"/>
                <a:ea typeface="Calibri" pitchFamily="34" charset="-122"/>
                <a:cs typeface="Calibri" pitchFamily="34" charset="-120"/>
              </a:rPr>
              <a:t>JACCARD</a:t>
            </a:r>
            <a:endParaRPr lang="en-US" sz="1050" dirty="0"/>
          </a:p>
        </p:txBody>
      </p:sp>
      <p:sp>
        <p:nvSpPr>
          <p:cNvPr id="13" name="Shape 11"/>
          <p:cNvSpPr/>
          <p:nvPr/>
        </p:nvSpPr>
        <p:spPr>
          <a:xfrm>
            <a:off x="6187288" y="2286000"/>
            <a:ext cx="2627300" cy="1417320"/>
          </a:xfrm>
          <a:prstGeom prst="roundRect">
            <a:avLst>
              <a:gd name="adj" fmla="val 5161"/>
            </a:avLst>
          </a:prstGeom>
          <a:solidFill>
            <a:srgbClr val="26284C"/>
          </a:solidFill>
          <a:ln w="12700">
            <a:solidFill>
              <a:srgbClr val="26284C"/>
            </a:solidFill>
            <a:prstDash val="solid"/>
          </a:ln>
        </p:spPr>
      </p:sp>
      <p:sp>
        <p:nvSpPr>
          <p:cNvPr id="14" name="Text 12"/>
          <p:cNvSpPr/>
          <p:nvPr/>
        </p:nvSpPr>
        <p:spPr>
          <a:xfrm>
            <a:off x="6425032" y="2395728"/>
            <a:ext cx="2151812" cy="566928"/>
          </a:xfrm>
          <a:prstGeom prst="rect">
            <a:avLst/>
          </a:prstGeom>
          <a:noFill/>
          <a:ln/>
        </p:spPr>
        <p:txBody>
          <a:bodyPr wrap="square" lIns="0" tIns="0" rIns="0" bIns="0" rtlCol="0" anchor="ctr"/>
          <a:lstStyle/>
          <a:p>
            <a:pPr indent="0" marL="0">
              <a:buNone/>
            </a:pPr>
            <a:r>
              <a:rPr lang="en-US" sz="3000" b="1" dirty="0">
                <a:solidFill>
                  <a:srgbClr val="E8833A"/>
                </a:solidFill>
                <a:latin typeface="Cambria" pitchFamily="34" charset="0"/>
                <a:ea typeface="Cambria" pitchFamily="34" charset="-122"/>
                <a:cs typeface="Cambria" pitchFamily="34" charset="-120"/>
              </a:rPr>
              <a:t>0.29</a:t>
            </a:r>
            <a:endParaRPr lang="en-US" sz="3000" dirty="0"/>
          </a:p>
        </p:txBody>
      </p:sp>
      <p:sp>
        <p:nvSpPr>
          <p:cNvPr id="15" name="Text 13"/>
          <p:cNvSpPr/>
          <p:nvPr/>
        </p:nvSpPr>
        <p:spPr>
          <a:xfrm>
            <a:off x="6425032" y="2980944"/>
            <a:ext cx="2151812" cy="603504"/>
          </a:xfrm>
          <a:prstGeom prst="rect">
            <a:avLst/>
          </a:prstGeom>
          <a:noFill/>
          <a:ln/>
        </p:spPr>
        <p:txBody>
          <a:bodyPr wrap="square" lIns="0" tIns="0" rIns="0" bIns="0" rtlCol="0" anchor="t"/>
          <a:lstStyle/>
          <a:p>
            <a:pPr indent="0" marL="0">
              <a:lnSpc>
                <a:spcPts val="1400"/>
              </a:lnSpc>
              <a:buNone/>
            </a:pPr>
            <a:r>
              <a:rPr lang="en-US" sz="1050" b="1" spc="100" kern="0" dirty="0">
                <a:solidFill>
                  <a:srgbClr val="A9ADCB"/>
                </a:solidFill>
                <a:latin typeface="Calibri" pitchFamily="34" charset="0"/>
                <a:ea typeface="Calibri" pitchFamily="34" charset="-122"/>
                <a:cs typeface="Calibri" pitchFamily="34" charset="-120"/>
              </a:rPr>
              <a:t>ASSIGNMENT-TRIPLE</a:t>
            </a:r>
            <a:endParaRPr lang="en-US" sz="1050" dirty="0"/>
          </a:p>
          <a:p>
            <a:pPr indent="0" marL="0">
              <a:lnSpc>
                <a:spcPts val="1400"/>
              </a:lnSpc>
              <a:buNone/>
            </a:pPr>
            <a:r>
              <a:rPr lang="en-US" sz="1050" b="1" spc="100" kern="0" dirty="0">
                <a:solidFill>
                  <a:srgbClr val="A9ADCB"/>
                </a:solidFill>
                <a:latin typeface="Calibri" pitchFamily="34" charset="0"/>
                <a:ea typeface="Calibri" pitchFamily="34" charset="-122"/>
                <a:cs typeface="Calibri" pitchFamily="34" charset="-120"/>
              </a:rPr>
              <a:t>JACCARD</a:t>
            </a:r>
            <a:endParaRPr lang="en-US" sz="1050" dirty="0"/>
          </a:p>
        </p:txBody>
      </p:sp>
      <p:sp>
        <p:nvSpPr>
          <p:cNvPr id="16" name="Shape 14"/>
          <p:cNvSpPr/>
          <p:nvPr/>
        </p:nvSpPr>
        <p:spPr>
          <a:xfrm>
            <a:off x="8997467" y="2286000"/>
            <a:ext cx="2627300" cy="1417320"/>
          </a:xfrm>
          <a:prstGeom prst="roundRect">
            <a:avLst>
              <a:gd name="adj" fmla="val 5161"/>
            </a:avLst>
          </a:prstGeom>
          <a:solidFill>
            <a:srgbClr val="26284C"/>
          </a:solidFill>
          <a:ln w="12700">
            <a:solidFill>
              <a:srgbClr val="26284C"/>
            </a:solidFill>
            <a:prstDash val="solid"/>
          </a:ln>
        </p:spPr>
      </p:sp>
      <p:sp>
        <p:nvSpPr>
          <p:cNvPr id="17" name="Text 15"/>
          <p:cNvSpPr/>
          <p:nvPr/>
        </p:nvSpPr>
        <p:spPr>
          <a:xfrm>
            <a:off x="9235211" y="2395728"/>
            <a:ext cx="2151812" cy="566928"/>
          </a:xfrm>
          <a:prstGeom prst="rect">
            <a:avLst/>
          </a:prstGeom>
          <a:noFill/>
          <a:ln/>
        </p:spPr>
        <p:txBody>
          <a:bodyPr wrap="square" lIns="0" tIns="0" rIns="0" bIns="0" rtlCol="0" anchor="ctr"/>
          <a:lstStyle/>
          <a:p>
            <a:pPr indent="0" marL="0">
              <a:buNone/>
            </a:pPr>
            <a:r>
              <a:rPr lang="en-US" sz="3000" b="1" dirty="0">
                <a:solidFill>
                  <a:srgbClr val="E8833A"/>
                </a:solidFill>
                <a:latin typeface="Cambria" pitchFamily="34" charset="0"/>
                <a:ea typeface="Cambria" pitchFamily="34" charset="-122"/>
                <a:cs typeface="Cambria" pitchFamily="34" charset="-120"/>
              </a:rPr>
              <a:t>81,458</a:t>
            </a:r>
            <a:endParaRPr lang="en-US" sz="3000" dirty="0"/>
          </a:p>
        </p:txBody>
      </p:sp>
      <p:sp>
        <p:nvSpPr>
          <p:cNvPr id="18" name="Text 16"/>
          <p:cNvSpPr/>
          <p:nvPr/>
        </p:nvSpPr>
        <p:spPr>
          <a:xfrm>
            <a:off x="9235211" y="2980944"/>
            <a:ext cx="2151812" cy="603504"/>
          </a:xfrm>
          <a:prstGeom prst="rect">
            <a:avLst/>
          </a:prstGeom>
          <a:noFill/>
          <a:ln/>
        </p:spPr>
        <p:txBody>
          <a:bodyPr wrap="square" lIns="0" tIns="0" rIns="0" bIns="0" rtlCol="0" anchor="t"/>
          <a:lstStyle/>
          <a:p>
            <a:pPr indent="0" marL="0">
              <a:lnSpc>
                <a:spcPts val="1400"/>
              </a:lnSpc>
              <a:buNone/>
            </a:pPr>
            <a:r>
              <a:rPr lang="en-US" sz="1050" b="1" spc="100" kern="0" dirty="0">
                <a:solidFill>
                  <a:srgbClr val="A9ADCB"/>
                </a:solidFill>
                <a:latin typeface="Calibri" pitchFamily="34" charset="0"/>
                <a:ea typeface="Calibri" pitchFamily="34" charset="-122"/>
                <a:cs typeface="Calibri" pitchFamily="34" charset="-120"/>
              </a:rPr>
              <a:t>HUB</a:t>
            </a:r>
            <a:endParaRPr lang="en-US" sz="1050" dirty="0"/>
          </a:p>
          <a:p>
            <a:pPr indent="0" marL="0">
              <a:lnSpc>
                <a:spcPts val="1400"/>
              </a:lnSpc>
              <a:buNone/>
            </a:pPr>
            <a:r>
              <a:rPr lang="en-US" sz="1050" b="1" spc="100" kern="0" dirty="0">
                <a:solidFill>
                  <a:srgbClr val="A9ADCB"/>
                </a:solidFill>
                <a:latin typeface="Calibri" pitchFamily="34" charset="0"/>
                <a:ea typeface="Calibri" pitchFamily="34" charset="-122"/>
                <a:cs typeface="Calibri" pitchFamily="34" charset="-120"/>
              </a:rPr>
              <a:t>DISAGREEMENTS</a:t>
            </a:r>
            <a:endParaRPr lang="en-US" sz="1050" dirty="0"/>
          </a:p>
        </p:txBody>
      </p:sp>
      <p:sp>
        <p:nvSpPr>
          <p:cNvPr id="19" name="Text 17"/>
          <p:cNvSpPr/>
          <p:nvPr/>
        </p:nvSpPr>
        <p:spPr>
          <a:xfrm>
            <a:off x="566928" y="3950208"/>
            <a:ext cx="11057839" cy="384048"/>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This is not a bug — it is a research result</a:t>
            </a:r>
            <a:endParaRPr lang="en-US" sz="1900" dirty="0"/>
          </a:p>
        </p:txBody>
      </p:sp>
      <p:sp>
        <p:nvSpPr>
          <p:cNvPr id="20" name="Text 18"/>
          <p:cNvSpPr/>
          <p:nvPr/>
        </p:nvSpPr>
        <p:spPr>
          <a:xfrm>
            <a:off x="566928" y="4407408"/>
            <a:ext cx="11057839" cy="1463040"/>
          </a:xfrm>
          <a:prstGeom prst="rect">
            <a:avLst/>
          </a:prstGeom>
          <a:noFill/>
          <a:ln/>
        </p:spPr>
        <p:txBody>
          <a:bodyPr wrap="square" lIns="0" tIns="0" rIns="0" bIns="0" rtlCol="0" anchor="t"/>
          <a:lstStyle/>
          <a:p>
            <a:pPr marL="342900" indent="-342900">
              <a:lnSpc>
                <a:spcPts val="2000"/>
              </a:lnSpc>
              <a:spcAft>
                <a:spcPts val="1000"/>
              </a:spcAft>
              <a:buSzPct val="100000"/>
              <a:buChar char="•"/>
            </a:pPr>
            <a:r>
              <a:rPr lang="en-US" sz="1350" dirty="0">
                <a:solidFill>
                  <a:srgbClr val="A9ADCB"/>
                </a:solidFill>
                <a:latin typeface="Calibri" pitchFamily="34" charset="0"/>
                <a:ea typeface="Calibri" pitchFamily="34" charset="-122"/>
                <a:cs typeface="Calibri" pitchFamily="34" charset="-120"/>
              </a:rPr>
              <a:t>Cost gap alone is a weak quality metric — the landscape is massively degenerate.</a:t>
            </a:r>
            <a:endParaRPr lang="en-US" sz="1350" dirty="0"/>
          </a:p>
          <a:p>
            <a:pPr marL="342900" indent="-342900">
              <a:lnSpc>
                <a:spcPts val="2000"/>
              </a:lnSpc>
              <a:spcAft>
                <a:spcPts val="1000"/>
              </a:spcAft>
              <a:buSzPct val="100000"/>
              <a:buChar char="•"/>
            </a:pPr>
            <a:r>
              <a:rPr lang="en-US" sz="1350" dirty="0">
                <a:solidFill>
                  <a:srgbClr val="A9ADCB"/>
                </a:solidFill>
                <a:latin typeface="Calibri" pitchFamily="34" charset="0"/>
                <a:ea typeface="Calibri" pitchFamily="34" charset="-122"/>
                <a:cs typeface="Calibri" pitchFamily="34" charset="-120"/>
              </a:rPr>
              <a:t>There is likely a large low-energy plateau that a sampler is naturally suited to explore.</a:t>
            </a:r>
            <a:endParaRPr lang="en-US" sz="1350" dirty="0"/>
          </a:p>
          <a:p>
            <a:pPr marL="342900" indent="-342900">
              <a:lnSpc>
                <a:spcPts val="2000"/>
              </a:lnSpc>
              <a:spcAft>
                <a:spcPts val="1000"/>
              </a:spcAft>
              <a:buSzPct val="100000"/>
              <a:buChar char="•"/>
            </a:pPr>
            <a:r>
              <a:rPr lang="en-US" sz="1350" dirty="0">
                <a:solidFill>
                  <a:srgbClr val="A9ADCB"/>
                </a:solidFill>
                <a:latin typeface="Calibri" pitchFamily="34" charset="0"/>
                <a:ea typeface="Calibri" pitchFamily="34" charset="-122"/>
                <a:cs typeface="Calibri" pitchFamily="34" charset="-120"/>
              </a:rPr>
              <a:t>Dell’s real question — “where can we stretch the radius?” — may be better answered by a diverse pool of near-optimal networks than by one optimum.</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420624"/>
          </a:xfrm>
          <a:prstGeom prst="ellipse">
            <a:avLst/>
          </a:prstGeom>
          <a:solidFill>
            <a:srgbClr val="E8833A"/>
          </a:solidFill>
          <a:ln/>
        </p:spPr>
      </p:sp>
      <p:sp>
        <p:nvSpPr>
          <p:cNvPr id="3" name="Text 1"/>
          <p:cNvSpPr/>
          <p:nvPr/>
        </p:nvSpPr>
        <p:spPr>
          <a:xfrm>
            <a:off x="566928" y="4206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17</a:t>
            </a:r>
            <a:endParaRPr lang="en-US" sz="1500" dirty="0"/>
          </a:p>
        </p:txBody>
      </p:sp>
      <p:sp>
        <p:nvSpPr>
          <p:cNvPr id="4" name="Text 2"/>
          <p:cNvSpPr/>
          <p:nvPr/>
        </p:nvSpPr>
        <p:spPr>
          <a:xfrm>
            <a:off x="1170432" y="365760"/>
            <a:ext cx="10454335" cy="548640"/>
          </a:xfrm>
          <a:prstGeom prst="rect">
            <a:avLst/>
          </a:prstGeom>
          <a:noFill/>
          <a:ln/>
        </p:spPr>
        <p:txBody>
          <a:bodyPr wrap="square" lIns="0" tIns="0" rIns="0" bIns="0" rtlCol="0" anchor="ctr"/>
          <a:lstStyle/>
          <a:p>
            <a:pPr algn="l" indent="0" marL="0">
              <a:buNone/>
            </a:pPr>
            <a:r>
              <a:rPr lang="en-US" sz="3000" b="1" dirty="0">
                <a:solidFill>
                  <a:srgbClr val="1A1B3A"/>
                </a:solidFill>
                <a:latin typeface="Cambria" pitchFamily="34" charset="0"/>
                <a:ea typeface="Cambria" pitchFamily="34" charset="-122"/>
                <a:cs typeface="Cambria" pitchFamily="34" charset="-120"/>
              </a:rPr>
              <a:t>Be explicit about what “quantum” means here today</a:t>
            </a:r>
            <a:endParaRPr lang="en-US" sz="3000" dirty="0"/>
          </a:p>
        </p:txBody>
      </p:sp>
      <p:sp>
        <p:nvSpPr>
          <p:cNvPr id="5" name="Text 3"/>
          <p:cNvSpPr/>
          <p:nvPr/>
        </p:nvSpPr>
        <p:spPr>
          <a:xfrm>
            <a:off x="1170432" y="932688"/>
            <a:ext cx="10454335" cy="329184"/>
          </a:xfrm>
          <a:prstGeom prst="rect">
            <a:avLst/>
          </a:prstGeom>
          <a:noFill/>
          <a:ln/>
        </p:spPr>
        <p:txBody>
          <a:bodyPr wrap="square" lIns="0" tIns="0" rIns="0" bIns="0" rtlCol="0" anchor="t"/>
          <a:lstStyle/>
          <a:p>
            <a:pPr algn="l" indent="0" marL="0">
              <a:buNone/>
            </a:pPr>
            <a:r>
              <a:rPr lang="en-US" sz="1400" i="1" dirty="0">
                <a:solidFill>
                  <a:srgbClr val="6B6E8A"/>
                </a:solidFill>
                <a:latin typeface="Calibri" pitchFamily="34" charset="0"/>
                <a:ea typeface="Calibri" pitchFamily="34" charset="-122"/>
                <a:cs typeface="Calibri" pitchFamily="34" charset="-120"/>
              </a:rPr>
              <a:t>Say it plainly so he doesn’t discover it and lose trust.</a:t>
            </a:r>
            <a:endParaRPr lang="en-US" sz="1400" dirty="0"/>
          </a:p>
        </p:txBody>
      </p:sp>
      <p:sp>
        <p:nvSpPr>
          <p:cNvPr id="6" name="Shape 4"/>
          <p:cNvSpPr/>
          <p:nvPr/>
        </p:nvSpPr>
        <p:spPr>
          <a:xfrm>
            <a:off x="566928" y="1737360"/>
            <a:ext cx="5346040" cy="2606040"/>
          </a:xfrm>
          <a:prstGeom prst="roundRect">
            <a:avLst>
              <a:gd name="adj" fmla="val 2807"/>
            </a:avLst>
          </a:prstGeom>
          <a:solidFill>
            <a:srgbClr val="F1F2F8"/>
          </a:solidFill>
          <a:ln w="12700">
            <a:solidFill>
              <a:srgbClr val="E2E4EF"/>
            </a:solidFill>
            <a:prstDash val="solid"/>
          </a:ln>
        </p:spPr>
      </p:sp>
      <p:sp>
        <p:nvSpPr>
          <p:cNvPr id="7" name="Text 5"/>
          <p:cNvSpPr/>
          <p:nvPr/>
        </p:nvSpPr>
        <p:spPr>
          <a:xfrm>
            <a:off x="877824" y="1920240"/>
            <a:ext cx="4724248" cy="384048"/>
          </a:xfrm>
          <a:prstGeom prst="rect">
            <a:avLst/>
          </a:prstGeom>
          <a:noFill/>
          <a:ln/>
        </p:spPr>
        <p:txBody>
          <a:bodyPr wrap="square" lIns="0" tIns="0" rIns="0" bIns="0" rtlCol="0" anchor="ctr"/>
          <a:lstStyle/>
          <a:p>
            <a:pPr indent="0" marL="0">
              <a:buNone/>
            </a:pPr>
            <a:r>
              <a:rPr lang="en-US" sz="1900" b="1" dirty="0">
                <a:solidFill>
                  <a:srgbClr val="1A1B3A"/>
                </a:solidFill>
                <a:latin typeface="Cambria" pitchFamily="34" charset="0"/>
                <a:ea typeface="Cambria" pitchFamily="34" charset="-122"/>
                <a:cs typeface="Cambria" pitchFamily="34" charset="-120"/>
              </a:rPr>
              <a:t>What we run today</a:t>
            </a:r>
            <a:endParaRPr lang="en-US" sz="1900" dirty="0"/>
          </a:p>
        </p:txBody>
      </p:sp>
      <p:sp>
        <p:nvSpPr>
          <p:cNvPr id="8" name="Text 6"/>
          <p:cNvSpPr/>
          <p:nvPr/>
        </p:nvSpPr>
        <p:spPr>
          <a:xfrm>
            <a:off x="877824" y="2395728"/>
            <a:ext cx="4724248" cy="1783080"/>
          </a:xfrm>
          <a:prstGeom prst="rect">
            <a:avLst/>
          </a:prstGeom>
          <a:noFill/>
          <a:ln/>
        </p:spPr>
        <p:txBody>
          <a:bodyPr wrap="square" lIns="0" tIns="0" rIns="0" bIns="0" rtlCol="0" anchor="t"/>
          <a:lstStyle/>
          <a:p>
            <a:pPr marL="342900" indent="-342900">
              <a:lnSpc>
                <a:spcPts val="2000"/>
              </a:lnSpc>
              <a:spcAft>
                <a:spcPts val="1000"/>
              </a:spcAft>
              <a:buSzPct val="100000"/>
              <a:buChar char="•"/>
            </a:pPr>
            <a:r>
              <a:rPr lang="en-US" sz="1300" dirty="0">
                <a:solidFill>
                  <a:srgbClr val="1A1B3A"/>
                </a:solidFill>
                <a:latin typeface="Calibri" pitchFamily="34" charset="0"/>
                <a:ea typeface="Calibri" pitchFamily="34" charset="-122"/>
                <a:cs typeface="Calibri" pitchFamily="34" charset="-120"/>
              </a:rPr>
              <a:t>Classical simulated annealing (SA) via OpenJij</a:t>
            </a:r>
            <a:endParaRPr lang="en-US" sz="1300" dirty="0"/>
          </a:p>
          <a:p>
            <a:pPr marL="342900" indent="-342900">
              <a:lnSpc>
                <a:spcPts val="2000"/>
              </a:lnSpc>
              <a:spcAft>
                <a:spcPts val="1000"/>
              </a:spcAft>
              <a:buSzPct val="100000"/>
              <a:buChar char="•"/>
            </a:pPr>
            <a:r>
              <a:rPr lang="en-US" sz="1300" dirty="0">
                <a:solidFill>
                  <a:srgbClr val="1A1B3A"/>
                </a:solidFill>
                <a:latin typeface="Calibri" pitchFamily="34" charset="0"/>
                <a:ea typeface="Calibri" pitchFamily="34" charset="-122"/>
                <a:cs typeface="Calibri" pitchFamily="34" charset="-120"/>
              </a:rPr>
              <a:t>Simulated quantum annealing (SQA) — also classical</a:t>
            </a:r>
            <a:endParaRPr lang="en-US" sz="1300" dirty="0"/>
          </a:p>
          <a:p>
            <a:pPr marL="342900" indent="-342900">
              <a:lnSpc>
                <a:spcPts val="2000"/>
              </a:lnSpc>
              <a:spcAft>
                <a:spcPts val="1000"/>
              </a:spcAft>
              <a:buSzPct val="100000"/>
              <a:buChar char="•"/>
            </a:pPr>
            <a:r>
              <a:rPr lang="en-US" sz="1300" dirty="0">
                <a:solidFill>
                  <a:srgbClr val="1A1B3A"/>
                </a:solidFill>
                <a:latin typeface="Calibri" pitchFamily="34" charset="0"/>
                <a:ea typeface="Calibri" pitchFamily="34" charset="-122"/>
                <a:cs typeface="Calibri" pitchFamily="34" charset="-120"/>
              </a:rPr>
              <a:t>No QPU anywhere in the pipeline</a:t>
            </a:r>
            <a:endParaRPr lang="en-US" sz="1300" dirty="0"/>
          </a:p>
          <a:p>
            <a:pPr marL="342900" indent="-342900">
              <a:lnSpc>
                <a:spcPts val="2000"/>
              </a:lnSpc>
              <a:spcAft>
                <a:spcPts val="1000"/>
              </a:spcAft>
              <a:buSzPct val="100000"/>
              <a:buChar char="•"/>
            </a:pPr>
            <a:r>
              <a:rPr lang="en-US" sz="1300" dirty="0">
                <a:solidFill>
                  <a:srgbClr val="1A1B3A"/>
                </a:solidFill>
                <a:latin typeface="Calibri" pitchFamily="34" charset="0"/>
                <a:ea typeface="Calibri" pitchFamily="34" charset="-122"/>
                <a:cs typeface="Calibri" pitchFamily="34" charset="-120"/>
              </a:rPr>
              <a:t>Parallel split / solve / merge on SLURM</a:t>
            </a:r>
            <a:endParaRPr lang="en-US" sz="1300" dirty="0"/>
          </a:p>
        </p:txBody>
      </p:sp>
      <p:sp>
        <p:nvSpPr>
          <p:cNvPr id="9" name="Shape 7"/>
          <p:cNvSpPr/>
          <p:nvPr/>
        </p:nvSpPr>
        <p:spPr>
          <a:xfrm>
            <a:off x="6278728" y="1737360"/>
            <a:ext cx="5346040" cy="2606040"/>
          </a:xfrm>
          <a:prstGeom prst="roundRect">
            <a:avLst>
              <a:gd name="adj" fmla="val 2807"/>
            </a:avLst>
          </a:prstGeom>
          <a:solidFill>
            <a:srgbClr val="1A1B3A"/>
          </a:solidFill>
          <a:ln w="12700">
            <a:solidFill>
              <a:srgbClr val="333333"/>
            </a:solidFill>
            <a:prstDash val="solid"/>
          </a:ln>
        </p:spPr>
      </p:sp>
      <p:sp>
        <p:nvSpPr>
          <p:cNvPr id="10" name="Text 8"/>
          <p:cNvSpPr/>
          <p:nvPr/>
        </p:nvSpPr>
        <p:spPr>
          <a:xfrm>
            <a:off x="6589624" y="1920240"/>
            <a:ext cx="4724248" cy="384048"/>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What the proposal promises</a:t>
            </a:r>
            <a:endParaRPr lang="en-US" sz="1900" dirty="0"/>
          </a:p>
        </p:txBody>
      </p:sp>
      <p:sp>
        <p:nvSpPr>
          <p:cNvPr id="11" name="Text 9"/>
          <p:cNvSpPr/>
          <p:nvPr/>
        </p:nvSpPr>
        <p:spPr>
          <a:xfrm>
            <a:off x="6589624" y="2395728"/>
            <a:ext cx="4724248" cy="1783080"/>
          </a:xfrm>
          <a:prstGeom prst="rect">
            <a:avLst/>
          </a:prstGeom>
          <a:noFill/>
          <a:ln/>
        </p:spPr>
        <p:txBody>
          <a:bodyPr wrap="square" lIns="0" tIns="0" rIns="0" bIns="0" rtlCol="0" anchor="t"/>
          <a:lstStyle/>
          <a:p>
            <a:pPr indent="0" marL="0">
              <a:lnSpc>
                <a:spcPts val="1900"/>
              </a:lnSpc>
              <a:buNone/>
            </a:pPr>
            <a:r>
              <a:rPr lang="en-US" sz="1250" i="1" dirty="0">
                <a:solidFill>
                  <a:srgbClr val="A9ADCB"/>
                </a:solidFill>
                <a:latin typeface="Calibri" pitchFamily="34" charset="0"/>
                <a:ea typeface="Calibri" pitchFamily="34" charset="-122"/>
                <a:cs typeface="Calibri" pitchFamily="34" charset="-120"/>
              </a:rPr>
              <a:t>“Dell Technologies provides classical emulation of quantum systems and supports migrating to quantum processors… implementations of these solvers can be migrated to new quantum hardware with minimal changes when the technology becomes available.”</a:t>
            </a:r>
            <a:endParaRPr lang="en-US" sz="1250" dirty="0"/>
          </a:p>
        </p:txBody>
      </p:sp>
      <p:sp>
        <p:nvSpPr>
          <p:cNvPr id="12" name="Shape 10"/>
          <p:cNvSpPr/>
          <p:nvPr/>
        </p:nvSpPr>
        <p:spPr>
          <a:xfrm>
            <a:off x="566928" y="4572000"/>
            <a:ext cx="11057839" cy="1280160"/>
          </a:xfrm>
          <a:prstGeom prst="roundRect">
            <a:avLst>
              <a:gd name="adj" fmla="val 5714"/>
            </a:avLst>
          </a:prstGeom>
          <a:solidFill>
            <a:srgbClr val="F1F2F8"/>
          </a:solidFill>
          <a:ln w="19050">
            <a:solidFill>
              <a:srgbClr val="E8833A"/>
            </a:solidFill>
            <a:prstDash val="solid"/>
          </a:ln>
        </p:spPr>
      </p:sp>
      <p:sp>
        <p:nvSpPr>
          <p:cNvPr id="13" name="Text 11"/>
          <p:cNvSpPr/>
          <p:nvPr/>
        </p:nvSpPr>
        <p:spPr>
          <a:xfrm>
            <a:off x="932688" y="4718304"/>
            <a:ext cx="10326319" cy="1005840"/>
          </a:xfrm>
          <a:prstGeom prst="rect">
            <a:avLst/>
          </a:prstGeom>
          <a:noFill/>
          <a:ln/>
        </p:spPr>
        <p:txBody>
          <a:bodyPr wrap="square" lIns="0" tIns="0" rIns="0" bIns="0" rtlCol="0" anchor="ctr"/>
          <a:lstStyle/>
          <a:p>
            <a:pPr indent="0" marL="0">
              <a:lnSpc>
                <a:spcPts val="2100"/>
              </a:lnSpc>
              <a:buNone/>
            </a:pPr>
            <a:r>
              <a:rPr lang="en-US" sz="1350" b="1" dirty="0">
                <a:solidFill>
                  <a:srgbClr val="1A1B3A"/>
                </a:solidFill>
                <a:latin typeface="Calibri" pitchFamily="34" charset="0"/>
                <a:ea typeface="Calibri" pitchFamily="34" charset="-122"/>
                <a:cs typeface="Calibri" pitchFamily="34" charset="-120"/>
              </a:rPr>
              <a:t>Then ask him the one question that reshapes the roadmap:  </a:t>
            </a:r>
            <a:pPr indent="0" marL="0">
              <a:lnSpc>
                <a:spcPts val="2100"/>
              </a:lnSpc>
              <a:buNone/>
            </a:pPr>
            <a:r>
              <a:rPr lang="en-US" sz="1350" i="1" dirty="0">
                <a:solidFill>
                  <a:srgbClr val="1A1B3A"/>
                </a:solidFill>
                <a:latin typeface="Calibri" pitchFamily="34" charset="0"/>
                <a:ea typeface="Calibri" pitchFamily="34" charset="-122"/>
                <a:cs typeface="Calibri" pitchFamily="34" charset="-120"/>
              </a:rPr>
              <a:t>“Given these variable counts, what would actually have to change before this touches hardware?”</a:t>
            </a:r>
            <a:pPr indent="0" marL="0">
              <a:lnSpc>
                <a:spcPts val="2100"/>
              </a:lnSpc>
              <a:buNone/>
            </a:pPr>
            <a:r>
              <a:rPr lang="en-US" sz="1350" dirty="0">
                <a:solidFill>
                  <a:srgbClr val="6B6E8A"/>
                </a:solidFill>
                <a:latin typeface="Calibri" pitchFamily="34" charset="0"/>
                <a:ea typeface="Calibri" pitchFamily="34" charset="-122"/>
                <a:cs typeface="Calibri" pitchFamily="34" charset="-120"/>
              </a:rPr>
              <a:t>  — and then stop talking. His answer is worth more than anything you’d plan for him in advance.</a:t>
            </a:r>
            <a:endParaRPr lang="en-US" sz="1350" dirty="0"/>
          </a:p>
        </p:txBody>
      </p:sp>
      <p:sp>
        <p:nvSpPr>
          <p:cNvPr id="14" name="Text 12"/>
          <p:cNvSpPr/>
          <p:nvPr/>
        </p:nvSpPr>
        <p:spPr>
          <a:xfrm>
            <a:off x="566928" y="6382512"/>
            <a:ext cx="11057839" cy="274320"/>
          </a:xfrm>
          <a:prstGeom prst="rect">
            <a:avLst/>
          </a:prstGeom>
          <a:noFill/>
          <a:ln/>
        </p:spPr>
        <p:txBody>
          <a:bodyPr wrap="square" lIns="0" tIns="0" rIns="0" bIns="0" rtlCol="0" anchor="ctr"/>
          <a:lstStyle/>
          <a:p>
            <a:pPr algn="l" indent="0" marL="0">
              <a:buNone/>
            </a:pPr>
            <a:r>
              <a:rPr lang="en-US" sz="950" dirty="0">
                <a:solidFill>
                  <a:srgbClr val="9A9DB5"/>
                </a:solidFill>
                <a:latin typeface="Calibri" pitchFamily="34" charset="0"/>
                <a:ea typeface="Calibri" pitchFamily="34" charset="-122"/>
                <a:cs typeface="Calibri" pitchFamily="34" charset="-120"/>
              </a:rPr>
              <a:t>Source: SCM capstone proposal — Background</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420624"/>
          </a:xfrm>
          <a:prstGeom prst="ellipse">
            <a:avLst/>
          </a:prstGeom>
          <a:solidFill>
            <a:srgbClr val="E8833A"/>
          </a:solidFill>
          <a:ln/>
        </p:spPr>
      </p:sp>
      <p:sp>
        <p:nvSpPr>
          <p:cNvPr id="3" name="Text 1"/>
          <p:cNvSpPr/>
          <p:nvPr/>
        </p:nvSpPr>
        <p:spPr>
          <a:xfrm>
            <a:off x="566928" y="4206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18</a:t>
            </a:r>
            <a:endParaRPr lang="en-US" sz="1500" dirty="0"/>
          </a:p>
        </p:txBody>
      </p:sp>
      <p:sp>
        <p:nvSpPr>
          <p:cNvPr id="4" name="Text 2"/>
          <p:cNvSpPr/>
          <p:nvPr/>
        </p:nvSpPr>
        <p:spPr>
          <a:xfrm>
            <a:off x="1170432" y="365760"/>
            <a:ext cx="10454335" cy="548640"/>
          </a:xfrm>
          <a:prstGeom prst="rect">
            <a:avLst/>
          </a:prstGeom>
          <a:noFill/>
          <a:ln/>
        </p:spPr>
        <p:txBody>
          <a:bodyPr wrap="square" lIns="0" tIns="0" rIns="0" bIns="0" rtlCol="0" anchor="ctr"/>
          <a:lstStyle/>
          <a:p>
            <a:pPr algn="l" indent="0" marL="0">
              <a:buNone/>
            </a:pPr>
            <a:r>
              <a:rPr lang="en-US" sz="3000" b="1" dirty="0">
                <a:solidFill>
                  <a:srgbClr val="1A1B3A"/>
                </a:solidFill>
                <a:latin typeface="Cambria" pitchFamily="34" charset="0"/>
                <a:ea typeface="Cambria" pitchFamily="34" charset="-122"/>
                <a:cs typeface="Cambria" pitchFamily="34" charset="-120"/>
              </a:rPr>
              <a:t>Open problems — hand him this in writing</a:t>
            </a:r>
            <a:endParaRPr lang="en-US" sz="3000" dirty="0"/>
          </a:p>
        </p:txBody>
      </p:sp>
      <p:sp>
        <p:nvSpPr>
          <p:cNvPr id="5" name="Text 3"/>
          <p:cNvSpPr/>
          <p:nvPr/>
        </p:nvSpPr>
        <p:spPr>
          <a:xfrm>
            <a:off x="1170432" y="932688"/>
            <a:ext cx="10454335" cy="329184"/>
          </a:xfrm>
          <a:prstGeom prst="rect">
            <a:avLst/>
          </a:prstGeom>
          <a:noFill/>
          <a:ln/>
        </p:spPr>
        <p:txBody>
          <a:bodyPr wrap="square" lIns="0" tIns="0" rIns="0" bIns="0" rtlCol="0" anchor="t"/>
          <a:lstStyle/>
          <a:p>
            <a:pPr algn="l" indent="0" marL="0">
              <a:buNone/>
            </a:pPr>
            <a:r>
              <a:rPr lang="en-US" sz="1400" i="1" dirty="0">
                <a:solidFill>
                  <a:srgbClr val="6B6E8A"/>
                </a:solidFill>
                <a:latin typeface="Calibri" pitchFamily="34" charset="0"/>
                <a:ea typeface="Calibri" pitchFamily="34" charset="-122"/>
                <a:cs typeface="Calibri" pitchFamily="34" charset="-120"/>
              </a:rPr>
              <a:t>Ranked. Give it at the end of session 4, not later.</a:t>
            </a:r>
            <a:endParaRPr lang="en-US" sz="1400" dirty="0"/>
          </a:p>
        </p:txBody>
      </p:sp>
      <p:sp>
        <p:nvSpPr>
          <p:cNvPr id="6" name="Shape 4"/>
          <p:cNvSpPr/>
          <p:nvPr/>
        </p:nvSpPr>
        <p:spPr>
          <a:xfrm>
            <a:off x="566928" y="1572768"/>
            <a:ext cx="11057839" cy="822960"/>
          </a:xfrm>
          <a:prstGeom prst="roundRect">
            <a:avLst>
              <a:gd name="adj" fmla="val 8889"/>
            </a:avLst>
          </a:prstGeom>
          <a:solidFill>
            <a:srgbClr val="F1F2F8"/>
          </a:solidFill>
          <a:ln w="12700">
            <a:solidFill>
              <a:srgbClr val="E2E4EF"/>
            </a:solidFill>
            <a:prstDash val="solid"/>
          </a:ln>
        </p:spPr>
      </p:sp>
      <p:sp>
        <p:nvSpPr>
          <p:cNvPr id="7" name="Shape 5"/>
          <p:cNvSpPr/>
          <p:nvPr/>
        </p:nvSpPr>
        <p:spPr>
          <a:xfrm>
            <a:off x="822960" y="1764792"/>
            <a:ext cx="438912" cy="438912"/>
          </a:xfrm>
          <a:prstGeom prst="ellipse">
            <a:avLst/>
          </a:prstGeom>
          <a:solidFill>
            <a:srgbClr val="E8833A"/>
          </a:solidFill>
          <a:ln/>
        </p:spPr>
      </p:sp>
      <p:sp>
        <p:nvSpPr>
          <p:cNvPr id="8" name="Text 6"/>
          <p:cNvSpPr/>
          <p:nvPr/>
        </p:nvSpPr>
        <p:spPr>
          <a:xfrm>
            <a:off x="822960" y="1764792"/>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1444752" y="1572768"/>
            <a:ext cx="3200400" cy="822960"/>
          </a:xfrm>
          <a:prstGeom prst="rect">
            <a:avLst/>
          </a:prstGeom>
          <a:noFill/>
          <a:ln/>
        </p:spPr>
        <p:txBody>
          <a:bodyPr wrap="square" lIns="0" tIns="0" rIns="0" bIns="0" rtlCol="0" anchor="ctr"/>
          <a:lstStyle/>
          <a:p>
            <a:pPr indent="0" marL="0">
              <a:buNone/>
            </a:pPr>
            <a:r>
              <a:rPr lang="en-US" sz="1550" b="1" dirty="0">
                <a:solidFill>
                  <a:srgbClr val="1A1B3A"/>
                </a:solidFill>
                <a:latin typeface="Cambria" pitchFamily="34" charset="0"/>
                <a:ea typeface="Cambria" pitchFamily="34" charset="-122"/>
                <a:cs typeface="Cambria" pitchFamily="34" charset="-120"/>
              </a:rPr>
              <a:t>Cross-batch hub coupling</a:t>
            </a:r>
            <a:endParaRPr lang="en-US" sz="1550" dirty="0"/>
          </a:p>
        </p:txBody>
      </p:sp>
      <p:sp>
        <p:nvSpPr>
          <p:cNvPr id="10" name="Text 8"/>
          <p:cNvSpPr/>
          <p:nvPr/>
        </p:nvSpPr>
        <p:spPr>
          <a:xfrm>
            <a:off x="4773168" y="1572768"/>
            <a:ext cx="6577279" cy="822960"/>
          </a:xfrm>
          <a:prstGeom prst="rect">
            <a:avLst/>
          </a:prstGeom>
          <a:noFill/>
          <a:ln/>
        </p:spPr>
        <p:txBody>
          <a:bodyPr wrap="square" lIns="0" tIns="0" rIns="0" bIns="0" rtlCol="0" anchor="ctr"/>
          <a:lstStyle/>
          <a:p>
            <a:pPr indent="0" marL="0">
              <a:buNone/>
            </a:pPr>
            <a:r>
              <a:rPr lang="en-US" sz="1250" dirty="0">
                <a:solidFill>
                  <a:srgbClr val="6B6E8A"/>
                </a:solidFill>
                <a:latin typeface="Calibri" pitchFamily="34" charset="0"/>
                <a:ea typeface="Calibri" pitchFamily="34" charset="-122"/>
                <a:cs typeface="Calibri" pitchFamily="34" charset="-120"/>
              </a:rPr>
              <a:t>Xⱼ and Wⱼ couple parts that the batching treats as independent. Highest expected impact.</a:t>
            </a:r>
            <a:endParaRPr lang="en-US" sz="1250" dirty="0"/>
          </a:p>
        </p:txBody>
      </p:sp>
      <p:sp>
        <p:nvSpPr>
          <p:cNvPr id="11" name="Shape 9"/>
          <p:cNvSpPr/>
          <p:nvPr/>
        </p:nvSpPr>
        <p:spPr>
          <a:xfrm>
            <a:off x="566928" y="2487168"/>
            <a:ext cx="11057839" cy="822960"/>
          </a:xfrm>
          <a:prstGeom prst="roundRect">
            <a:avLst>
              <a:gd name="adj" fmla="val 8889"/>
            </a:avLst>
          </a:prstGeom>
          <a:solidFill>
            <a:srgbClr val="F1F2F8"/>
          </a:solidFill>
          <a:ln w="12700">
            <a:solidFill>
              <a:srgbClr val="E2E4EF"/>
            </a:solidFill>
            <a:prstDash val="solid"/>
          </a:ln>
        </p:spPr>
      </p:sp>
      <p:sp>
        <p:nvSpPr>
          <p:cNvPr id="12" name="Shape 10"/>
          <p:cNvSpPr/>
          <p:nvPr/>
        </p:nvSpPr>
        <p:spPr>
          <a:xfrm>
            <a:off x="822960" y="2679192"/>
            <a:ext cx="438912" cy="438912"/>
          </a:xfrm>
          <a:prstGeom prst="ellipse">
            <a:avLst/>
          </a:prstGeom>
          <a:solidFill>
            <a:srgbClr val="1A1B3A"/>
          </a:solidFill>
          <a:ln/>
        </p:spPr>
      </p:sp>
      <p:sp>
        <p:nvSpPr>
          <p:cNvPr id="13" name="Text 11"/>
          <p:cNvSpPr/>
          <p:nvPr/>
        </p:nvSpPr>
        <p:spPr>
          <a:xfrm>
            <a:off x="822960" y="2679192"/>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p:nvPr/>
        </p:nvSpPr>
        <p:spPr>
          <a:xfrm>
            <a:off x="1444752" y="2487168"/>
            <a:ext cx="3200400" cy="822960"/>
          </a:xfrm>
          <a:prstGeom prst="rect">
            <a:avLst/>
          </a:prstGeom>
          <a:noFill/>
          <a:ln/>
        </p:spPr>
        <p:txBody>
          <a:bodyPr wrap="square" lIns="0" tIns="0" rIns="0" bIns="0" rtlCol="0" anchor="ctr"/>
          <a:lstStyle/>
          <a:p>
            <a:pPr indent="0" marL="0">
              <a:buNone/>
            </a:pPr>
            <a:r>
              <a:rPr lang="en-US" sz="1550" b="1" dirty="0">
                <a:solidFill>
                  <a:srgbClr val="1A1B3A"/>
                </a:solidFill>
                <a:latin typeface="Cambria" pitchFamily="34" charset="0"/>
                <a:ea typeface="Cambria" pitchFamily="34" charset="-122"/>
                <a:cs typeface="Cambria" pitchFamily="34" charset="-120"/>
              </a:rPr>
              <a:t>Radius as an explicit decision</a:t>
            </a:r>
            <a:endParaRPr lang="en-US" sz="1550" dirty="0"/>
          </a:p>
        </p:txBody>
      </p:sp>
      <p:sp>
        <p:nvSpPr>
          <p:cNvPr id="15" name="Text 13"/>
          <p:cNvSpPr/>
          <p:nvPr/>
        </p:nvSpPr>
        <p:spPr>
          <a:xfrm>
            <a:off x="4773168" y="2487168"/>
            <a:ext cx="6577279" cy="822960"/>
          </a:xfrm>
          <a:prstGeom prst="rect">
            <a:avLst/>
          </a:prstGeom>
          <a:noFill/>
          <a:ln/>
        </p:spPr>
        <p:txBody>
          <a:bodyPr wrap="square" lIns="0" tIns="0" rIns="0" bIns="0" rtlCol="0" anchor="ctr"/>
          <a:lstStyle/>
          <a:p>
            <a:pPr indent="0" marL="0">
              <a:buNone/>
            </a:pPr>
            <a:r>
              <a:rPr lang="en-US" sz="1250" dirty="0">
                <a:solidFill>
                  <a:srgbClr val="6B6E8A"/>
                </a:solidFill>
                <a:latin typeface="Calibri" pitchFamily="34" charset="0"/>
                <a:ea typeface="Calibri" pitchFamily="34" charset="-122"/>
                <a:cs typeface="Calibri" pitchFamily="34" charset="-120"/>
              </a:rPr>
              <a:t>Should 130→180 stay a soft λ₃ penalty, or become discrete radius choices per hub?</a:t>
            </a:r>
            <a:endParaRPr lang="en-US" sz="1250" dirty="0"/>
          </a:p>
        </p:txBody>
      </p:sp>
      <p:sp>
        <p:nvSpPr>
          <p:cNvPr id="16" name="Shape 14"/>
          <p:cNvSpPr/>
          <p:nvPr/>
        </p:nvSpPr>
        <p:spPr>
          <a:xfrm>
            <a:off x="566928" y="3401568"/>
            <a:ext cx="11057839" cy="822960"/>
          </a:xfrm>
          <a:prstGeom prst="roundRect">
            <a:avLst>
              <a:gd name="adj" fmla="val 8889"/>
            </a:avLst>
          </a:prstGeom>
          <a:solidFill>
            <a:srgbClr val="F1F2F8"/>
          </a:solidFill>
          <a:ln w="12700">
            <a:solidFill>
              <a:srgbClr val="E2E4EF"/>
            </a:solidFill>
            <a:prstDash val="solid"/>
          </a:ln>
        </p:spPr>
      </p:sp>
      <p:sp>
        <p:nvSpPr>
          <p:cNvPr id="17" name="Shape 15"/>
          <p:cNvSpPr/>
          <p:nvPr/>
        </p:nvSpPr>
        <p:spPr>
          <a:xfrm>
            <a:off x="822960" y="3593592"/>
            <a:ext cx="438912" cy="438912"/>
          </a:xfrm>
          <a:prstGeom prst="ellipse">
            <a:avLst/>
          </a:prstGeom>
          <a:solidFill>
            <a:srgbClr val="1A1B3A"/>
          </a:solidFill>
          <a:ln/>
        </p:spPr>
      </p:sp>
      <p:sp>
        <p:nvSpPr>
          <p:cNvPr id="18" name="Text 16"/>
          <p:cNvSpPr/>
          <p:nvPr/>
        </p:nvSpPr>
        <p:spPr>
          <a:xfrm>
            <a:off x="822960" y="3593592"/>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p:nvPr/>
        </p:nvSpPr>
        <p:spPr>
          <a:xfrm>
            <a:off x="1444752" y="3401568"/>
            <a:ext cx="3200400" cy="822960"/>
          </a:xfrm>
          <a:prstGeom prst="rect">
            <a:avLst/>
          </a:prstGeom>
          <a:noFill/>
          <a:ln/>
        </p:spPr>
        <p:txBody>
          <a:bodyPr wrap="square" lIns="0" tIns="0" rIns="0" bIns="0" rtlCol="0" anchor="ctr"/>
          <a:lstStyle/>
          <a:p>
            <a:pPr indent="0" marL="0">
              <a:buNone/>
            </a:pPr>
            <a:r>
              <a:rPr lang="en-US" sz="1550" b="1" dirty="0">
                <a:solidFill>
                  <a:srgbClr val="1A1B3A"/>
                </a:solidFill>
                <a:latin typeface="Cambria" pitchFamily="34" charset="0"/>
                <a:ea typeface="Cambria" pitchFamily="34" charset="-122"/>
                <a:cs typeface="Cambria" pitchFamily="34" charset="-120"/>
              </a:rPr>
              <a:t>SA vs SQA at matched budget</a:t>
            </a:r>
            <a:endParaRPr lang="en-US" sz="1550" dirty="0"/>
          </a:p>
        </p:txBody>
      </p:sp>
      <p:sp>
        <p:nvSpPr>
          <p:cNvPr id="20" name="Text 18"/>
          <p:cNvSpPr/>
          <p:nvPr/>
        </p:nvSpPr>
        <p:spPr>
          <a:xfrm>
            <a:off x="4773168" y="3401568"/>
            <a:ext cx="6577279" cy="822960"/>
          </a:xfrm>
          <a:prstGeom prst="rect">
            <a:avLst/>
          </a:prstGeom>
          <a:noFill/>
          <a:ln/>
        </p:spPr>
        <p:txBody>
          <a:bodyPr wrap="square" lIns="0" tIns="0" rIns="0" bIns="0" rtlCol="0" anchor="ctr"/>
          <a:lstStyle/>
          <a:p>
            <a:pPr indent="0" marL="0">
              <a:buNone/>
            </a:pPr>
            <a:r>
              <a:rPr lang="en-US" sz="1250" dirty="0">
                <a:solidFill>
                  <a:srgbClr val="6B6E8A"/>
                </a:solidFill>
                <a:latin typeface="Calibri" pitchFamily="34" charset="0"/>
                <a:ea typeface="Calibri" pitchFamily="34" charset="-122"/>
                <a:cs typeface="Calibri" pitchFamily="34" charset="-120"/>
              </a:rPr>
              <a:t>Harness exists (low_std_comparison) but the SQA leg has not produced a summary yet.</a:t>
            </a:r>
            <a:endParaRPr lang="en-US" sz="1250" dirty="0"/>
          </a:p>
        </p:txBody>
      </p:sp>
      <p:sp>
        <p:nvSpPr>
          <p:cNvPr id="21" name="Shape 19"/>
          <p:cNvSpPr/>
          <p:nvPr/>
        </p:nvSpPr>
        <p:spPr>
          <a:xfrm>
            <a:off x="566928" y="4315968"/>
            <a:ext cx="11057839" cy="822960"/>
          </a:xfrm>
          <a:prstGeom prst="roundRect">
            <a:avLst>
              <a:gd name="adj" fmla="val 8889"/>
            </a:avLst>
          </a:prstGeom>
          <a:solidFill>
            <a:srgbClr val="F1F2F8"/>
          </a:solidFill>
          <a:ln w="12700">
            <a:solidFill>
              <a:srgbClr val="E2E4EF"/>
            </a:solidFill>
            <a:prstDash val="solid"/>
          </a:ln>
        </p:spPr>
      </p:sp>
      <p:sp>
        <p:nvSpPr>
          <p:cNvPr id="22" name="Shape 20"/>
          <p:cNvSpPr/>
          <p:nvPr/>
        </p:nvSpPr>
        <p:spPr>
          <a:xfrm>
            <a:off x="822960" y="4507992"/>
            <a:ext cx="438912" cy="438912"/>
          </a:xfrm>
          <a:prstGeom prst="ellipse">
            <a:avLst/>
          </a:prstGeom>
          <a:solidFill>
            <a:srgbClr val="1A1B3A"/>
          </a:solidFill>
          <a:ln/>
        </p:spPr>
      </p:sp>
      <p:sp>
        <p:nvSpPr>
          <p:cNvPr id="23" name="Text 21"/>
          <p:cNvSpPr/>
          <p:nvPr/>
        </p:nvSpPr>
        <p:spPr>
          <a:xfrm>
            <a:off x="822960" y="4507992"/>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p:nvPr/>
        </p:nvSpPr>
        <p:spPr>
          <a:xfrm>
            <a:off x="1444752" y="4315968"/>
            <a:ext cx="3200400" cy="822960"/>
          </a:xfrm>
          <a:prstGeom prst="rect">
            <a:avLst/>
          </a:prstGeom>
          <a:noFill/>
          <a:ln/>
        </p:spPr>
        <p:txBody>
          <a:bodyPr wrap="square" lIns="0" tIns="0" rIns="0" bIns="0" rtlCol="0" anchor="ctr"/>
          <a:lstStyle/>
          <a:p>
            <a:pPr indent="0" marL="0">
              <a:buNone/>
            </a:pPr>
            <a:r>
              <a:rPr lang="en-US" sz="1550" b="1" dirty="0">
                <a:solidFill>
                  <a:srgbClr val="1A1B3A"/>
                </a:solidFill>
                <a:latin typeface="Cambria" pitchFamily="34" charset="0"/>
                <a:ea typeface="Cambria" pitchFamily="34" charset="-122"/>
                <a:cs typeface="Cambria" pitchFamily="34" charset="-120"/>
              </a:rPr>
              <a:t>Exploit the degeneracy</a:t>
            </a:r>
            <a:endParaRPr lang="en-US" sz="1550" dirty="0"/>
          </a:p>
        </p:txBody>
      </p:sp>
      <p:sp>
        <p:nvSpPr>
          <p:cNvPr id="25" name="Text 23"/>
          <p:cNvSpPr/>
          <p:nvPr/>
        </p:nvSpPr>
        <p:spPr>
          <a:xfrm>
            <a:off x="4773168" y="4315968"/>
            <a:ext cx="6577279" cy="822960"/>
          </a:xfrm>
          <a:prstGeom prst="rect">
            <a:avLst/>
          </a:prstGeom>
          <a:noFill/>
          <a:ln/>
        </p:spPr>
        <p:txBody>
          <a:bodyPr wrap="square" lIns="0" tIns="0" rIns="0" bIns="0" rtlCol="0" anchor="ctr"/>
          <a:lstStyle/>
          <a:p>
            <a:pPr indent="0" marL="0">
              <a:buNone/>
            </a:pPr>
            <a:r>
              <a:rPr lang="en-US" sz="1250" dirty="0">
                <a:solidFill>
                  <a:srgbClr val="6B6E8A"/>
                </a:solidFill>
                <a:latin typeface="Calibri" pitchFamily="34" charset="0"/>
                <a:ea typeface="Calibri" pitchFamily="34" charset="-122"/>
                <a:cs typeface="Calibri" pitchFamily="34" charset="-120"/>
              </a:rPr>
              <a:t>Produce a portfolio of near-optimal networks instead of one — answers Dell’s actual question.</a:t>
            </a:r>
            <a:endParaRPr lang="en-US" sz="1250" dirty="0"/>
          </a:p>
        </p:txBody>
      </p:sp>
      <p:sp>
        <p:nvSpPr>
          <p:cNvPr id="26" name="Shape 24"/>
          <p:cNvSpPr/>
          <p:nvPr/>
        </p:nvSpPr>
        <p:spPr>
          <a:xfrm>
            <a:off x="566928" y="5230368"/>
            <a:ext cx="11057839" cy="822960"/>
          </a:xfrm>
          <a:prstGeom prst="roundRect">
            <a:avLst>
              <a:gd name="adj" fmla="val 8889"/>
            </a:avLst>
          </a:prstGeom>
          <a:solidFill>
            <a:srgbClr val="F1F2F8"/>
          </a:solidFill>
          <a:ln w="12700">
            <a:solidFill>
              <a:srgbClr val="E2E4EF"/>
            </a:solidFill>
            <a:prstDash val="solid"/>
          </a:ln>
        </p:spPr>
      </p:sp>
      <p:sp>
        <p:nvSpPr>
          <p:cNvPr id="27" name="Shape 25"/>
          <p:cNvSpPr/>
          <p:nvPr/>
        </p:nvSpPr>
        <p:spPr>
          <a:xfrm>
            <a:off x="822960" y="5422392"/>
            <a:ext cx="438912" cy="438912"/>
          </a:xfrm>
          <a:prstGeom prst="ellipse">
            <a:avLst/>
          </a:prstGeom>
          <a:solidFill>
            <a:srgbClr val="1A1B3A"/>
          </a:solidFill>
          <a:ln/>
        </p:spPr>
      </p:sp>
      <p:sp>
        <p:nvSpPr>
          <p:cNvPr id="28" name="Text 26"/>
          <p:cNvSpPr/>
          <p:nvPr/>
        </p:nvSpPr>
        <p:spPr>
          <a:xfrm>
            <a:off x="822960" y="5422392"/>
            <a:ext cx="438912" cy="43891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7"/>
          <p:cNvSpPr/>
          <p:nvPr/>
        </p:nvSpPr>
        <p:spPr>
          <a:xfrm>
            <a:off x="1444752" y="5230368"/>
            <a:ext cx="3200400" cy="822960"/>
          </a:xfrm>
          <a:prstGeom prst="rect">
            <a:avLst/>
          </a:prstGeom>
          <a:noFill/>
          <a:ln/>
        </p:spPr>
        <p:txBody>
          <a:bodyPr wrap="square" lIns="0" tIns="0" rIns="0" bIns="0" rtlCol="0" anchor="ctr"/>
          <a:lstStyle/>
          <a:p>
            <a:pPr indent="0" marL="0">
              <a:buNone/>
            </a:pPr>
            <a:r>
              <a:rPr lang="en-US" sz="1550" b="1" dirty="0">
                <a:solidFill>
                  <a:srgbClr val="1A1B3A"/>
                </a:solidFill>
                <a:latin typeface="Cambria" pitchFamily="34" charset="0"/>
                <a:ea typeface="Cambria" pitchFamily="34" charset="-122"/>
                <a:cs typeface="Cambria" pitchFamily="34" charset="-120"/>
              </a:rPr>
              <a:t>Wⱼ overflow encoding</a:t>
            </a:r>
            <a:endParaRPr lang="en-US" sz="1550" dirty="0"/>
          </a:p>
        </p:txBody>
      </p:sp>
      <p:sp>
        <p:nvSpPr>
          <p:cNvPr id="30" name="Text 28"/>
          <p:cNvSpPr/>
          <p:nvPr/>
        </p:nvSpPr>
        <p:spPr>
          <a:xfrm>
            <a:off x="4773168" y="5230368"/>
            <a:ext cx="6577279" cy="822960"/>
          </a:xfrm>
          <a:prstGeom prst="rect">
            <a:avLst/>
          </a:prstGeom>
          <a:noFill/>
          <a:ln/>
        </p:spPr>
        <p:txBody>
          <a:bodyPr wrap="square" lIns="0" tIns="0" rIns="0" bIns="0" rtlCol="0" anchor="ctr"/>
          <a:lstStyle/>
          <a:p>
            <a:pPr indent="0" marL="0">
              <a:buNone/>
            </a:pPr>
            <a:r>
              <a:rPr lang="en-US" sz="1250" dirty="0">
                <a:solidFill>
                  <a:srgbClr val="6B6E8A"/>
                </a:solidFill>
                <a:latin typeface="Calibri" pitchFamily="34" charset="0"/>
                <a:ea typeface="Calibri" pitchFamily="34" charset="-122"/>
                <a:cs typeface="Calibri" pitchFamily="34" charset="-120"/>
              </a:rPr>
              <a:t>Integer-valued in a binary model. Current handling is the weakest part of the encoding.</a:t>
            </a:r>
            <a:endParaRPr lang="en-US" sz="1250" dirty="0"/>
          </a:p>
        </p:txBody>
      </p:sp>
      <p:sp>
        <p:nvSpPr>
          <p:cNvPr id="31" name="Text 29"/>
          <p:cNvSpPr/>
          <p:nvPr/>
        </p:nvSpPr>
        <p:spPr>
          <a:xfrm>
            <a:off x="566928" y="6382512"/>
            <a:ext cx="11057839" cy="274320"/>
          </a:xfrm>
          <a:prstGeom prst="rect">
            <a:avLst/>
          </a:prstGeom>
          <a:noFill/>
          <a:ln/>
        </p:spPr>
        <p:txBody>
          <a:bodyPr wrap="square" lIns="0" tIns="0" rIns="0" bIns="0" rtlCol="0" anchor="ctr"/>
          <a:lstStyle/>
          <a:p>
            <a:pPr algn="l" indent="0" marL="0">
              <a:buNone/>
            </a:pPr>
            <a:r>
              <a:rPr lang="en-US" sz="950" dirty="0">
                <a:solidFill>
                  <a:srgbClr val="9A9DB5"/>
                </a:solidFill>
                <a:latin typeface="Calibri" pitchFamily="34" charset="0"/>
                <a:ea typeface="Calibri" pitchFamily="34" charset="-122"/>
                <a:cs typeface="Calibri" pitchFamily="34" charset="-120"/>
              </a:rPr>
              <a:t>Give him a runnable artifact too: the low instance reproduces end-to-end via the sbatch split/solve/merge path.</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20624"/>
            <a:ext cx="420624" cy="420624"/>
          </a:xfrm>
          <a:prstGeom prst="ellipse">
            <a:avLst/>
          </a:prstGeom>
          <a:solidFill>
            <a:srgbClr val="E8833A"/>
          </a:solidFill>
          <a:ln/>
        </p:spPr>
      </p:sp>
      <p:sp>
        <p:nvSpPr>
          <p:cNvPr id="3" name="Text 1"/>
          <p:cNvSpPr/>
          <p:nvPr/>
        </p:nvSpPr>
        <p:spPr>
          <a:xfrm>
            <a:off x="566928" y="42062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19</a:t>
            </a:r>
            <a:endParaRPr lang="en-US" sz="1500" dirty="0"/>
          </a:p>
        </p:txBody>
      </p:sp>
      <p:sp>
        <p:nvSpPr>
          <p:cNvPr id="4" name="Text 2"/>
          <p:cNvSpPr/>
          <p:nvPr/>
        </p:nvSpPr>
        <p:spPr>
          <a:xfrm>
            <a:off x="1170432" y="365760"/>
            <a:ext cx="10454335" cy="548640"/>
          </a:xfrm>
          <a:prstGeom prst="rect">
            <a:avLst/>
          </a:prstGeom>
          <a:noFill/>
          <a:ln/>
        </p:spPr>
        <p:txBody>
          <a:bodyPr wrap="square" lIns="0" tIns="0" rIns="0" bIns="0" rtlCol="0" anchor="ctr"/>
          <a:lstStyle/>
          <a:p>
            <a:pPr algn="l" indent="0" marL="0">
              <a:buNone/>
            </a:pPr>
            <a:r>
              <a:rPr lang="en-US" sz="3000" b="1" dirty="0">
                <a:solidFill>
                  <a:srgbClr val="1A1B3A"/>
                </a:solidFill>
                <a:latin typeface="Cambria" pitchFamily="34" charset="0"/>
                <a:ea typeface="Cambria" pitchFamily="34" charset="-122"/>
                <a:cs typeface="Cambria" pitchFamily="34" charset="-120"/>
              </a:rPr>
              <a:t>Two gaps to close before you present</a:t>
            </a:r>
            <a:endParaRPr lang="en-US" sz="3000" dirty="0"/>
          </a:p>
        </p:txBody>
      </p:sp>
      <p:sp>
        <p:nvSpPr>
          <p:cNvPr id="5" name="Text 3"/>
          <p:cNvSpPr/>
          <p:nvPr/>
        </p:nvSpPr>
        <p:spPr>
          <a:xfrm>
            <a:off x="1170432" y="932688"/>
            <a:ext cx="10454335" cy="329184"/>
          </a:xfrm>
          <a:prstGeom prst="rect">
            <a:avLst/>
          </a:prstGeom>
          <a:noFill/>
          <a:ln/>
        </p:spPr>
        <p:txBody>
          <a:bodyPr wrap="square" lIns="0" tIns="0" rIns="0" bIns="0" rtlCol="0" anchor="t"/>
          <a:lstStyle/>
          <a:p>
            <a:pPr algn="l" indent="0" marL="0">
              <a:buNone/>
            </a:pPr>
            <a:r>
              <a:rPr lang="en-US" sz="1400" i="1" dirty="0">
                <a:solidFill>
                  <a:srgbClr val="6B6E8A"/>
                </a:solidFill>
                <a:latin typeface="Calibri" pitchFamily="34" charset="0"/>
                <a:ea typeface="Calibri" pitchFamily="34" charset="-122"/>
                <a:cs typeface="Calibri" pitchFamily="34" charset="-120"/>
              </a:rPr>
              <a:t>Both are in the results tree, not in the story.</a:t>
            </a:r>
            <a:endParaRPr lang="en-US" sz="1400" dirty="0"/>
          </a:p>
        </p:txBody>
      </p:sp>
      <p:sp>
        <p:nvSpPr>
          <p:cNvPr id="6" name="Shape 4"/>
          <p:cNvSpPr/>
          <p:nvPr/>
        </p:nvSpPr>
        <p:spPr>
          <a:xfrm>
            <a:off x="566928" y="1755648"/>
            <a:ext cx="5346040" cy="2834640"/>
          </a:xfrm>
          <a:prstGeom prst="roundRect">
            <a:avLst>
              <a:gd name="adj" fmla="val 2581"/>
            </a:avLst>
          </a:prstGeom>
          <a:solidFill>
            <a:srgbClr val="F1F2F8"/>
          </a:solidFill>
          <a:ln w="12700">
            <a:solidFill>
              <a:srgbClr val="E2E4EF"/>
            </a:solidFill>
            <a:prstDash val="solid"/>
          </a:ln>
        </p:spPr>
      </p:sp>
      <p:sp>
        <p:nvSpPr>
          <p:cNvPr id="7" name="Shape 5"/>
          <p:cNvSpPr/>
          <p:nvPr/>
        </p:nvSpPr>
        <p:spPr>
          <a:xfrm>
            <a:off x="877824" y="2011680"/>
            <a:ext cx="475488" cy="475488"/>
          </a:xfrm>
          <a:prstGeom prst="ellipse">
            <a:avLst/>
          </a:prstGeom>
          <a:solidFill>
            <a:srgbClr val="E8833A"/>
          </a:solidFill>
          <a:ln/>
        </p:spPr>
      </p:sp>
      <p:sp>
        <p:nvSpPr>
          <p:cNvPr id="8" name="Text 6"/>
          <p:cNvSpPr/>
          <p:nvPr/>
        </p:nvSpPr>
        <p:spPr>
          <a:xfrm>
            <a:off x="877824" y="2011680"/>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9" name="Text 7"/>
          <p:cNvSpPr/>
          <p:nvPr/>
        </p:nvSpPr>
        <p:spPr>
          <a:xfrm>
            <a:off x="877824" y="2651760"/>
            <a:ext cx="4724248" cy="420624"/>
          </a:xfrm>
          <a:prstGeom prst="rect">
            <a:avLst/>
          </a:prstGeom>
          <a:noFill/>
          <a:ln/>
        </p:spPr>
        <p:txBody>
          <a:bodyPr wrap="square" lIns="0" tIns="0" rIns="0" bIns="0" rtlCol="0" anchor="ctr"/>
          <a:lstStyle/>
          <a:p>
            <a:pPr indent="0" marL="0">
              <a:buNone/>
            </a:pPr>
            <a:r>
              <a:rPr lang="en-US" sz="1800" b="1" dirty="0">
                <a:solidFill>
                  <a:srgbClr val="1A1B3A"/>
                </a:solidFill>
                <a:latin typeface="Cambria" pitchFamily="34" charset="0"/>
                <a:ea typeface="Cambria" pitchFamily="34" charset="-122"/>
                <a:cs typeface="Cambria" pitchFamily="34" charset="-120"/>
              </a:rPr>
              <a:t>Missing SQA summary</a:t>
            </a:r>
            <a:endParaRPr lang="en-US" sz="1800" dirty="0"/>
          </a:p>
        </p:txBody>
      </p:sp>
      <p:sp>
        <p:nvSpPr>
          <p:cNvPr id="10" name="Text 8"/>
          <p:cNvSpPr/>
          <p:nvPr/>
        </p:nvSpPr>
        <p:spPr>
          <a:xfrm>
            <a:off x="877824" y="3127248"/>
            <a:ext cx="4724248" cy="914400"/>
          </a:xfrm>
          <a:prstGeom prst="rect">
            <a:avLst/>
          </a:prstGeom>
          <a:noFill/>
          <a:ln/>
        </p:spPr>
        <p:txBody>
          <a:bodyPr wrap="square" lIns="0" tIns="0" rIns="0" bIns="0" rtlCol="0" anchor="t"/>
          <a:lstStyle/>
          <a:p>
            <a:pPr indent="0" marL="0">
              <a:lnSpc>
                <a:spcPts val="1800"/>
              </a:lnSpc>
              <a:buNone/>
            </a:pPr>
            <a:r>
              <a:rPr lang="en-US" sz="1250" dirty="0">
                <a:solidFill>
                  <a:srgbClr val="6B6E8A"/>
                </a:solidFill>
                <a:latin typeface="Calibri" pitchFamily="34" charset="0"/>
                <a:ea typeface="Calibri" pitchFamily="34" charset="-122"/>
                <a:cs typeface="Calibri" pitchFamily="34" charset="-120"/>
              </a:rPr>
              <a:t>results/low_std_comparison/low_par_std_sqa/qubo/ has no summary.txt, so the SA-vs-SQA matched-budget comparison is not presentable.</a:t>
            </a:r>
            <a:endParaRPr lang="en-US" sz="1250" dirty="0"/>
          </a:p>
        </p:txBody>
      </p:sp>
      <p:sp>
        <p:nvSpPr>
          <p:cNvPr id="11" name="Text 9"/>
          <p:cNvSpPr/>
          <p:nvPr/>
        </p:nvSpPr>
        <p:spPr>
          <a:xfrm>
            <a:off x="877824" y="4041648"/>
            <a:ext cx="4724248" cy="475488"/>
          </a:xfrm>
          <a:prstGeom prst="rect">
            <a:avLst/>
          </a:prstGeom>
          <a:noFill/>
          <a:ln/>
        </p:spPr>
        <p:txBody>
          <a:bodyPr wrap="square" lIns="0" tIns="0" rIns="0" bIns="0" rtlCol="0" anchor="t"/>
          <a:lstStyle/>
          <a:p>
            <a:pPr indent="0" marL="0">
              <a:lnSpc>
                <a:spcPts val="1800"/>
              </a:lnSpc>
              <a:buNone/>
            </a:pPr>
            <a:r>
              <a:rPr lang="en-US" sz="1250" b="1" dirty="0">
                <a:solidFill>
                  <a:srgbClr val="1A1B3A"/>
                </a:solidFill>
                <a:latin typeface="Calibri" pitchFamily="34" charset="0"/>
                <a:ea typeface="Calibri" pitchFamily="34" charset="-122"/>
                <a:cs typeface="Calibri" pitchFamily="34" charset="-120"/>
              </a:rPr>
              <a:t>Fix:  </a:t>
            </a:r>
            <a:pPr indent="0" marL="0">
              <a:lnSpc>
                <a:spcPts val="1800"/>
              </a:lnSpc>
              <a:buNone/>
            </a:pPr>
            <a:r>
              <a:rPr lang="en-US" sz="1250" dirty="0">
                <a:solidFill>
                  <a:srgbClr val="1A1B3A"/>
                </a:solidFill>
                <a:latin typeface="Calibri" pitchFamily="34" charset="0"/>
                <a:ea typeface="Calibri" pitchFamily="34" charset="-122"/>
                <a:cs typeface="Calibri" pitchFamily="34" charset="-120"/>
              </a:rPr>
              <a:t>Finish the run, or drop that comparison from the deck.</a:t>
            </a:r>
            <a:endParaRPr lang="en-US" sz="1250" dirty="0"/>
          </a:p>
        </p:txBody>
      </p:sp>
      <p:sp>
        <p:nvSpPr>
          <p:cNvPr id="12" name="Shape 10"/>
          <p:cNvSpPr/>
          <p:nvPr/>
        </p:nvSpPr>
        <p:spPr>
          <a:xfrm>
            <a:off x="6278728" y="1755648"/>
            <a:ext cx="5346040" cy="2834640"/>
          </a:xfrm>
          <a:prstGeom prst="roundRect">
            <a:avLst>
              <a:gd name="adj" fmla="val 2581"/>
            </a:avLst>
          </a:prstGeom>
          <a:solidFill>
            <a:srgbClr val="F1F2F8"/>
          </a:solidFill>
          <a:ln w="12700">
            <a:solidFill>
              <a:srgbClr val="E2E4EF"/>
            </a:solidFill>
            <a:prstDash val="solid"/>
          </a:ln>
        </p:spPr>
      </p:sp>
      <p:sp>
        <p:nvSpPr>
          <p:cNvPr id="13" name="Shape 11"/>
          <p:cNvSpPr/>
          <p:nvPr/>
        </p:nvSpPr>
        <p:spPr>
          <a:xfrm>
            <a:off x="6589624" y="2011680"/>
            <a:ext cx="475488" cy="475488"/>
          </a:xfrm>
          <a:prstGeom prst="ellipse">
            <a:avLst/>
          </a:prstGeom>
          <a:solidFill>
            <a:srgbClr val="E8833A"/>
          </a:solidFill>
          <a:ln/>
        </p:spPr>
      </p:sp>
      <p:sp>
        <p:nvSpPr>
          <p:cNvPr id="14" name="Text 12"/>
          <p:cNvSpPr/>
          <p:nvPr/>
        </p:nvSpPr>
        <p:spPr>
          <a:xfrm>
            <a:off x="6589624" y="2011680"/>
            <a:ext cx="475488" cy="47548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a:t>
            </a:r>
            <a:endParaRPr lang="en-US" sz="2000" dirty="0"/>
          </a:p>
        </p:txBody>
      </p:sp>
      <p:sp>
        <p:nvSpPr>
          <p:cNvPr id="15" name="Text 13"/>
          <p:cNvSpPr/>
          <p:nvPr/>
        </p:nvSpPr>
        <p:spPr>
          <a:xfrm>
            <a:off x="6589624" y="2651760"/>
            <a:ext cx="4724248" cy="420624"/>
          </a:xfrm>
          <a:prstGeom prst="rect">
            <a:avLst/>
          </a:prstGeom>
          <a:noFill/>
          <a:ln/>
        </p:spPr>
        <p:txBody>
          <a:bodyPr wrap="square" lIns="0" tIns="0" rIns="0" bIns="0" rtlCol="0" anchor="ctr"/>
          <a:lstStyle/>
          <a:p>
            <a:pPr indent="0" marL="0">
              <a:buNone/>
            </a:pPr>
            <a:r>
              <a:rPr lang="en-US" sz="1800" b="1" dirty="0">
                <a:solidFill>
                  <a:srgbClr val="1A1B3A"/>
                </a:solidFill>
                <a:latin typeface="Cambria" pitchFamily="34" charset="0"/>
                <a:ea typeface="Cambria" pitchFamily="34" charset="-122"/>
                <a:cs typeface="Cambria" pitchFamily="34" charset="-120"/>
              </a:rPr>
              <a:t>No low-instance Gurobi baseline</a:t>
            </a:r>
            <a:endParaRPr lang="en-US" sz="1800" dirty="0"/>
          </a:p>
        </p:txBody>
      </p:sp>
      <p:sp>
        <p:nvSpPr>
          <p:cNvPr id="16" name="Text 14"/>
          <p:cNvSpPr/>
          <p:nvPr/>
        </p:nvSpPr>
        <p:spPr>
          <a:xfrm>
            <a:off x="6589624" y="3127248"/>
            <a:ext cx="4724248" cy="914400"/>
          </a:xfrm>
          <a:prstGeom prst="rect">
            <a:avLst/>
          </a:prstGeom>
          <a:noFill/>
          <a:ln/>
        </p:spPr>
        <p:txBody>
          <a:bodyPr wrap="square" lIns="0" tIns="0" rIns="0" bIns="0" rtlCol="0" anchor="t"/>
          <a:lstStyle/>
          <a:p>
            <a:pPr indent="0" marL="0">
              <a:lnSpc>
                <a:spcPts val="1800"/>
              </a:lnSpc>
              <a:buNone/>
            </a:pPr>
            <a:r>
              <a:rPr lang="en-US" sz="1250" dirty="0">
                <a:solidFill>
                  <a:srgbClr val="6B6E8A"/>
                </a:solidFill>
                <a:latin typeface="Calibri" pitchFamily="34" charset="0"/>
                <a:ea typeface="Calibri" pitchFamily="34" charset="-122"/>
                <a:cs typeface="Calibri" pitchFamily="34" charset="-120"/>
              </a:rPr>
              <a:t>The low QUBO numbers ($78.3M) have no reference value attached. Medium is currently the only clean head-to-head.</a:t>
            </a:r>
            <a:endParaRPr lang="en-US" sz="1250" dirty="0"/>
          </a:p>
        </p:txBody>
      </p:sp>
      <p:sp>
        <p:nvSpPr>
          <p:cNvPr id="17" name="Text 15"/>
          <p:cNvSpPr/>
          <p:nvPr/>
        </p:nvSpPr>
        <p:spPr>
          <a:xfrm>
            <a:off x="6589624" y="4041648"/>
            <a:ext cx="4724248" cy="475488"/>
          </a:xfrm>
          <a:prstGeom prst="rect">
            <a:avLst/>
          </a:prstGeom>
          <a:noFill/>
          <a:ln/>
        </p:spPr>
        <p:txBody>
          <a:bodyPr wrap="square" lIns="0" tIns="0" rIns="0" bIns="0" rtlCol="0" anchor="t"/>
          <a:lstStyle/>
          <a:p>
            <a:pPr indent="0" marL="0">
              <a:lnSpc>
                <a:spcPts val="1800"/>
              </a:lnSpc>
              <a:buNone/>
            </a:pPr>
            <a:r>
              <a:rPr lang="en-US" sz="1250" b="1" dirty="0">
                <a:solidFill>
                  <a:srgbClr val="1A1B3A"/>
                </a:solidFill>
                <a:latin typeface="Calibri" pitchFamily="34" charset="0"/>
                <a:ea typeface="Calibri" pitchFamily="34" charset="-122"/>
                <a:cs typeface="Calibri" pitchFamily="34" charset="-120"/>
              </a:rPr>
              <a:t>Fix:  </a:t>
            </a:r>
            <a:pPr indent="0" marL="0">
              <a:lnSpc>
                <a:spcPts val="1800"/>
              </a:lnSpc>
              <a:buNone/>
            </a:pPr>
            <a:r>
              <a:rPr lang="en-US" sz="1250" dirty="0">
                <a:solidFill>
                  <a:srgbClr val="1A1B3A"/>
                </a:solidFill>
                <a:latin typeface="Calibri" pitchFamily="34" charset="0"/>
                <a:ea typeface="Calibri" pitchFamily="34" charset="-122"/>
                <a:cs typeface="Calibri" pitchFamily="34" charset="-120"/>
              </a:rPr>
              <a:t>Run Gurobi on instances_low — it should be fast relative to medium.</a:t>
            </a:r>
            <a:endParaRPr lang="en-US" sz="1250" dirty="0"/>
          </a:p>
        </p:txBody>
      </p:sp>
      <p:sp>
        <p:nvSpPr>
          <p:cNvPr id="18" name="Text 16"/>
          <p:cNvSpPr/>
          <p:nvPr/>
        </p:nvSpPr>
        <p:spPr>
          <a:xfrm>
            <a:off x="566928" y="6382512"/>
            <a:ext cx="11057839" cy="274320"/>
          </a:xfrm>
          <a:prstGeom prst="rect">
            <a:avLst/>
          </a:prstGeom>
          <a:noFill/>
          <a:ln/>
        </p:spPr>
        <p:txBody>
          <a:bodyPr wrap="square" lIns="0" tIns="0" rIns="0" bIns="0" rtlCol="0" anchor="ctr"/>
          <a:lstStyle/>
          <a:p>
            <a:pPr algn="l" indent="0" marL="0">
              <a:buNone/>
            </a:pPr>
            <a:r>
              <a:rPr lang="en-US" sz="950" dirty="0">
                <a:solidFill>
                  <a:srgbClr val="9A9DB5"/>
                </a:solidFill>
                <a:latin typeface="Calibri" pitchFamily="34" charset="0"/>
                <a:ea typeface="Calibri" pitchFamily="34" charset="-122"/>
                <a:cs typeface="Calibri" pitchFamily="34" charset="-120"/>
              </a:rPr>
              <a:t>Everything else in this deck traces to a file in the results tree.</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A1B3A"/>
        </a:solidFill>
      </p:bgPr>
    </p:bg>
    <p:spTree>
      <p:nvGrpSpPr>
        <p:cNvPr id="1" name=""/>
        <p:cNvGrpSpPr/>
        <p:nvPr/>
      </p:nvGrpSpPr>
      <p:grpSpPr>
        <a:xfrm>
          <a:off x="0" y="0"/>
          <a:ext cx="0" cy="0"/>
          <a:chOff x="0" y="0"/>
          <a:chExt cx="0" cy="0"/>
        </a:xfrm>
      </p:grpSpPr>
      <p:sp>
        <p:nvSpPr>
          <p:cNvPr id="2" name="Shape 0"/>
          <p:cNvSpPr/>
          <p:nvPr/>
        </p:nvSpPr>
        <p:spPr>
          <a:xfrm>
            <a:off x="-2011680" y="3291840"/>
            <a:ext cx="5852160" cy="5852160"/>
          </a:xfrm>
          <a:prstGeom prst="ellipse">
            <a:avLst/>
          </a:prstGeom>
          <a:solidFill>
            <a:srgbClr val="2A2C55"/>
          </a:solidFill>
          <a:ln/>
        </p:spPr>
      </p:sp>
      <p:sp>
        <p:nvSpPr>
          <p:cNvPr id="3" name="Shape 1"/>
          <p:cNvSpPr/>
          <p:nvPr/>
        </p:nvSpPr>
        <p:spPr>
          <a:xfrm>
            <a:off x="9509760" y="-1280160"/>
            <a:ext cx="4023360" cy="4023360"/>
          </a:xfrm>
          <a:prstGeom prst="ellipse">
            <a:avLst/>
          </a:prstGeom>
          <a:solidFill>
            <a:srgbClr val="E8833A">
              <a:alpha val="18000"/>
            </a:srgbClr>
          </a:solidFill>
          <a:ln/>
        </p:spPr>
      </p:sp>
      <p:sp>
        <p:nvSpPr>
          <p:cNvPr id="4" name="Text 2"/>
          <p:cNvSpPr/>
          <p:nvPr/>
        </p:nvSpPr>
        <p:spPr>
          <a:xfrm>
            <a:off x="1005840" y="1234440"/>
            <a:ext cx="5486400" cy="310896"/>
          </a:xfrm>
          <a:prstGeom prst="rect">
            <a:avLst/>
          </a:prstGeom>
          <a:noFill/>
          <a:ln/>
        </p:spPr>
        <p:txBody>
          <a:bodyPr wrap="square" lIns="0" tIns="0" rIns="0" bIns="0" rtlCol="0" anchor="ctr"/>
          <a:lstStyle/>
          <a:p>
            <a:pPr indent="0" marL="0">
              <a:buNone/>
            </a:pPr>
            <a:r>
              <a:rPr lang="en-US" sz="1300" b="1" spc="300" kern="0" dirty="0">
                <a:solidFill>
                  <a:srgbClr val="E8833A"/>
                </a:solidFill>
                <a:latin typeface="Calibri" pitchFamily="34" charset="0"/>
                <a:ea typeface="Calibri" pitchFamily="34" charset="-122"/>
                <a:cs typeface="Calibri" pitchFamily="34" charset="-120"/>
              </a:rPr>
              <a:t>WEEK ONE</a:t>
            </a:r>
            <a:endParaRPr lang="en-US" sz="1300" dirty="0"/>
          </a:p>
        </p:txBody>
      </p:sp>
      <p:sp>
        <p:nvSpPr>
          <p:cNvPr id="5" name="Text 3"/>
          <p:cNvSpPr/>
          <p:nvPr/>
        </p:nvSpPr>
        <p:spPr>
          <a:xfrm>
            <a:off x="1005840" y="1627632"/>
            <a:ext cx="8686800" cy="1417320"/>
          </a:xfrm>
          <a:prstGeom prst="rect">
            <a:avLst/>
          </a:prstGeom>
          <a:noFill/>
          <a:ln/>
        </p:spPr>
        <p:txBody>
          <a:bodyPr wrap="square" lIns="0" tIns="0" rIns="0" bIns="0" rtlCol="0" anchor="t"/>
          <a:lstStyle/>
          <a:p>
            <a:pPr indent="0" marL="0">
              <a:lnSpc>
                <a:spcPts val="4400"/>
              </a:lnSpc>
              <a:buNone/>
            </a:pPr>
            <a:r>
              <a:rPr lang="en-US" sz="3600" b="1" dirty="0">
                <a:solidFill>
                  <a:srgbClr val="FFFFFF"/>
                </a:solidFill>
                <a:latin typeface="Cambria" pitchFamily="34" charset="0"/>
                <a:ea typeface="Cambria" pitchFamily="34" charset="-122"/>
                <a:cs typeface="Cambria" pitchFamily="34" charset="-120"/>
              </a:rPr>
              <a:t>Give him something</a:t>
            </a:r>
            <a:endParaRPr lang="en-US" sz="3600" dirty="0"/>
          </a:p>
          <a:p>
            <a:pPr indent="0" marL="0">
              <a:lnSpc>
                <a:spcPts val="4400"/>
              </a:lnSpc>
              <a:buNone/>
            </a:pPr>
            <a:r>
              <a:rPr lang="en-US" sz="3600" b="1" dirty="0">
                <a:solidFill>
                  <a:srgbClr val="FFFFFF"/>
                </a:solidFill>
                <a:latin typeface="Cambria" pitchFamily="34" charset="0"/>
                <a:ea typeface="Cambria" pitchFamily="34" charset="-122"/>
                <a:cs typeface="Cambria" pitchFamily="34" charset="-120"/>
              </a:rPr>
              <a:t>runnable, not a document</a:t>
            </a:r>
            <a:endParaRPr lang="en-US" sz="3600" dirty="0"/>
          </a:p>
        </p:txBody>
      </p:sp>
      <p:sp>
        <p:nvSpPr>
          <p:cNvPr id="6" name="Shape 4"/>
          <p:cNvSpPr/>
          <p:nvPr/>
        </p:nvSpPr>
        <p:spPr>
          <a:xfrm>
            <a:off x="1005840" y="3364992"/>
            <a:ext cx="384048" cy="384048"/>
          </a:xfrm>
          <a:prstGeom prst="ellipse">
            <a:avLst/>
          </a:prstGeom>
          <a:solidFill>
            <a:srgbClr val="E8833A"/>
          </a:solidFill>
          <a:ln/>
        </p:spPr>
      </p:sp>
      <p:sp>
        <p:nvSpPr>
          <p:cNvPr id="7" name="Text 5"/>
          <p:cNvSpPr/>
          <p:nvPr/>
        </p:nvSpPr>
        <p:spPr>
          <a:xfrm>
            <a:off x="1005840" y="3364992"/>
            <a:ext cx="384048" cy="384048"/>
          </a:xfrm>
          <a:prstGeom prst="rect">
            <a:avLst/>
          </a:prstGeom>
          <a:noFill/>
          <a:ln/>
        </p:spPr>
        <p:txBody>
          <a:bodyPr wrap="square" lIns="0" tIns="0" rIns="0" bIns="0" rtlCol="0" anchor="ctr"/>
          <a:lstStyle/>
          <a:p>
            <a:pPr algn="ctr" indent="0" marL="0">
              <a:buNone/>
            </a:pPr>
            <a:r>
              <a:rPr lang="en-US" sz="1200" b="1" dirty="0">
                <a:solidFill>
                  <a:srgbClr val="1A1B3A"/>
                </a:solidFill>
                <a:latin typeface="Calibri" pitchFamily="34" charset="0"/>
                <a:ea typeface="Calibri" pitchFamily="34" charset="-122"/>
                <a:cs typeface="Calibri" pitchFamily="34" charset="-120"/>
              </a:rPr>
              <a:t>1</a:t>
            </a:r>
            <a:endParaRPr lang="en-US" sz="1200" dirty="0"/>
          </a:p>
        </p:txBody>
      </p:sp>
      <p:sp>
        <p:nvSpPr>
          <p:cNvPr id="8" name="Text 6"/>
          <p:cNvSpPr/>
          <p:nvPr/>
        </p:nvSpPr>
        <p:spPr>
          <a:xfrm>
            <a:off x="1572768" y="3310128"/>
            <a:ext cx="8778240" cy="310896"/>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Reproduce the low-instance QUBO run end to end</a:t>
            </a:r>
            <a:endParaRPr lang="en-US" sz="1650" dirty="0"/>
          </a:p>
        </p:txBody>
      </p:sp>
      <p:sp>
        <p:nvSpPr>
          <p:cNvPr id="9" name="Text 7"/>
          <p:cNvSpPr/>
          <p:nvPr/>
        </p:nvSpPr>
        <p:spPr>
          <a:xfrm>
            <a:off x="1572768" y="3621024"/>
            <a:ext cx="8778240" cy="365760"/>
          </a:xfrm>
          <a:prstGeom prst="rect">
            <a:avLst/>
          </a:prstGeom>
          <a:noFill/>
          <a:ln/>
        </p:spPr>
        <p:txBody>
          <a:bodyPr wrap="square" lIns="0" tIns="0" rIns="0" bIns="0" rtlCol="0" anchor="t"/>
          <a:lstStyle/>
          <a:p>
            <a:pPr indent="0" marL="0">
              <a:buNone/>
            </a:pPr>
            <a:r>
              <a:rPr lang="en-US" sz="1200" dirty="0">
                <a:solidFill>
                  <a:srgbClr val="A9ADCB"/>
                </a:solidFill>
                <a:latin typeface="Calibri" pitchFamily="34" charset="0"/>
                <a:ea typeface="Calibri" pitchFamily="34" charset="-122"/>
                <a:cs typeface="Calibri" pitchFamily="34" charset="-120"/>
              </a:rPr>
              <a:t>The split / solve / merge path in sbatch_scripts/ — getting your number himself is worth three meetings.</a:t>
            </a:r>
            <a:endParaRPr lang="en-US" sz="1200" dirty="0"/>
          </a:p>
        </p:txBody>
      </p:sp>
      <p:sp>
        <p:nvSpPr>
          <p:cNvPr id="10" name="Shape 8"/>
          <p:cNvSpPr/>
          <p:nvPr/>
        </p:nvSpPr>
        <p:spPr>
          <a:xfrm>
            <a:off x="1005840" y="4224528"/>
            <a:ext cx="384048" cy="384048"/>
          </a:xfrm>
          <a:prstGeom prst="ellipse">
            <a:avLst/>
          </a:prstGeom>
          <a:solidFill>
            <a:srgbClr val="E8833A"/>
          </a:solidFill>
          <a:ln/>
        </p:spPr>
      </p:sp>
      <p:sp>
        <p:nvSpPr>
          <p:cNvPr id="11" name="Text 9"/>
          <p:cNvSpPr/>
          <p:nvPr/>
        </p:nvSpPr>
        <p:spPr>
          <a:xfrm>
            <a:off x="1005840" y="4224528"/>
            <a:ext cx="384048" cy="384048"/>
          </a:xfrm>
          <a:prstGeom prst="rect">
            <a:avLst/>
          </a:prstGeom>
          <a:noFill/>
          <a:ln/>
        </p:spPr>
        <p:txBody>
          <a:bodyPr wrap="square" lIns="0" tIns="0" rIns="0" bIns="0" rtlCol="0" anchor="ctr"/>
          <a:lstStyle/>
          <a:p>
            <a:pPr algn="ctr" indent="0" marL="0">
              <a:buNone/>
            </a:pPr>
            <a:r>
              <a:rPr lang="en-US" sz="1200" b="1" dirty="0">
                <a:solidFill>
                  <a:srgbClr val="1A1B3A"/>
                </a:solidFill>
                <a:latin typeface="Calibri" pitchFamily="34" charset="0"/>
                <a:ea typeface="Calibri" pitchFamily="34" charset="-122"/>
                <a:cs typeface="Calibri" pitchFamily="34" charset="-120"/>
              </a:rPr>
              <a:t>2</a:t>
            </a:r>
            <a:endParaRPr lang="en-US" sz="1200" dirty="0"/>
          </a:p>
        </p:txBody>
      </p:sp>
      <p:sp>
        <p:nvSpPr>
          <p:cNvPr id="12" name="Text 10"/>
          <p:cNvSpPr/>
          <p:nvPr/>
        </p:nvSpPr>
        <p:spPr>
          <a:xfrm>
            <a:off x="1572768" y="4169664"/>
            <a:ext cx="8778240" cy="310896"/>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Read profiling_regression_record.md</a:t>
            </a:r>
            <a:endParaRPr lang="en-US" sz="1650" dirty="0"/>
          </a:p>
        </p:txBody>
      </p:sp>
      <p:sp>
        <p:nvSpPr>
          <p:cNvPr id="13" name="Text 11"/>
          <p:cNvSpPr/>
          <p:nvPr/>
        </p:nvSpPr>
        <p:spPr>
          <a:xfrm>
            <a:off x="1572768" y="4480560"/>
            <a:ext cx="8778240" cy="365760"/>
          </a:xfrm>
          <a:prstGeom prst="rect">
            <a:avLst/>
          </a:prstGeom>
          <a:noFill/>
          <a:ln/>
        </p:spPr>
        <p:txBody>
          <a:bodyPr wrap="square" lIns="0" tIns="0" rIns="0" bIns="0" rtlCol="0" anchor="t"/>
          <a:lstStyle/>
          <a:p>
            <a:pPr indent="0" marL="0">
              <a:buNone/>
            </a:pPr>
            <a:r>
              <a:rPr lang="en-US" sz="1200" dirty="0">
                <a:solidFill>
                  <a:srgbClr val="A9ADCB"/>
                </a:solidFill>
                <a:latin typeface="Calibri" pitchFamily="34" charset="0"/>
                <a:ea typeface="Calibri" pitchFamily="34" charset="-122"/>
                <a:cs typeface="Calibri" pitchFamily="34" charset="-120"/>
              </a:rPr>
              <a:t>It shows the benchmark is bit-identical and re-derivable. That is what earns trust.</a:t>
            </a:r>
            <a:endParaRPr lang="en-US" sz="1200" dirty="0"/>
          </a:p>
        </p:txBody>
      </p:sp>
      <p:sp>
        <p:nvSpPr>
          <p:cNvPr id="14" name="Shape 12"/>
          <p:cNvSpPr/>
          <p:nvPr/>
        </p:nvSpPr>
        <p:spPr>
          <a:xfrm>
            <a:off x="1005840" y="5084064"/>
            <a:ext cx="384048" cy="384048"/>
          </a:xfrm>
          <a:prstGeom prst="ellipse">
            <a:avLst/>
          </a:prstGeom>
          <a:solidFill>
            <a:srgbClr val="E8833A"/>
          </a:solidFill>
          <a:ln/>
        </p:spPr>
      </p:sp>
      <p:sp>
        <p:nvSpPr>
          <p:cNvPr id="15" name="Text 13"/>
          <p:cNvSpPr/>
          <p:nvPr/>
        </p:nvSpPr>
        <p:spPr>
          <a:xfrm>
            <a:off x="1005840" y="5084064"/>
            <a:ext cx="384048" cy="384048"/>
          </a:xfrm>
          <a:prstGeom prst="rect">
            <a:avLst/>
          </a:prstGeom>
          <a:noFill/>
          <a:ln/>
        </p:spPr>
        <p:txBody>
          <a:bodyPr wrap="square" lIns="0" tIns="0" rIns="0" bIns="0" rtlCol="0" anchor="ctr"/>
          <a:lstStyle/>
          <a:p>
            <a:pPr algn="ctr" indent="0" marL="0">
              <a:buNone/>
            </a:pPr>
            <a:r>
              <a:rPr lang="en-US" sz="1200" b="1" dirty="0">
                <a:solidFill>
                  <a:srgbClr val="1A1B3A"/>
                </a:solidFill>
                <a:latin typeface="Calibri" pitchFamily="34" charset="0"/>
                <a:ea typeface="Calibri" pitchFamily="34" charset="-122"/>
                <a:cs typeface="Calibri" pitchFamily="34" charset="-120"/>
              </a:rPr>
              <a:t>3</a:t>
            </a:r>
            <a:endParaRPr lang="en-US" sz="1200" dirty="0"/>
          </a:p>
        </p:txBody>
      </p:sp>
      <p:sp>
        <p:nvSpPr>
          <p:cNvPr id="16" name="Text 14"/>
          <p:cNvSpPr/>
          <p:nvPr/>
        </p:nvSpPr>
        <p:spPr>
          <a:xfrm>
            <a:off x="1572768" y="5029200"/>
            <a:ext cx="8778240" cy="310896"/>
          </a:xfrm>
          <a:prstGeom prst="rect">
            <a:avLst/>
          </a:prstGeom>
          <a:noFill/>
          <a:ln/>
        </p:spPr>
        <p:txBody>
          <a:bodyPr wrap="square" lIns="0" tIns="0" rIns="0" bIns="0" rtlCol="0" anchor="ctr"/>
          <a:lstStyle/>
          <a:p>
            <a:pPr indent="0" marL="0">
              <a:buNone/>
            </a:pPr>
            <a:r>
              <a:rPr lang="en-US" sz="1650" b="1" dirty="0">
                <a:solidFill>
                  <a:srgbClr val="FFFFFF"/>
                </a:solidFill>
                <a:latin typeface="Cambria" pitchFamily="34" charset="0"/>
                <a:ea typeface="Cambria" pitchFamily="34" charset="-122"/>
                <a:cs typeface="Cambria" pitchFamily="34" charset="-120"/>
              </a:rPr>
              <a:t>Come back with an attack on hub coupling</a:t>
            </a:r>
            <a:endParaRPr lang="en-US" sz="1650" dirty="0"/>
          </a:p>
        </p:txBody>
      </p:sp>
      <p:sp>
        <p:nvSpPr>
          <p:cNvPr id="17" name="Text 15"/>
          <p:cNvSpPr/>
          <p:nvPr/>
        </p:nvSpPr>
        <p:spPr>
          <a:xfrm>
            <a:off x="1572768" y="5340096"/>
            <a:ext cx="8778240" cy="365760"/>
          </a:xfrm>
          <a:prstGeom prst="rect">
            <a:avLst/>
          </a:prstGeom>
          <a:noFill/>
          <a:ln/>
        </p:spPr>
        <p:txBody>
          <a:bodyPr wrap="square" lIns="0" tIns="0" rIns="0" bIns="0" rtlCol="0" anchor="t"/>
          <a:lstStyle/>
          <a:p>
            <a:pPr indent="0" marL="0">
              <a:buNone/>
            </a:pPr>
            <a:r>
              <a:rPr lang="en-US" sz="1200" dirty="0">
                <a:solidFill>
                  <a:srgbClr val="A9ADCB"/>
                </a:solidFill>
                <a:latin typeface="Calibri" pitchFamily="34" charset="0"/>
                <a:ea typeface="Calibri" pitchFamily="34" charset="-122"/>
                <a:cs typeface="Calibri" pitchFamily="34" charset="-120"/>
              </a:rPr>
              <a:t>Or a reason why the current decomposition is defensible. Either answer moves the project.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Dell FSL Network Optimization — Quantum Onboarding</dc:title>
  <dc:subject>PptxGenJS Presentation</dc:subject>
  <dc:creator>Model V1 — Dell FSL Network Optimization</dc:creator>
  <cp:lastModifiedBy>Model V1 — Dell FSL Network Optimization</cp:lastModifiedBy>
  <cp:revision>1</cp:revision>
  <dcterms:created xsi:type="dcterms:W3CDTF">2026-07-23T12:37:54Z</dcterms:created>
  <dcterms:modified xsi:type="dcterms:W3CDTF">2026-07-23T12:37:54Z</dcterms:modified>
</cp:coreProperties>
</file>